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85953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945600" cy="859536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21214080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0B0B0B"/>
                </a:solidFill>
                <a:latin typeface="Arial"/>
              </a:rPr>
              <a:t>41 candidate starvation-sensitivity COGs vs. nutrient-starvation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212140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98781"/>
                </a:solidFill>
                <a:latin typeface="Arial"/>
              </a:rPr>
              <a:t>cell text k / n / m = significant / measured in this experiment / copies in that strain's genome  ·  fill = dominant direction, blended toward grey by k/n  ·  orange = the COG's genes split direction (k shown as up/down arrows)  ·  columns grouped by functional category, N / mixed strip = that COG's Direction tag  ·  * Martiny MIT9313 at 24h (no 48h row); table-absent COGs = not significant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3752" y="2286000"/>
            <a:ext cx="2407325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0" y="1645919"/>
            <a:ext cx="3559469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Quality control - DNA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35941" y="2286000"/>
            <a:ext cx="199696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59869" y="1645919"/>
            <a:ext cx="3149104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Quality control - Protein level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9387765" y="2286000"/>
            <a:ext cx="4048784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11693" y="1645919"/>
            <a:ext cx="5200928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Amino acid &amp; mixotrophy biosynthesis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491414" y="2286000"/>
            <a:ext cx="2407325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15342" y="1645919"/>
            <a:ext cx="3559469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LPS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953603" y="2286000"/>
            <a:ext cx="35550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377531" y="1645919"/>
            <a:ext cx="1507644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Membrane linker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363968" y="2286000"/>
            <a:ext cx="765865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787896" y="1645919"/>
            <a:ext cx="1918009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Exopolysaccharide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184698" y="2286000"/>
            <a:ext cx="765865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608626" y="1645919"/>
            <a:ext cx="1918009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Biofilm / Attachment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5428" y="2286000"/>
            <a:ext cx="35550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429356" y="1645919"/>
            <a:ext cx="1507644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Energy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415792" y="2286000"/>
            <a:ext cx="765865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9720" y="1645919"/>
            <a:ext cx="1918009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Translation, transcription &amp; signalling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36522" y="2286000"/>
            <a:ext cx="35550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660450" y="1645919"/>
            <a:ext cx="1507644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RTX toxins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46887" y="2286000"/>
            <a:ext cx="199696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70815" y="1645919"/>
            <a:ext cx="3149104" cy="50292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6684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7049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77414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7779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8144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08509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8874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9239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9603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49968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0333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70698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1063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1428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01793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12158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22522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2887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643252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53617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463982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874347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284712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95077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105441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515806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926171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336536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746901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157266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567631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977996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388360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798725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9090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619455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029820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440185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850550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260915" y="2459736"/>
            <a:ext cx="410364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mixed</a:t>
            </a:r>
          </a:p>
        </p:txBody>
      </p:sp>
      <p:sp>
        <p:nvSpPr>
          <p:cNvPr id="68" name="TextBox 67"/>
          <p:cNvSpPr txBox="1"/>
          <p:nvPr/>
        </p:nvSpPr>
        <p:spPr>
          <a:xfrm rot="18000000">
            <a:off x="4137102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GyrA  COG0188</a:t>
            </a:r>
          </a:p>
        </p:txBody>
      </p:sp>
      <p:sp>
        <p:nvSpPr>
          <p:cNvPr id="69" name="TextBox 68"/>
          <p:cNvSpPr txBox="1"/>
          <p:nvPr/>
        </p:nvSpPr>
        <p:spPr>
          <a:xfrm rot="18000000">
            <a:off x="4547467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Mrr  COG1787</a:t>
            </a:r>
          </a:p>
        </p:txBody>
      </p:sp>
      <p:sp>
        <p:nvSpPr>
          <p:cNvPr id="70" name="TextBox 69"/>
          <p:cNvSpPr txBox="1"/>
          <p:nvPr/>
        </p:nvSpPr>
        <p:spPr>
          <a:xfrm rot="18000000">
            <a:off x="4957832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Vsr  COG3727</a:t>
            </a:r>
          </a:p>
        </p:txBody>
      </p:sp>
      <p:sp>
        <p:nvSpPr>
          <p:cNvPr id="71" name="TextBox 70"/>
          <p:cNvSpPr txBox="1"/>
          <p:nvPr/>
        </p:nvSpPr>
        <p:spPr>
          <a:xfrm rot="18000000">
            <a:off x="5368197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CDC9  COG1793</a:t>
            </a:r>
          </a:p>
        </p:txBody>
      </p:sp>
      <p:sp>
        <p:nvSpPr>
          <p:cNvPr id="72" name="TextBox 71"/>
          <p:cNvSpPr txBox="1"/>
          <p:nvPr/>
        </p:nvSpPr>
        <p:spPr>
          <a:xfrm rot="18000000">
            <a:off x="5778561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smtB/ArsR  COG0640</a:t>
            </a:r>
          </a:p>
        </p:txBody>
      </p:sp>
      <p:sp>
        <p:nvSpPr>
          <p:cNvPr id="73" name="TextBox 72"/>
          <p:cNvSpPr txBox="1"/>
          <p:nvPr/>
        </p:nvSpPr>
        <p:spPr>
          <a:xfrm rot="18000000">
            <a:off x="6188926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McrA  COG1403</a:t>
            </a:r>
          </a:p>
        </p:txBody>
      </p:sp>
      <p:sp>
        <p:nvSpPr>
          <p:cNvPr id="74" name="TextBox 73"/>
          <p:cNvSpPr txBox="1"/>
          <p:nvPr/>
        </p:nvSpPr>
        <p:spPr>
          <a:xfrm rot="18000000">
            <a:off x="6599291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CbpA  COG2214</a:t>
            </a:r>
          </a:p>
        </p:txBody>
      </p:sp>
      <p:sp>
        <p:nvSpPr>
          <p:cNvPr id="75" name="TextBox 74"/>
          <p:cNvSpPr txBox="1"/>
          <p:nvPr/>
        </p:nvSpPr>
        <p:spPr>
          <a:xfrm rot="18000000">
            <a:off x="7009656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DnaK  COG0443</a:t>
            </a:r>
          </a:p>
        </p:txBody>
      </p:sp>
      <p:sp>
        <p:nvSpPr>
          <p:cNvPr id="76" name="TextBox 75"/>
          <p:cNvSpPr txBox="1"/>
          <p:nvPr/>
        </p:nvSpPr>
        <p:spPr>
          <a:xfrm rot="18000000">
            <a:off x="7420021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DnaJ  COG0484</a:t>
            </a:r>
          </a:p>
        </p:txBody>
      </p:sp>
      <p:sp>
        <p:nvSpPr>
          <p:cNvPr id="77" name="TextBox 76"/>
          <p:cNvSpPr txBox="1"/>
          <p:nvPr/>
        </p:nvSpPr>
        <p:spPr>
          <a:xfrm rot="18000000">
            <a:off x="7830386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HflC  COG0330</a:t>
            </a:r>
          </a:p>
        </p:txBody>
      </p:sp>
      <p:sp>
        <p:nvSpPr>
          <p:cNvPr id="78" name="TextBox 77"/>
          <p:cNvSpPr txBox="1"/>
          <p:nvPr/>
        </p:nvSpPr>
        <p:spPr>
          <a:xfrm rot="18000000">
            <a:off x="8240751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RsuA  COG1187</a:t>
            </a:r>
          </a:p>
        </p:txBody>
      </p:sp>
      <p:sp>
        <p:nvSpPr>
          <p:cNvPr id="79" name="TextBox 78"/>
          <p:cNvSpPr txBox="1"/>
          <p:nvPr/>
        </p:nvSpPr>
        <p:spPr>
          <a:xfrm rot="18000000">
            <a:off x="8651116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EutG  COG1454</a:t>
            </a:r>
          </a:p>
        </p:txBody>
      </p:sp>
      <p:sp>
        <p:nvSpPr>
          <p:cNvPr id="80" name="TextBox 79"/>
          <p:cNvSpPr txBox="1"/>
          <p:nvPr/>
        </p:nvSpPr>
        <p:spPr>
          <a:xfrm rot="18000000">
            <a:off x="9061480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HupE  COG2370</a:t>
            </a:r>
          </a:p>
        </p:txBody>
      </p:sp>
      <p:sp>
        <p:nvSpPr>
          <p:cNvPr id="81" name="TextBox 80"/>
          <p:cNvSpPr txBox="1"/>
          <p:nvPr/>
        </p:nvSpPr>
        <p:spPr>
          <a:xfrm rot="18000000">
            <a:off x="9471845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AsnB  COG0367</a:t>
            </a:r>
          </a:p>
        </p:txBody>
      </p:sp>
      <p:sp>
        <p:nvSpPr>
          <p:cNvPr id="82" name="TextBox 81"/>
          <p:cNvSpPr txBox="1"/>
          <p:nvPr/>
        </p:nvSpPr>
        <p:spPr>
          <a:xfrm rot="18000000">
            <a:off x="9882210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AroC  COG0082</a:t>
            </a:r>
          </a:p>
        </p:txBody>
      </p:sp>
      <p:sp>
        <p:nvSpPr>
          <p:cNvPr id="83" name="TextBox 82"/>
          <p:cNvSpPr txBox="1"/>
          <p:nvPr/>
        </p:nvSpPr>
        <p:spPr>
          <a:xfrm rot="18000000">
            <a:off x="10292575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SunT  COG2274</a:t>
            </a:r>
          </a:p>
        </p:txBody>
      </p:sp>
      <p:sp>
        <p:nvSpPr>
          <p:cNvPr id="84" name="TextBox 83"/>
          <p:cNvSpPr txBox="1"/>
          <p:nvPr/>
        </p:nvSpPr>
        <p:spPr>
          <a:xfrm rot="18000000">
            <a:off x="10702940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PulO  COG1989</a:t>
            </a:r>
          </a:p>
        </p:txBody>
      </p:sp>
      <p:sp>
        <p:nvSpPr>
          <p:cNvPr id="85" name="TextBox 84"/>
          <p:cNvSpPr txBox="1"/>
          <p:nvPr/>
        </p:nvSpPr>
        <p:spPr>
          <a:xfrm rot="18000000">
            <a:off x="11113305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AcrA  COG0845</a:t>
            </a:r>
          </a:p>
        </p:txBody>
      </p:sp>
      <p:sp>
        <p:nvSpPr>
          <p:cNvPr id="86" name="TextBox 85"/>
          <p:cNvSpPr txBox="1"/>
          <p:nvPr/>
        </p:nvSpPr>
        <p:spPr>
          <a:xfrm rot="18000000">
            <a:off x="11523670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Uup  COG0488</a:t>
            </a:r>
          </a:p>
        </p:txBody>
      </p:sp>
      <p:sp>
        <p:nvSpPr>
          <p:cNvPr id="87" name="TextBox 86"/>
          <p:cNvSpPr txBox="1"/>
          <p:nvPr/>
        </p:nvSpPr>
        <p:spPr>
          <a:xfrm rot="18000000">
            <a:off x="11934035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RhaT  COG0697</a:t>
            </a:r>
          </a:p>
        </p:txBody>
      </p:sp>
      <p:sp>
        <p:nvSpPr>
          <p:cNvPr id="88" name="TextBox 87"/>
          <p:cNvSpPr txBox="1"/>
          <p:nvPr/>
        </p:nvSpPr>
        <p:spPr>
          <a:xfrm rot="18000000">
            <a:off x="12344399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MalK  COG3839</a:t>
            </a:r>
          </a:p>
        </p:txBody>
      </p:sp>
      <p:sp>
        <p:nvSpPr>
          <p:cNvPr id="89" name="TextBox 88"/>
          <p:cNvSpPr txBox="1"/>
          <p:nvPr/>
        </p:nvSpPr>
        <p:spPr>
          <a:xfrm rot="18000000">
            <a:off x="12754764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kdsB  COG1212</a:t>
            </a:r>
          </a:p>
        </p:txBody>
      </p:sp>
      <p:sp>
        <p:nvSpPr>
          <p:cNvPr id="90" name="TextBox 89"/>
          <p:cNvSpPr txBox="1"/>
          <p:nvPr/>
        </p:nvSpPr>
        <p:spPr>
          <a:xfrm rot="18000000">
            <a:off x="13165129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prop  COG0477</a:t>
            </a:r>
          </a:p>
        </p:txBody>
      </p:sp>
      <p:sp>
        <p:nvSpPr>
          <p:cNvPr id="91" name="TextBox 90"/>
          <p:cNvSpPr txBox="1"/>
          <p:nvPr/>
        </p:nvSpPr>
        <p:spPr>
          <a:xfrm rot="18000000">
            <a:off x="13575494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BglX  COG1472</a:t>
            </a:r>
          </a:p>
        </p:txBody>
      </p:sp>
      <p:sp>
        <p:nvSpPr>
          <p:cNvPr id="92" name="TextBox 91"/>
          <p:cNvSpPr txBox="1"/>
          <p:nvPr/>
        </p:nvSpPr>
        <p:spPr>
          <a:xfrm rot="18000000">
            <a:off x="13985859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RgpF  COG3754</a:t>
            </a:r>
          </a:p>
        </p:txBody>
      </p:sp>
      <p:sp>
        <p:nvSpPr>
          <p:cNvPr id="93" name="TextBox 92"/>
          <p:cNvSpPr txBox="1"/>
          <p:nvPr/>
        </p:nvSpPr>
        <p:spPr>
          <a:xfrm rot="18000000">
            <a:off x="14396224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WecE  COG0399</a:t>
            </a:r>
          </a:p>
        </p:txBody>
      </p:sp>
      <p:sp>
        <p:nvSpPr>
          <p:cNvPr id="94" name="TextBox 93"/>
          <p:cNvSpPr txBox="1"/>
          <p:nvPr/>
        </p:nvSpPr>
        <p:spPr>
          <a:xfrm rot="18000000">
            <a:off x="14806589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MviM  COG0673</a:t>
            </a:r>
          </a:p>
        </p:txBody>
      </p:sp>
      <p:sp>
        <p:nvSpPr>
          <p:cNvPr id="95" name="TextBox 94"/>
          <p:cNvSpPr txBox="1"/>
          <p:nvPr/>
        </p:nvSpPr>
        <p:spPr>
          <a:xfrm rot="18000000">
            <a:off x="15216954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TonB  COG0810</a:t>
            </a:r>
          </a:p>
        </p:txBody>
      </p:sp>
      <p:sp>
        <p:nvSpPr>
          <p:cNvPr id="96" name="TextBox 95"/>
          <p:cNvSpPr txBox="1"/>
          <p:nvPr/>
        </p:nvSpPr>
        <p:spPr>
          <a:xfrm rot="18000000">
            <a:off x="15627319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GumC  COG3206</a:t>
            </a:r>
          </a:p>
        </p:txBody>
      </p:sp>
      <p:sp>
        <p:nvSpPr>
          <p:cNvPr id="97" name="TextBox 96"/>
          <p:cNvSpPr txBox="1"/>
          <p:nvPr/>
        </p:nvSpPr>
        <p:spPr>
          <a:xfrm rot="18000000">
            <a:off x="16037683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Wza  COG1596</a:t>
            </a:r>
          </a:p>
        </p:txBody>
      </p:sp>
      <p:sp>
        <p:nvSpPr>
          <p:cNvPr id="98" name="TextBox 97"/>
          <p:cNvSpPr txBox="1"/>
          <p:nvPr/>
        </p:nvSpPr>
        <p:spPr>
          <a:xfrm rot="18000000">
            <a:off x="16448048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CsgG  COG1462</a:t>
            </a:r>
          </a:p>
        </p:txBody>
      </p:sp>
      <p:sp>
        <p:nvSpPr>
          <p:cNvPr id="99" name="TextBox 98"/>
          <p:cNvSpPr txBox="1"/>
          <p:nvPr/>
        </p:nvSpPr>
        <p:spPr>
          <a:xfrm rot="18000000">
            <a:off x="16858413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FhaB  COG3210</a:t>
            </a:r>
          </a:p>
        </p:txBody>
      </p:sp>
      <p:sp>
        <p:nvSpPr>
          <p:cNvPr id="100" name="TextBox 99"/>
          <p:cNvSpPr txBox="1"/>
          <p:nvPr/>
        </p:nvSpPr>
        <p:spPr>
          <a:xfrm rot="18000000">
            <a:off x="17268778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CccA  COG2010</a:t>
            </a:r>
          </a:p>
        </p:txBody>
      </p:sp>
      <p:sp>
        <p:nvSpPr>
          <p:cNvPr id="101" name="TextBox 100"/>
          <p:cNvSpPr txBox="1"/>
          <p:nvPr/>
        </p:nvSpPr>
        <p:spPr>
          <a:xfrm rot="18000000">
            <a:off x="17679143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AcyC  COG2114</a:t>
            </a:r>
          </a:p>
        </p:txBody>
      </p:sp>
      <p:sp>
        <p:nvSpPr>
          <p:cNvPr id="102" name="TextBox 101"/>
          <p:cNvSpPr txBox="1"/>
          <p:nvPr/>
        </p:nvSpPr>
        <p:spPr>
          <a:xfrm rot="18000000">
            <a:off x="18089508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PhnO  COG0454</a:t>
            </a:r>
          </a:p>
        </p:txBody>
      </p:sp>
      <p:sp>
        <p:nvSpPr>
          <p:cNvPr id="103" name="TextBox 102"/>
          <p:cNvSpPr txBox="1"/>
          <p:nvPr/>
        </p:nvSpPr>
        <p:spPr>
          <a:xfrm rot="18000000">
            <a:off x="18499873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COG2931  COG2931</a:t>
            </a:r>
          </a:p>
        </p:txBody>
      </p:sp>
      <p:sp>
        <p:nvSpPr>
          <p:cNvPr id="104" name="TextBox 103"/>
          <p:cNvSpPr txBox="1"/>
          <p:nvPr/>
        </p:nvSpPr>
        <p:spPr>
          <a:xfrm rot="18000000">
            <a:off x="18910238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DLH  COG0412</a:t>
            </a:r>
          </a:p>
        </p:txBody>
      </p:sp>
      <p:sp>
        <p:nvSpPr>
          <p:cNvPr id="105" name="TextBox 104"/>
          <p:cNvSpPr txBox="1"/>
          <p:nvPr/>
        </p:nvSpPr>
        <p:spPr>
          <a:xfrm rot="18000000">
            <a:off x="19320602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CHASE2  COG4252</a:t>
            </a:r>
          </a:p>
        </p:txBody>
      </p:sp>
      <p:sp>
        <p:nvSpPr>
          <p:cNvPr id="106" name="TextBox 105"/>
          <p:cNvSpPr txBox="1"/>
          <p:nvPr/>
        </p:nvSpPr>
        <p:spPr>
          <a:xfrm rot="18000000">
            <a:off x="19730967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COG2192  COG2192</a:t>
            </a:r>
          </a:p>
        </p:txBody>
      </p:sp>
      <p:sp>
        <p:nvSpPr>
          <p:cNvPr id="107" name="TextBox 106"/>
          <p:cNvSpPr txBox="1"/>
          <p:nvPr/>
        </p:nvSpPr>
        <p:spPr>
          <a:xfrm rot="18000000">
            <a:off x="20141332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LigW  COG2159</a:t>
            </a:r>
          </a:p>
        </p:txBody>
      </p:sp>
      <p:sp>
        <p:nvSpPr>
          <p:cNvPr id="108" name="TextBox 107"/>
          <p:cNvSpPr txBox="1"/>
          <p:nvPr/>
        </p:nvSpPr>
        <p:spPr>
          <a:xfrm rot="18000000">
            <a:off x="20551697" y="713232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B0B0B"/>
                </a:solidFill>
                <a:latin typeface="Arial"/>
              </a:rPr>
              <a:t>PPE  COG5651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2788920"/>
            <a:ext cx="370332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0B0B0B"/>
                </a:solidFill>
                <a:latin typeface="Arial"/>
              </a:rPr>
              <a:t>Weissberg et al., 2025 - Proteomics - MED4</a:t>
            </a:r>
          </a:p>
        </p:txBody>
      </p:sp>
      <p:sp>
        <p:nvSpPr>
          <p:cNvPr id="110" name="cell|Weissberg et al., 2025 - Proteomics - MED4|COG0188|ns"/>
          <p:cNvSpPr/>
          <p:nvPr/>
        </p:nvSpPr>
        <p:spPr>
          <a:xfrm>
            <a:off x="4846320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846320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0/5/6</a:t>
            </a:r>
          </a:p>
        </p:txBody>
      </p:sp>
      <p:sp>
        <p:nvSpPr>
          <p:cNvPr id="112" name="cell|Weissberg et al., 2025 - Proteomics - MED4|COG1787|ns"/>
          <p:cNvSpPr/>
          <p:nvPr/>
        </p:nvSpPr>
        <p:spPr>
          <a:xfrm>
            <a:off x="5256684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256684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14" name="cell|Weissberg et al., 2025 - Proteomics - MED4|COG3727|absent"/>
          <p:cNvSpPr/>
          <p:nvPr/>
        </p:nvSpPr>
        <p:spPr>
          <a:xfrm>
            <a:off x="5667049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 flipV="1">
            <a:off x="5667049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5667049" y="278892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5872232" y="299923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cell|Weissberg et al., 2025 - Proteomics - MED4|COG1793|ns"/>
          <p:cNvSpPr/>
          <p:nvPr/>
        </p:nvSpPr>
        <p:spPr>
          <a:xfrm>
            <a:off x="6077414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077414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0/1/3</a:t>
            </a:r>
          </a:p>
        </p:txBody>
      </p:sp>
      <p:sp>
        <p:nvSpPr>
          <p:cNvPr id="120" name="cell|Weissberg et al., 2025 - Proteomics - MED4|COG0640|nodata"/>
          <p:cNvSpPr/>
          <p:nvPr/>
        </p:nvSpPr>
        <p:spPr>
          <a:xfrm>
            <a:off x="6487779" y="2788920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cell|Weissberg et al., 2025 - Proteomics - MED4|COG1403|ns"/>
          <p:cNvSpPr/>
          <p:nvPr/>
        </p:nvSpPr>
        <p:spPr>
          <a:xfrm>
            <a:off x="6898144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98144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0/2/4</a:t>
            </a:r>
          </a:p>
        </p:txBody>
      </p:sp>
      <p:sp>
        <p:nvSpPr>
          <p:cNvPr id="123" name="cell|Weissberg et al., 2025 - Proteomics - MED4|COG2214|ns"/>
          <p:cNvSpPr/>
          <p:nvPr/>
        </p:nvSpPr>
        <p:spPr>
          <a:xfrm>
            <a:off x="7308509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308509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125" name="cell|Weissberg et al., 2025 - Proteomics - MED4|COG0443|ns"/>
          <p:cNvSpPr/>
          <p:nvPr/>
        </p:nvSpPr>
        <p:spPr>
          <a:xfrm>
            <a:off x="7718874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718874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127" name="cell|Weissberg et al., 2025 - Proteomics - MED4|COG0484|ns"/>
          <p:cNvSpPr/>
          <p:nvPr/>
        </p:nvSpPr>
        <p:spPr>
          <a:xfrm>
            <a:off x="8129239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129239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129" name="cell|Weissberg et al., 2025 - Proteomics - MED4|COG0330|ns"/>
          <p:cNvSpPr/>
          <p:nvPr/>
        </p:nvSpPr>
        <p:spPr>
          <a:xfrm>
            <a:off x="8539603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539603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31" name="cell|Weissberg et al., 2025 - Proteomics - MED4|COG1187|ns"/>
          <p:cNvSpPr/>
          <p:nvPr/>
        </p:nvSpPr>
        <p:spPr>
          <a:xfrm>
            <a:off x="8949968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949968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33" name="cell|Weissberg et al., 2025 - Proteomics - MED4|COG1454|absent"/>
          <p:cNvSpPr/>
          <p:nvPr/>
        </p:nvSpPr>
        <p:spPr>
          <a:xfrm>
            <a:off x="9360333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60333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9360333" y="278892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9565516" y="299923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cell|Weissberg et al., 2025 - Proteomics - MED4|COG2370|nodata"/>
          <p:cNvSpPr/>
          <p:nvPr/>
        </p:nvSpPr>
        <p:spPr>
          <a:xfrm>
            <a:off x="9770698" y="2788920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cell|Weissberg et al., 2025 - Proteomics - MED4|COG0367|absent"/>
          <p:cNvSpPr/>
          <p:nvPr/>
        </p:nvSpPr>
        <p:spPr>
          <a:xfrm>
            <a:off x="10181063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 flipV="1">
            <a:off x="10181063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10181063" y="278892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10386245" y="299923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cell|Weissberg et al., 2025 - Proteomics - MED4|COG0082|ns"/>
          <p:cNvSpPr/>
          <p:nvPr/>
        </p:nvSpPr>
        <p:spPr>
          <a:xfrm>
            <a:off x="10591428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591428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44" name="cell|Weissberg et al., 2025 - Proteomics - MED4|COG2274|absent"/>
          <p:cNvSpPr/>
          <p:nvPr/>
        </p:nvSpPr>
        <p:spPr>
          <a:xfrm>
            <a:off x="11001793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 flipV="1">
            <a:off x="11001793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11001793" y="278892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11206975" y="299923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cell|Weissberg et al., 2025 - Proteomics - MED4|COG1989|absent"/>
          <p:cNvSpPr/>
          <p:nvPr/>
        </p:nvSpPr>
        <p:spPr>
          <a:xfrm>
            <a:off x="11412158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9" name="Connector 148"/>
          <p:cNvCxnSpPr/>
          <p:nvPr/>
        </p:nvCxnSpPr>
        <p:spPr>
          <a:xfrm flipV="1">
            <a:off x="11412158" y="2788920"/>
            <a:ext cx="410364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11412158" y="278892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11617340" y="299923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cell|Weissberg et al., 2025 - Proteomics - MED4|COG0845|ns"/>
          <p:cNvSpPr/>
          <p:nvPr/>
        </p:nvSpPr>
        <p:spPr>
          <a:xfrm>
            <a:off x="11822522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1822522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154" name="cell|Weissberg et al., 2025 - Proteomics - MED4|COG0488|ns"/>
          <p:cNvSpPr/>
          <p:nvPr/>
        </p:nvSpPr>
        <p:spPr>
          <a:xfrm>
            <a:off x="12232887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2232887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156" name="cell|Weissberg et al., 2025 - Proteomics - MED4|COG0697|ns"/>
          <p:cNvSpPr/>
          <p:nvPr/>
        </p:nvSpPr>
        <p:spPr>
          <a:xfrm>
            <a:off x="12643252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2643252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0/3/9</a:t>
            </a:r>
          </a:p>
        </p:txBody>
      </p:sp>
      <p:sp>
        <p:nvSpPr>
          <p:cNvPr id="158" name="cell|Weissberg et al., 2025 - Proteomics - MED4|COG3839|absent"/>
          <p:cNvSpPr/>
          <p:nvPr/>
        </p:nvSpPr>
        <p:spPr>
          <a:xfrm>
            <a:off x="13053617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9" name="Connector 158"/>
          <p:cNvCxnSpPr/>
          <p:nvPr/>
        </p:nvCxnSpPr>
        <p:spPr>
          <a:xfrm flipV="1">
            <a:off x="13053617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13053617" y="278892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13258799" y="299923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cell|Weissberg et al., 2025 - Proteomics - MED4|COG1212|absent"/>
          <p:cNvSpPr/>
          <p:nvPr/>
        </p:nvSpPr>
        <p:spPr>
          <a:xfrm>
            <a:off x="13463982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 flipV="1">
            <a:off x="13463982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13463982" y="278892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13669164" y="299923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cell|Weissberg et al., 2025 - Proteomics - MED4|COG0477|ns"/>
          <p:cNvSpPr/>
          <p:nvPr/>
        </p:nvSpPr>
        <p:spPr>
          <a:xfrm>
            <a:off x="13874347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13874347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0/15/25</a:t>
            </a:r>
          </a:p>
        </p:txBody>
      </p:sp>
      <p:sp>
        <p:nvSpPr>
          <p:cNvPr id="168" name="cell|Weissberg et al., 2025 - Proteomics - MED4|COG1472|absent"/>
          <p:cNvSpPr/>
          <p:nvPr/>
        </p:nvSpPr>
        <p:spPr>
          <a:xfrm>
            <a:off x="14284712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9" name="Connector 168"/>
          <p:cNvCxnSpPr/>
          <p:nvPr/>
        </p:nvCxnSpPr>
        <p:spPr>
          <a:xfrm flipV="1">
            <a:off x="14284712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14284712" y="278892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14489894" y="299923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cell|Weissberg et al., 2025 - Proteomics - MED4|COG3754|absent"/>
          <p:cNvSpPr/>
          <p:nvPr/>
        </p:nvSpPr>
        <p:spPr>
          <a:xfrm>
            <a:off x="14695077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3" name="Connector 172"/>
          <p:cNvCxnSpPr/>
          <p:nvPr/>
        </p:nvCxnSpPr>
        <p:spPr>
          <a:xfrm flipV="1">
            <a:off x="14695077" y="2788920"/>
            <a:ext cx="410364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14695077" y="278892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14900259" y="299923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cell|Weissberg et al., 2025 - Proteomics - MED4|COG0399|ns"/>
          <p:cNvSpPr/>
          <p:nvPr/>
        </p:nvSpPr>
        <p:spPr>
          <a:xfrm>
            <a:off x="15105441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15105441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178" name="cell|Weissberg et al., 2025 - Proteomics - MED4|COG0673|ns"/>
          <p:cNvSpPr/>
          <p:nvPr/>
        </p:nvSpPr>
        <p:spPr>
          <a:xfrm>
            <a:off x="15515806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5515806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80" name="cell|Weissberg et al., 2025 - Proteomics - MED4|COG0810|absent"/>
          <p:cNvSpPr/>
          <p:nvPr/>
        </p:nvSpPr>
        <p:spPr>
          <a:xfrm>
            <a:off x="15926171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1" name="Connector 180"/>
          <p:cNvCxnSpPr/>
          <p:nvPr/>
        </p:nvCxnSpPr>
        <p:spPr>
          <a:xfrm flipV="1">
            <a:off x="15926171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15926171" y="278892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16131354" y="299923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cell|Weissberg et al., 2025 - Proteomics - MED4|COG3206|absent"/>
          <p:cNvSpPr/>
          <p:nvPr/>
        </p:nvSpPr>
        <p:spPr>
          <a:xfrm>
            <a:off x="16336536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5" name="Connector 184"/>
          <p:cNvCxnSpPr/>
          <p:nvPr/>
        </p:nvCxnSpPr>
        <p:spPr>
          <a:xfrm flipV="1">
            <a:off x="16336536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16336536" y="278892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16541719" y="299923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ell|Weissberg et al., 2025 - Proteomics - MED4|COG1596|ns"/>
          <p:cNvSpPr/>
          <p:nvPr/>
        </p:nvSpPr>
        <p:spPr>
          <a:xfrm>
            <a:off x="16746901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6746901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0/1/2</a:t>
            </a:r>
          </a:p>
        </p:txBody>
      </p:sp>
      <p:sp>
        <p:nvSpPr>
          <p:cNvPr id="190" name="cell|Weissberg et al., 2025 - Proteomics - MED4|COG1462|absent"/>
          <p:cNvSpPr/>
          <p:nvPr/>
        </p:nvSpPr>
        <p:spPr>
          <a:xfrm>
            <a:off x="17157266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" name="Connector 190"/>
          <p:cNvCxnSpPr/>
          <p:nvPr/>
        </p:nvCxnSpPr>
        <p:spPr>
          <a:xfrm flipV="1">
            <a:off x="17157266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7157266" y="278892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7362448" y="299923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cell|Weissberg et al., 2025 - Proteomics - MED4|COG3210|nodata"/>
          <p:cNvSpPr/>
          <p:nvPr/>
        </p:nvSpPr>
        <p:spPr>
          <a:xfrm>
            <a:off x="17567631" y="2788920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cell|Weissberg et al., 2025 - Proteomics - MED4|COG2010|ns"/>
          <p:cNvSpPr/>
          <p:nvPr/>
        </p:nvSpPr>
        <p:spPr>
          <a:xfrm>
            <a:off x="17977996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7977996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97" name="cell|Weissberg et al., 2025 - Proteomics - MED4|COG2114|absent"/>
          <p:cNvSpPr/>
          <p:nvPr/>
        </p:nvSpPr>
        <p:spPr>
          <a:xfrm>
            <a:off x="18388360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8" name="Connector 197"/>
          <p:cNvCxnSpPr/>
          <p:nvPr/>
        </p:nvCxnSpPr>
        <p:spPr>
          <a:xfrm flipV="1">
            <a:off x="18388360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8388360" y="278892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8593543" y="299923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cell|Weissberg et al., 2025 - Proteomics - MED4|COG0454|ns"/>
          <p:cNvSpPr/>
          <p:nvPr/>
        </p:nvSpPr>
        <p:spPr>
          <a:xfrm>
            <a:off x="18798725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8798725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0/3/5</a:t>
            </a:r>
          </a:p>
        </p:txBody>
      </p:sp>
      <p:sp>
        <p:nvSpPr>
          <p:cNvPr id="203" name="cell|Weissberg et al., 2025 - Proteomics - MED4|COG2931|absent"/>
          <p:cNvSpPr/>
          <p:nvPr/>
        </p:nvSpPr>
        <p:spPr>
          <a:xfrm>
            <a:off x="19209090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4" name="Connector 203"/>
          <p:cNvCxnSpPr/>
          <p:nvPr/>
        </p:nvCxnSpPr>
        <p:spPr>
          <a:xfrm flipV="1">
            <a:off x="19209090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19209090" y="278892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19414273" y="299923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ell|Weissberg et al., 2025 - Proteomics - MED4|COG0412|absent"/>
          <p:cNvSpPr/>
          <p:nvPr/>
        </p:nvSpPr>
        <p:spPr>
          <a:xfrm>
            <a:off x="19619455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 flipV="1">
            <a:off x="19619455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19619455" y="278892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19824638" y="299923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cell|Weissberg et al., 2025 - Proteomics - MED4|COG4252|absent"/>
          <p:cNvSpPr/>
          <p:nvPr/>
        </p:nvSpPr>
        <p:spPr>
          <a:xfrm>
            <a:off x="20029820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2" name="Connector 211"/>
          <p:cNvCxnSpPr/>
          <p:nvPr/>
        </p:nvCxnSpPr>
        <p:spPr>
          <a:xfrm flipV="1">
            <a:off x="20029820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0029820" y="278892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0235002" y="299923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cell|Weissberg et al., 2025 - Proteomics - MED4|COG2192|ns"/>
          <p:cNvSpPr/>
          <p:nvPr/>
        </p:nvSpPr>
        <p:spPr>
          <a:xfrm>
            <a:off x="20440185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0440185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217" name="cell|Weissberg et al., 2025 - Proteomics - MED4|COG2159|ns"/>
          <p:cNvSpPr/>
          <p:nvPr/>
        </p:nvSpPr>
        <p:spPr>
          <a:xfrm>
            <a:off x="20850550" y="278892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0850550" y="278892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219" name="cell|Weissberg et al., 2025 - Proteomics - MED4|COG5651|absent"/>
          <p:cNvSpPr/>
          <p:nvPr/>
        </p:nvSpPr>
        <p:spPr>
          <a:xfrm>
            <a:off x="21260915" y="278892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 flipV="1">
            <a:off x="21260915" y="278892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1260915" y="278892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21466097" y="299923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TextBox 222"/>
          <p:cNvSpPr txBox="1"/>
          <p:nvPr/>
        </p:nvSpPr>
        <p:spPr>
          <a:xfrm>
            <a:off x="914400" y="3209544"/>
            <a:ext cx="370332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0B0B0B"/>
                </a:solidFill>
                <a:latin typeface="Arial"/>
              </a:rPr>
              <a:t>Weissberg et al., 2025 - RNA-seq - MED4</a:t>
            </a:r>
          </a:p>
        </p:txBody>
      </p:sp>
      <p:sp>
        <p:nvSpPr>
          <p:cNvPr id="224" name="cell|Weissberg et al., 2025 - RNA-seq - MED4|COG0188|both"/>
          <p:cNvSpPr/>
          <p:nvPr/>
        </p:nvSpPr>
        <p:spPr>
          <a:xfrm>
            <a:off x="4846320" y="3209544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846320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↑3↓2/6/6</a:t>
            </a:r>
          </a:p>
        </p:txBody>
      </p:sp>
      <p:sp>
        <p:nvSpPr>
          <p:cNvPr id="226" name="cell|Weissberg et al., 2025 - RNA-seq - MED4|COG1787|up"/>
          <p:cNvSpPr/>
          <p:nvPr/>
        </p:nvSpPr>
        <p:spPr>
          <a:xfrm>
            <a:off x="5256684" y="3209544"/>
            <a:ext cx="410364" cy="420624"/>
          </a:xfrm>
          <a:prstGeom prst="rect">
            <a:avLst/>
          </a:prstGeom>
          <a:solidFill>
            <a:srgbClr val="E3494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5256684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1/1/1</a:t>
            </a:r>
          </a:p>
        </p:txBody>
      </p:sp>
      <p:sp>
        <p:nvSpPr>
          <p:cNvPr id="228" name="cell|Weissberg et al., 2025 - RNA-seq - MED4|COG3727|absent"/>
          <p:cNvSpPr/>
          <p:nvPr/>
        </p:nvSpPr>
        <p:spPr>
          <a:xfrm>
            <a:off x="5667049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9" name="Connector 228"/>
          <p:cNvCxnSpPr/>
          <p:nvPr/>
        </p:nvCxnSpPr>
        <p:spPr>
          <a:xfrm flipV="1">
            <a:off x="5667049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5667049" y="320954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5872232" y="341985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cell|Weissberg et al., 2025 - RNA-seq - MED4|COG1793|both"/>
          <p:cNvSpPr/>
          <p:nvPr/>
        </p:nvSpPr>
        <p:spPr>
          <a:xfrm>
            <a:off x="6077414" y="3209544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6077414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↑1↓1/3/3</a:t>
            </a:r>
          </a:p>
        </p:txBody>
      </p:sp>
      <p:sp>
        <p:nvSpPr>
          <p:cNvPr id="234" name="cell|Weissberg et al., 2025 - RNA-seq - MED4|COG0640|up"/>
          <p:cNvSpPr/>
          <p:nvPr/>
        </p:nvSpPr>
        <p:spPr>
          <a:xfrm>
            <a:off x="6487779" y="3209544"/>
            <a:ext cx="410364" cy="420624"/>
          </a:xfrm>
          <a:prstGeom prst="rect">
            <a:avLst/>
          </a:prstGeom>
          <a:solidFill>
            <a:srgbClr val="E3494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7779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1/1/1</a:t>
            </a:r>
          </a:p>
        </p:txBody>
      </p:sp>
      <p:sp>
        <p:nvSpPr>
          <p:cNvPr id="236" name="cell|Weissberg et al., 2025 - RNA-seq - MED4|COG1403|up"/>
          <p:cNvSpPr/>
          <p:nvPr/>
        </p:nvSpPr>
        <p:spPr>
          <a:xfrm>
            <a:off x="6898144" y="3209544"/>
            <a:ext cx="410364" cy="420624"/>
          </a:xfrm>
          <a:prstGeom prst="rect">
            <a:avLst/>
          </a:prstGeom>
          <a:solidFill>
            <a:srgbClr val="CD6C67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898144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2/4/4</a:t>
            </a:r>
          </a:p>
        </p:txBody>
      </p:sp>
      <p:sp>
        <p:nvSpPr>
          <p:cNvPr id="238" name="cell|Weissberg et al., 2025 - RNA-seq - MED4|COG2214|up"/>
          <p:cNvSpPr/>
          <p:nvPr/>
        </p:nvSpPr>
        <p:spPr>
          <a:xfrm>
            <a:off x="7308509" y="3209544"/>
            <a:ext cx="410364" cy="420624"/>
          </a:xfrm>
          <a:prstGeom prst="rect">
            <a:avLst/>
          </a:prstGeom>
          <a:solidFill>
            <a:srgbClr val="D16561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7308509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3/5/5</a:t>
            </a:r>
          </a:p>
        </p:txBody>
      </p:sp>
      <p:sp>
        <p:nvSpPr>
          <p:cNvPr id="240" name="cell|Weissberg et al., 2025 - RNA-seq - MED4|COG0443|both"/>
          <p:cNvSpPr/>
          <p:nvPr/>
        </p:nvSpPr>
        <p:spPr>
          <a:xfrm>
            <a:off x="7718874" y="3209544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7718874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↑1↓1/4/4</a:t>
            </a:r>
          </a:p>
        </p:txBody>
      </p:sp>
      <p:sp>
        <p:nvSpPr>
          <p:cNvPr id="242" name="cell|Weissberg et al., 2025 - RNA-seq - MED4|COG0484|up"/>
          <p:cNvSpPr/>
          <p:nvPr/>
        </p:nvSpPr>
        <p:spPr>
          <a:xfrm>
            <a:off x="8129239" y="3209544"/>
            <a:ext cx="410364" cy="420624"/>
          </a:xfrm>
          <a:prstGeom prst="rect">
            <a:avLst/>
          </a:prstGeom>
          <a:solidFill>
            <a:srgbClr val="C8736D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8129239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2/5/5</a:t>
            </a:r>
          </a:p>
        </p:txBody>
      </p:sp>
      <p:sp>
        <p:nvSpPr>
          <p:cNvPr id="244" name="cell|Weissberg et al., 2025 - RNA-seq - MED4|COG0330|ns"/>
          <p:cNvSpPr/>
          <p:nvPr/>
        </p:nvSpPr>
        <p:spPr>
          <a:xfrm>
            <a:off x="8539603" y="3209544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539603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246" name="cell|Weissberg et al., 2025 - RNA-seq - MED4|COG1187|ns"/>
          <p:cNvSpPr/>
          <p:nvPr/>
        </p:nvSpPr>
        <p:spPr>
          <a:xfrm>
            <a:off x="8949968" y="3209544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8949968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248" name="cell|Weissberg et al., 2025 - RNA-seq - MED4|COG1454|absent"/>
          <p:cNvSpPr/>
          <p:nvPr/>
        </p:nvSpPr>
        <p:spPr>
          <a:xfrm>
            <a:off x="9360333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9" name="Connector 248"/>
          <p:cNvCxnSpPr/>
          <p:nvPr/>
        </p:nvCxnSpPr>
        <p:spPr>
          <a:xfrm flipV="1">
            <a:off x="9360333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9360333" y="320954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9565516" y="341985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cell|Weissberg et al., 2025 - RNA-seq - MED4|COG2370|up"/>
          <p:cNvSpPr/>
          <p:nvPr/>
        </p:nvSpPr>
        <p:spPr>
          <a:xfrm>
            <a:off x="9770698" y="3209544"/>
            <a:ext cx="410364" cy="420624"/>
          </a:xfrm>
          <a:prstGeom prst="rect">
            <a:avLst/>
          </a:prstGeom>
          <a:solidFill>
            <a:srgbClr val="E3494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9770698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1/1/1</a:t>
            </a:r>
          </a:p>
        </p:txBody>
      </p:sp>
      <p:sp>
        <p:nvSpPr>
          <p:cNvPr id="254" name="cell|Weissberg et al., 2025 - RNA-seq - MED4|COG0367|absent"/>
          <p:cNvSpPr/>
          <p:nvPr/>
        </p:nvSpPr>
        <p:spPr>
          <a:xfrm>
            <a:off x="10181063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5" name="Connector 254"/>
          <p:cNvCxnSpPr/>
          <p:nvPr/>
        </p:nvCxnSpPr>
        <p:spPr>
          <a:xfrm flipV="1">
            <a:off x="10181063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10181063" y="320954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10386245" y="341985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cell|Weissberg et al., 2025 - RNA-seq - MED4|COG0082|up"/>
          <p:cNvSpPr/>
          <p:nvPr/>
        </p:nvSpPr>
        <p:spPr>
          <a:xfrm>
            <a:off x="10591428" y="3209544"/>
            <a:ext cx="410364" cy="420624"/>
          </a:xfrm>
          <a:prstGeom prst="rect">
            <a:avLst/>
          </a:prstGeom>
          <a:solidFill>
            <a:srgbClr val="E3494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10591428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1/1/1</a:t>
            </a:r>
          </a:p>
        </p:txBody>
      </p:sp>
      <p:sp>
        <p:nvSpPr>
          <p:cNvPr id="260" name="cell|Weissberg et al., 2025 - RNA-seq - MED4|COG2274|absent"/>
          <p:cNvSpPr/>
          <p:nvPr/>
        </p:nvSpPr>
        <p:spPr>
          <a:xfrm>
            <a:off x="11001793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1" name="Connector 260"/>
          <p:cNvCxnSpPr/>
          <p:nvPr/>
        </p:nvCxnSpPr>
        <p:spPr>
          <a:xfrm flipV="1">
            <a:off x="11001793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11001793" y="320954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11206975" y="341985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cell|Weissberg et al., 2025 - RNA-seq - MED4|COG1989|absent"/>
          <p:cNvSpPr/>
          <p:nvPr/>
        </p:nvSpPr>
        <p:spPr>
          <a:xfrm>
            <a:off x="11412158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5" name="Connector 264"/>
          <p:cNvCxnSpPr/>
          <p:nvPr/>
        </p:nvCxnSpPr>
        <p:spPr>
          <a:xfrm flipV="1">
            <a:off x="11412158" y="3209544"/>
            <a:ext cx="410364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11412158" y="320954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11617340" y="341985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8" name="cell|Weissberg et al., 2025 - RNA-seq - MED4|COG0845|up"/>
          <p:cNvSpPr/>
          <p:nvPr/>
        </p:nvSpPr>
        <p:spPr>
          <a:xfrm>
            <a:off x="11822522" y="3209544"/>
            <a:ext cx="410364" cy="420624"/>
          </a:xfrm>
          <a:prstGeom prst="rect">
            <a:avLst/>
          </a:prstGeom>
          <a:solidFill>
            <a:srgbClr val="C67872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1822522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1/3/3</a:t>
            </a:r>
          </a:p>
        </p:txBody>
      </p:sp>
      <p:sp>
        <p:nvSpPr>
          <p:cNvPr id="270" name="cell|Weissberg et al., 2025 - RNA-seq - MED4|COG0488|up"/>
          <p:cNvSpPr/>
          <p:nvPr/>
        </p:nvSpPr>
        <p:spPr>
          <a:xfrm>
            <a:off x="12232887" y="3209544"/>
            <a:ext cx="410364" cy="420624"/>
          </a:xfrm>
          <a:prstGeom prst="rect">
            <a:avLst/>
          </a:prstGeom>
          <a:solidFill>
            <a:srgbClr val="C67872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2232887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1/3/3</a:t>
            </a:r>
          </a:p>
        </p:txBody>
      </p:sp>
      <p:sp>
        <p:nvSpPr>
          <p:cNvPr id="272" name="cell|Weissberg et al., 2025 - RNA-seq - MED4|COG0697|both"/>
          <p:cNvSpPr/>
          <p:nvPr/>
        </p:nvSpPr>
        <p:spPr>
          <a:xfrm>
            <a:off x="12643252" y="3209544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2643252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↑4↓3/9/9</a:t>
            </a:r>
          </a:p>
        </p:txBody>
      </p:sp>
      <p:sp>
        <p:nvSpPr>
          <p:cNvPr id="274" name="cell|Weissberg et al., 2025 - RNA-seq - MED4|COG3839|absent"/>
          <p:cNvSpPr/>
          <p:nvPr/>
        </p:nvSpPr>
        <p:spPr>
          <a:xfrm>
            <a:off x="13053617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5" name="Connector 274"/>
          <p:cNvCxnSpPr/>
          <p:nvPr/>
        </p:nvCxnSpPr>
        <p:spPr>
          <a:xfrm flipV="1">
            <a:off x="13053617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13053617" y="320954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13258799" y="341985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cell|Weissberg et al., 2025 - RNA-seq - MED4|COG1212|absent"/>
          <p:cNvSpPr/>
          <p:nvPr/>
        </p:nvSpPr>
        <p:spPr>
          <a:xfrm>
            <a:off x="13463982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9" name="Connector 278"/>
          <p:cNvCxnSpPr/>
          <p:nvPr/>
        </p:nvCxnSpPr>
        <p:spPr>
          <a:xfrm flipV="1">
            <a:off x="13463982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13463982" y="320954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13669164" y="341985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cell|Weissberg et al., 2025 - RNA-seq - MED4|COG0477|both"/>
          <p:cNvSpPr/>
          <p:nvPr/>
        </p:nvSpPr>
        <p:spPr>
          <a:xfrm>
            <a:off x="13874347" y="3209544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13874347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↑3↓6/25/25</a:t>
            </a:r>
          </a:p>
        </p:txBody>
      </p:sp>
      <p:sp>
        <p:nvSpPr>
          <p:cNvPr id="284" name="cell|Weissberg et al., 2025 - RNA-seq - MED4|COG1472|absent"/>
          <p:cNvSpPr/>
          <p:nvPr/>
        </p:nvSpPr>
        <p:spPr>
          <a:xfrm>
            <a:off x="14284712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5" name="Connector 284"/>
          <p:cNvCxnSpPr/>
          <p:nvPr/>
        </p:nvCxnSpPr>
        <p:spPr>
          <a:xfrm flipV="1">
            <a:off x="14284712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14284712" y="320954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14489894" y="341985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cell|Weissberg et al., 2025 - RNA-seq - MED4|COG3754|absent"/>
          <p:cNvSpPr/>
          <p:nvPr/>
        </p:nvSpPr>
        <p:spPr>
          <a:xfrm>
            <a:off x="14695077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9" name="Connector 288"/>
          <p:cNvCxnSpPr/>
          <p:nvPr/>
        </p:nvCxnSpPr>
        <p:spPr>
          <a:xfrm flipV="1">
            <a:off x="14695077" y="3209544"/>
            <a:ext cx="410364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14695077" y="320954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14900259" y="341985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cell|Weissberg et al., 2025 - RNA-seq - MED4|COG0399|both"/>
          <p:cNvSpPr/>
          <p:nvPr/>
        </p:nvSpPr>
        <p:spPr>
          <a:xfrm>
            <a:off x="15105441" y="3209544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5105441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↑1↓1/4/4</a:t>
            </a:r>
          </a:p>
        </p:txBody>
      </p:sp>
      <p:sp>
        <p:nvSpPr>
          <p:cNvPr id="294" name="cell|Weissberg et al., 2025 - RNA-seq - MED4|COG0673|down"/>
          <p:cNvSpPr/>
          <p:nvPr/>
        </p:nvSpPr>
        <p:spPr>
          <a:xfrm>
            <a:off x="15515806" y="3209544"/>
            <a:ext cx="410364" cy="420624"/>
          </a:xfrm>
          <a:prstGeom prst="rect">
            <a:avLst/>
          </a:prstGeom>
          <a:solidFill>
            <a:srgbClr val="5989C0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15515806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1/2/2</a:t>
            </a:r>
          </a:p>
        </p:txBody>
      </p:sp>
      <p:sp>
        <p:nvSpPr>
          <p:cNvPr id="296" name="cell|Weissberg et al., 2025 - RNA-seq - MED4|COG0810|absent"/>
          <p:cNvSpPr/>
          <p:nvPr/>
        </p:nvSpPr>
        <p:spPr>
          <a:xfrm>
            <a:off x="15926171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5926171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15926171" y="320954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16131354" y="341985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cell|Weissberg et al., 2025 - RNA-seq - MED4|COG3206|absent"/>
          <p:cNvSpPr/>
          <p:nvPr/>
        </p:nvSpPr>
        <p:spPr>
          <a:xfrm>
            <a:off x="16336536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1" name="Connector 300"/>
          <p:cNvCxnSpPr/>
          <p:nvPr/>
        </p:nvCxnSpPr>
        <p:spPr>
          <a:xfrm flipV="1">
            <a:off x="16336536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16336536" y="320954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16541719" y="341985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cell|Weissberg et al., 2025 - RNA-seq - MED4|COG1596|both"/>
          <p:cNvSpPr/>
          <p:nvPr/>
        </p:nvSpPr>
        <p:spPr>
          <a:xfrm>
            <a:off x="16746901" y="3209544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16746901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↑1↓1/2/2</a:t>
            </a:r>
          </a:p>
        </p:txBody>
      </p:sp>
      <p:sp>
        <p:nvSpPr>
          <p:cNvPr id="306" name="cell|Weissberg et al., 2025 - RNA-seq - MED4|COG1462|absent"/>
          <p:cNvSpPr/>
          <p:nvPr/>
        </p:nvSpPr>
        <p:spPr>
          <a:xfrm>
            <a:off x="17157266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7" name="Connector 306"/>
          <p:cNvCxnSpPr/>
          <p:nvPr/>
        </p:nvCxnSpPr>
        <p:spPr>
          <a:xfrm flipV="1">
            <a:off x="17157266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17157266" y="320954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7362448" y="341985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0" name="cell|Weissberg et al., 2025 - RNA-seq - MED4|COG3210|up"/>
          <p:cNvSpPr/>
          <p:nvPr/>
        </p:nvSpPr>
        <p:spPr>
          <a:xfrm>
            <a:off x="17567631" y="3209544"/>
            <a:ext cx="410364" cy="420624"/>
          </a:xfrm>
          <a:prstGeom prst="rect">
            <a:avLst/>
          </a:prstGeom>
          <a:solidFill>
            <a:srgbClr val="E3494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17567631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1/1/1</a:t>
            </a:r>
          </a:p>
        </p:txBody>
      </p:sp>
      <p:sp>
        <p:nvSpPr>
          <p:cNvPr id="312" name="cell|Weissberg et al., 2025 - RNA-seq - MED4|COG2010|ns"/>
          <p:cNvSpPr/>
          <p:nvPr/>
        </p:nvSpPr>
        <p:spPr>
          <a:xfrm>
            <a:off x="17977996" y="3209544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17977996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314" name="cell|Weissberg et al., 2025 - RNA-seq - MED4|COG2114|absent"/>
          <p:cNvSpPr/>
          <p:nvPr/>
        </p:nvSpPr>
        <p:spPr>
          <a:xfrm>
            <a:off x="18388360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5" name="Connector 314"/>
          <p:cNvCxnSpPr/>
          <p:nvPr/>
        </p:nvCxnSpPr>
        <p:spPr>
          <a:xfrm flipV="1">
            <a:off x="18388360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18388360" y="320954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8593543" y="341985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cell|Weissberg et al., 2025 - RNA-seq - MED4|COG0454|up"/>
          <p:cNvSpPr/>
          <p:nvPr/>
        </p:nvSpPr>
        <p:spPr>
          <a:xfrm>
            <a:off x="18798725" y="3209544"/>
            <a:ext cx="410364" cy="420624"/>
          </a:xfrm>
          <a:prstGeom prst="rect">
            <a:avLst/>
          </a:prstGeom>
          <a:solidFill>
            <a:srgbClr val="C8736D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18798725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2/5/5</a:t>
            </a:r>
          </a:p>
        </p:txBody>
      </p:sp>
      <p:sp>
        <p:nvSpPr>
          <p:cNvPr id="320" name="cell|Weissberg et al., 2025 - RNA-seq - MED4|COG2931|absent"/>
          <p:cNvSpPr/>
          <p:nvPr/>
        </p:nvSpPr>
        <p:spPr>
          <a:xfrm>
            <a:off x="19209090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1" name="Connector 320"/>
          <p:cNvCxnSpPr/>
          <p:nvPr/>
        </p:nvCxnSpPr>
        <p:spPr>
          <a:xfrm flipV="1">
            <a:off x="19209090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19209090" y="320954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19414273" y="341985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cell|Weissberg et al., 2025 - RNA-seq - MED4|COG0412|absent"/>
          <p:cNvSpPr/>
          <p:nvPr/>
        </p:nvSpPr>
        <p:spPr>
          <a:xfrm>
            <a:off x="19619455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5" name="Connector 324"/>
          <p:cNvCxnSpPr/>
          <p:nvPr/>
        </p:nvCxnSpPr>
        <p:spPr>
          <a:xfrm flipV="1">
            <a:off x="19619455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9619455" y="320954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19824638" y="341985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cell|Weissberg et al., 2025 - RNA-seq - MED4|COG4252|absent"/>
          <p:cNvSpPr/>
          <p:nvPr/>
        </p:nvSpPr>
        <p:spPr>
          <a:xfrm>
            <a:off x="20029820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9" name="Connector 328"/>
          <p:cNvCxnSpPr/>
          <p:nvPr/>
        </p:nvCxnSpPr>
        <p:spPr>
          <a:xfrm flipV="1">
            <a:off x="20029820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20029820" y="320954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20235002" y="341985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cell|Weissberg et al., 2025 - RNA-seq - MED4|COG2192|up"/>
          <p:cNvSpPr/>
          <p:nvPr/>
        </p:nvSpPr>
        <p:spPr>
          <a:xfrm>
            <a:off x="20440185" y="3209544"/>
            <a:ext cx="410364" cy="420624"/>
          </a:xfrm>
          <a:prstGeom prst="rect">
            <a:avLst/>
          </a:prstGeom>
          <a:solidFill>
            <a:srgbClr val="CD6C67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20440185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1/2/2</a:t>
            </a:r>
          </a:p>
        </p:txBody>
      </p:sp>
      <p:sp>
        <p:nvSpPr>
          <p:cNvPr id="334" name="cell|Weissberg et al., 2025 - RNA-seq - MED4|COG2159|ns"/>
          <p:cNvSpPr/>
          <p:nvPr/>
        </p:nvSpPr>
        <p:spPr>
          <a:xfrm>
            <a:off x="20850550" y="3209544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20850550" y="320954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336" name="cell|Weissberg et al., 2025 - RNA-seq - MED4|COG5651|absent"/>
          <p:cNvSpPr/>
          <p:nvPr/>
        </p:nvSpPr>
        <p:spPr>
          <a:xfrm>
            <a:off x="21260915" y="320954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 flipV="1">
            <a:off x="21260915" y="320954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1260915" y="320954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1466097" y="341985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0" name="TextBox 339"/>
          <p:cNvSpPr txBox="1"/>
          <p:nvPr/>
        </p:nvSpPr>
        <p:spPr>
          <a:xfrm>
            <a:off x="914400" y="3630168"/>
            <a:ext cx="370332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0B0B0B"/>
                </a:solidFill>
                <a:latin typeface="Arial"/>
              </a:rPr>
              <a:t>Read et al., 2017 - RNA-seq - MED4</a:t>
            </a:r>
          </a:p>
        </p:txBody>
      </p:sp>
      <p:sp>
        <p:nvSpPr>
          <p:cNvPr id="341" name="cell|Read et al., 2017 - RNA-seq - MED4|COG0188|down"/>
          <p:cNvSpPr/>
          <p:nvPr/>
        </p:nvSpPr>
        <p:spPr>
          <a:xfrm>
            <a:off x="4846320" y="3630168"/>
            <a:ext cx="410364" cy="420624"/>
          </a:xfrm>
          <a:prstGeom prst="rect">
            <a:avLst/>
          </a:prstGeom>
          <a:solidFill>
            <a:srgbClr val="7694B3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4846320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1/5/6</a:t>
            </a:r>
          </a:p>
        </p:txBody>
      </p:sp>
      <p:sp>
        <p:nvSpPr>
          <p:cNvPr id="343" name="cell|Read et al., 2017 - RNA-seq - MED4|COG1787|nodata"/>
          <p:cNvSpPr/>
          <p:nvPr/>
        </p:nvSpPr>
        <p:spPr>
          <a:xfrm>
            <a:off x="5256684" y="363016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cell|Read et al., 2017 - RNA-seq - MED4|COG3727|absent"/>
          <p:cNvSpPr/>
          <p:nvPr/>
        </p:nvSpPr>
        <p:spPr>
          <a:xfrm>
            <a:off x="5667049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 flipV="1">
            <a:off x="5667049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5667049" y="363016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5872232" y="3840480"/>
            <a:ext cx="205182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cell|Read et al., 2017 - RNA-seq - MED4|COG1793|ns"/>
          <p:cNvSpPr/>
          <p:nvPr/>
        </p:nvSpPr>
        <p:spPr>
          <a:xfrm>
            <a:off x="6077414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6077414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0/1/3</a:t>
            </a:r>
          </a:p>
        </p:txBody>
      </p:sp>
      <p:sp>
        <p:nvSpPr>
          <p:cNvPr id="350" name="cell|Read et al., 2017 - RNA-seq - MED4|COG0640|ns"/>
          <p:cNvSpPr/>
          <p:nvPr/>
        </p:nvSpPr>
        <p:spPr>
          <a:xfrm>
            <a:off x="6487779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6487779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352" name="cell|Read et al., 2017 - RNA-seq - MED4|COG1403|ns"/>
          <p:cNvSpPr/>
          <p:nvPr/>
        </p:nvSpPr>
        <p:spPr>
          <a:xfrm>
            <a:off x="6898144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6898144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0/3/4</a:t>
            </a:r>
          </a:p>
        </p:txBody>
      </p:sp>
      <p:sp>
        <p:nvSpPr>
          <p:cNvPr id="354" name="cell|Read et al., 2017 - RNA-seq - MED4|COG2214|ns"/>
          <p:cNvSpPr/>
          <p:nvPr/>
        </p:nvSpPr>
        <p:spPr>
          <a:xfrm>
            <a:off x="7308509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7308509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0/2/5</a:t>
            </a:r>
          </a:p>
        </p:txBody>
      </p:sp>
      <p:sp>
        <p:nvSpPr>
          <p:cNvPr id="356" name="cell|Read et al., 2017 - RNA-seq - MED4|COG0443|ns"/>
          <p:cNvSpPr/>
          <p:nvPr/>
        </p:nvSpPr>
        <p:spPr>
          <a:xfrm>
            <a:off x="7718874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7718874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0/3/4</a:t>
            </a:r>
          </a:p>
        </p:txBody>
      </p:sp>
      <p:sp>
        <p:nvSpPr>
          <p:cNvPr id="358" name="cell|Read et al., 2017 - RNA-seq - MED4|COG0484|ns"/>
          <p:cNvSpPr/>
          <p:nvPr/>
        </p:nvSpPr>
        <p:spPr>
          <a:xfrm>
            <a:off x="8129239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8129239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0/3/5</a:t>
            </a:r>
          </a:p>
        </p:txBody>
      </p:sp>
      <p:sp>
        <p:nvSpPr>
          <p:cNvPr id="360" name="cell|Read et al., 2017 - RNA-seq - MED4|COG0330|ns"/>
          <p:cNvSpPr/>
          <p:nvPr/>
        </p:nvSpPr>
        <p:spPr>
          <a:xfrm>
            <a:off x="8539603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8539603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362" name="cell|Read et al., 2017 - RNA-seq - MED4|COG1187|ns"/>
          <p:cNvSpPr/>
          <p:nvPr/>
        </p:nvSpPr>
        <p:spPr>
          <a:xfrm>
            <a:off x="8949968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949968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0/1/2</a:t>
            </a:r>
          </a:p>
        </p:txBody>
      </p:sp>
      <p:sp>
        <p:nvSpPr>
          <p:cNvPr id="364" name="cell|Read et al., 2017 - RNA-seq - MED4|COG1454|absent"/>
          <p:cNvSpPr/>
          <p:nvPr/>
        </p:nvSpPr>
        <p:spPr>
          <a:xfrm>
            <a:off x="9360333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 flipV="1">
            <a:off x="9360333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 flipV="1">
            <a:off x="9360333" y="363016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 flipV="1">
            <a:off x="9565516" y="3840480"/>
            <a:ext cx="205182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8" name="cell|Read et al., 2017 - RNA-seq - MED4|COG2370|ns"/>
          <p:cNvSpPr/>
          <p:nvPr/>
        </p:nvSpPr>
        <p:spPr>
          <a:xfrm>
            <a:off x="9770698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9770698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370" name="cell|Read et al., 2017 - RNA-seq - MED4|COG0367|absent"/>
          <p:cNvSpPr/>
          <p:nvPr/>
        </p:nvSpPr>
        <p:spPr>
          <a:xfrm>
            <a:off x="10181063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1" name="Connector 370"/>
          <p:cNvCxnSpPr/>
          <p:nvPr/>
        </p:nvCxnSpPr>
        <p:spPr>
          <a:xfrm flipV="1">
            <a:off x="10181063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10181063" y="363016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10386245" y="3840480"/>
            <a:ext cx="205183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cell|Read et al., 2017 - RNA-seq - MED4|COG0082|ns"/>
          <p:cNvSpPr/>
          <p:nvPr/>
        </p:nvSpPr>
        <p:spPr>
          <a:xfrm>
            <a:off x="10591428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10591428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376" name="cell|Read et al., 2017 - RNA-seq - MED4|COG2274|absent"/>
          <p:cNvSpPr/>
          <p:nvPr/>
        </p:nvSpPr>
        <p:spPr>
          <a:xfrm>
            <a:off x="11001793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7" name="Connector 376"/>
          <p:cNvCxnSpPr/>
          <p:nvPr/>
        </p:nvCxnSpPr>
        <p:spPr>
          <a:xfrm flipV="1">
            <a:off x="11001793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11001793" y="363016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11206975" y="3840480"/>
            <a:ext cx="205183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cell|Read et al., 2017 - RNA-seq - MED4|COG1989|absent"/>
          <p:cNvSpPr/>
          <p:nvPr/>
        </p:nvSpPr>
        <p:spPr>
          <a:xfrm>
            <a:off x="11412158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1" name="Connector 380"/>
          <p:cNvCxnSpPr/>
          <p:nvPr/>
        </p:nvCxnSpPr>
        <p:spPr>
          <a:xfrm flipV="1">
            <a:off x="11412158" y="3630168"/>
            <a:ext cx="410364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11412158" y="363016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11617340" y="3840480"/>
            <a:ext cx="205182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4" name="cell|Read et al., 2017 - RNA-seq - MED4|COG0845|ns"/>
          <p:cNvSpPr/>
          <p:nvPr/>
        </p:nvSpPr>
        <p:spPr>
          <a:xfrm>
            <a:off x="11822522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1822522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0/1/3</a:t>
            </a:r>
          </a:p>
        </p:txBody>
      </p:sp>
      <p:sp>
        <p:nvSpPr>
          <p:cNvPr id="386" name="cell|Read et al., 2017 - RNA-seq - MED4|COG0488|ns"/>
          <p:cNvSpPr/>
          <p:nvPr/>
        </p:nvSpPr>
        <p:spPr>
          <a:xfrm>
            <a:off x="12232887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12232887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0/1/3</a:t>
            </a:r>
          </a:p>
        </p:txBody>
      </p:sp>
      <p:sp>
        <p:nvSpPr>
          <p:cNvPr id="388" name="cell|Read et al., 2017 - RNA-seq - MED4|COG0697|both"/>
          <p:cNvSpPr/>
          <p:nvPr/>
        </p:nvSpPr>
        <p:spPr>
          <a:xfrm>
            <a:off x="12643252" y="3630168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12643252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↑1↓1/6/9</a:t>
            </a:r>
          </a:p>
        </p:txBody>
      </p:sp>
      <p:sp>
        <p:nvSpPr>
          <p:cNvPr id="390" name="cell|Read et al., 2017 - RNA-seq - MED4|COG3839|absent"/>
          <p:cNvSpPr/>
          <p:nvPr/>
        </p:nvSpPr>
        <p:spPr>
          <a:xfrm>
            <a:off x="13053617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1" name="Connector 390"/>
          <p:cNvCxnSpPr/>
          <p:nvPr/>
        </p:nvCxnSpPr>
        <p:spPr>
          <a:xfrm flipV="1">
            <a:off x="13053617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13053617" y="363016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13258799" y="3840480"/>
            <a:ext cx="205183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cell|Read et al., 2017 - RNA-seq - MED4|COG1212|absent"/>
          <p:cNvSpPr/>
          <p:nvPr/>
        </p:nvSpPr>
        <p:spPr>
          <a:xfrm>
            <a:off x="13463982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5" name="Connector 394"/>
          <p:cNvCxnSpPr/>
          <p:nvPr/>
        </p:nvCxnSpPr>
        <p:spPr>
          <a:xfrm flipV="1">
            <a:off x="13463982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13463982" y="363016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V="1">
            <a:off x="13669164" y="3840480"/>
            <a:ext cx="205183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8" name="cell|Read et al., 2017 - RNA-seq - MED4|COG0477|both"/>
          <p:cNvSpPr/>
          <p:nvPr/>
        </p:nvSpPr>
        <p:spPr>
          <a:xfrm>
            <a:off x="13874347" y="3630168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13874347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↑2↓3/16/25</a:t>
            </a:r>
          </a:p>
        </p:txBody>
      </p:sp>
      <p:sp>
        <p:nvSpPr>
          <p:cNvPr id="400" name="cell|Read et al., 2017 - RNA-seq - MED4|COG1472|absent"/>
          <p:cNvSpPr/>
          <p:nvPr/>
        </p:nvSpPr>
        <p:spPr>
          <a:xfrm>
            <a:off x="14284712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1" name="Connector 400"/>
          <p:cNvCxnSpPr/>
          <p:nvPr/>
        </p:nvCxnSpPr>
        <p:spPr>
          <a:xfrm flipV="1">
            <a:off x="14284712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14284712" y="363016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14489894" y="3840480"/>
            <a:ext cx="205183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4" name="cell|Read et al., 2017 - RNA-seq - MED4|COG3754|absent"/>
          <p:cNvSpPr/>
          <p:nvPr/>
        </p:nvSpPr>
        <p:spPr>
          <a:xfrm>
            <a:off x="14695077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5" name="Connector 404"/>
          <p:cNvCxnSpPr/>
          <p:nvPr/>
        </p:nvCxnSpPr>
        <p:spPr>
          <a:xfrm flipV="1">
            <a:off x="14695077" y="3630168"/>
            <a:ext cx="410364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14695077" y="363016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14900259" y="3840480"/>
            <a:ext cx="205182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cell|Read et al., 2017 - RNA-seq - MED4|COG0399|both"/>
          <p:cNvSpPr/>
          <p:nvPr/>
        </p:nvSpPr>
        <p:spPr>
          <a:xfrm>
            <a:off x="15105441" y="3630168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15105441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↑1↓1/4/4</a:t>
            </a:r>
          </a:p>
        </p:txBody>
      </p:sp>
      <p:sp>
        <p:nvSpPr>
          <p:cNvPr id="410" name="cell|Read et al., 2017 - RNA-seq - MED4|COG0673|ns"/>
          <p:cNvSpPr/>
          <p:nvPr/>
        </p:nvSpPr>
        <p:spPr>
          <a:xfrm>
            <a:off x="15515806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5515806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0/1/2</a:t>
            </a:r>
          </a:p>
        </p:txBody>
      </p:sp>
      <p:sp>
        <p:nvSpPr>
          <p:cNvPr id="412" name="cell|Read et al., 2017 - RNA-seq - MED4|COG0810|absent"/>
          <p:cNvSpPr/>
          <p:nvPr/>
        </p:nvSpPr>
        <p:spPr>
          <a:xfrm>
            <a:off x="15926171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3" name="Connector 412"/>
          <p:cNvCxnSpPr/>
          <p:nvPr/>
        </p:nvCxnSpPr>
        <p:spPr>
          <a:xfrm flipV="1">
            <a:off x="15926171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15926171" y="363016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16131354" y="3840480"/>
            <a:ext cx="205182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6" name="cell|Read et al., 2017 - RNA-seq - MED4|COG3206|absent"/>
          <p:cNvSpPr/>
          <p:nvPr/>
        </p:nvSpPr>
        <p:spPr>
          <a:xfrm>
            <a:off x="16336536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7" name="Connector 416"/>
          <p:cNvCxnSpPr/>
          <p:nvPr/>
        </p:nvCxnSpPr>
        <p:spPr>
          <a:xfrm flipV="1">
            <a:off x="16336536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16336536" y="363016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16541719" y="3840480"/>
            <a:ext cx="205182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cell|Read et al., 2017 - RNA-seq - MED4|COG1596|nodata"/>
          <p:cNvSpPr/>
          <p:nvPr/>
        </p:nvSpPr>
        <p:spPr>
          <a:xfrm>
            <a:off x="16746901" y="363016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cell|Read et al., 2017 - RNA-seq - MED4|COG1462|absent"/>
          <p:cNvSpPr/>
          <p:nvPr/>
        </p:nvSpPr>
        <p:spPr>
          <a:xfrm>
            <a:off x="17157266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2" name="Connector 421"/>
          <p:cNvCxnSpPr/>
          <p:nvPr/>
        </p:nvCxnSpPr>
        <p:spPr>
          <a:xfrm flipV="1">
            <a:off x="17157266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17157266" y="363016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17362448" y="3840480"/>
            <a:ext cx="205183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5" name="cell|Read et al., 2017 - RNA-seq - MED4|COG3210|nodata"/>
          <p:cNvSpPr/>
          <p:nvPr/>
        </p:nvSpPr>
        <p:spPr>
          <a:xfrm>
            <a:off x="17567631" y="363016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cell|Read et al., 2017 - RNA-seq - MED4|COG2010|nodata"/>
          <p:cNvSpPr/>
          <p:nvPr/>
        </p:nvSpPr>
        <p:spPr>
          <a:xfrm>
            <a:off x="17977996" y="363016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cell|Read et al., 2017 - RNA-seq - MED4|COG2114|absent"/>
          <p:cNvSpPr/>
          <p:nvPr/>
        </p:nvSpPr>
        <p:spPr>
          <a:xfrm>
            <a:off x="18388360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8" name="Connector 427"/>
          <p:cNvCxnSpPr/>
          <p:nvPr/>
        </p:nvCxnSpPr>
        <p:spPr>
          <a:xfrm flipV="1">
            <a:off x="18388360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18388360" y="363016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18593543" y="3840480"/>
            <a:ext cx="205182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cell|Read et al., 2017 - RNA-seq - MED4|COG0454|ns"/>
          <p:cNvSpPr/>
          <p:nvPr/>
        </p:nvSpPr>
        <p:spPr>
          <a:xfrm>
            <a:off x="18798725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18798725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0/2/5</a:t>
            </a:r>
          </a:p>
        </p:txBody>
      </p:sp>
      <p:sp>
        <p:nvSpPr>
          <p:cNvPr id="433" name="cell|Read et al., 2017 - RNA-seq - MED4|COG2931|absent"/>
          <p:cNvSpPr/>
          <p:nvPr/>
        </p:nvSpPr>
        <p:spPr>
          <a:xfrm>
            <a:off x="19209090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4" name="Connector 433"/>
          <p:cNvCxnSpPr/>
          <p:nvPr/>
        </p:nvCxnSpPr>
        <p:spPr>
          <a:xfrm flipV="1">
            <a:off x="19209090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V="1">
            <a:off x="19209090" y="363016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V="1">
            <a:off x="19414273" y="3840480"/>
            <a:ext cx="205182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7" name="cell|Read et al., 2017 - RNA-seq - MED4|COG0412|absent"/>
          <p:cNvSpPr/>
          <p:nvPr/>
        </p:nvSpPr>
        <p:spPr>
          <a:xfrm>
            <a:off x="19619455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8" name="Connector 437"/>
          <p:cNvCxnSpPr/>
          <p:nvPr/>
        </p:nvCxnSpPr>
        <p:spPr>
          <a:xfrm flipV="1">
            <a:off x="19619455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 flipV="1">
            <a:off x="19619455" y="363016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V="1">
            <a:off x="19824638" y="3840480"/>
            <a:ext cx="205182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1" name="cell|Read et al., 2017 - RNA-seq - MED4|COG4252|absent"/>
          <p:cNvSpPr/>
          <p:nvPr/>
        </p:nvSpPr>
        <p:spPr>
          <a:xfrm>
            <a:off x="20029820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2" name="Connector 441"/>
          <p:cNvCxnSpPr/>
          <p:nvPr/>
        </p:nvCxnSpPr>
        <p:spPr>
          <a:xfrm flipV="1">
            <a:off x="20029820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V="1">
            <a:off x="20029820" y="363016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20235002" y="3840480"/>
            <a:ext cx="205183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cell|Read et al., 2017 - RNA-seq - MED4|COG2192|ns"/>
          <p:cNvSpPr/>
          <p:nvPr/>
        </p:nvSpPr>
        <p:spPr>
          <a:xfrm>
            <a:off x="20440185" y="363016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20440185" y="363016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0/1/2</a:t>
            </a:r>
          </a:p>
        </p:txBody>
      </p:sp>
      <p:sp>
        <p:nvSpPr>
          <p:cNvPr id="447" name="cell|Read et al., 2017 - RNA-seq - MED4|COG2159|nodata"/>
          <p:cNvSpPr/>
          <p:nvPr/>
        </p:nvSpPr>
        <p:spPr>
          <a:xfrm>
            <a:off x="20850550" y="363016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cell|Read et al., 2017 - RNA-seq - MED4|COG5651|absent"/>
          <p:cNvSpPr/>
          <p:nvPr/>
        </p:nvSpPr>
        <p:spPr>
          <a:xfrm>
            <a:off x="21260915" y="363016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9" name="Connector 448"/>
          <p:cNvCxnSpPr/>
          <p:nvPr/>
        </p:nvCxnSpPr>
        <p:spPr>
          <a:xfrm flipV="1">
            <a:off x="21260915" y="3630168"/>
            <a:ext cx="410365" cy="42062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V="1">
            <a:off x="21260915" y="363016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21466097" y="3840480"/>
            <a:ext cx="205183" cy="210311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TextBox 451"/>
          <p:cNvSpPr txBox="1"/>
          <p:nvPr/>
        </p:nvSpPr>
        <p:spPr>
          <a:xfrm>
            <a:off x="914400" y="4050791"/>
            <a:ext cx="370332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0B0B0B"/>
                </a:solidFill>
                <a:latin typeface="Arial"/>
              </a:rPr>
              <a:t>Tolonen et al., 2006 - Microarray - MED4</a:t>
            </a:r>
          </a:p>
        </p:txBody>
      </p:sp>
      <p:sp>
        <p:nvSpPr>
          <p:cNvPr id="453" name="cell|Tolonen et al., 2006 - Microarray - MED4|COG0188|down"/>
          <p:cNvSpPr/>
          <p:nvPr/>
        </p:nvSpPr>
        <p:spPr>
          <a:xfrm>
            <a:off x="4846320" y="4050791"/>
            <a:ext cx="410364" cy="420624"/>
          </a:xfrm>
          <a:prstGeom prst="rect">
            <a:avLst/>
          </a:prstGeom>
          <a:solidFill>
            <a:srgbClr val="7995B1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TextBox 453"/>
          <p:cNvSpPr txBox="1"/>
          <p:nvPr/>
        </p:nvSpPr>
        <p:spPr>
          <a:xfrm>
            <a:off x="4846320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1/6/6</a:t>
            </a:r>
          </a:p>
        </p:txBody>
      </p:sp>
      <p:sp>
        <p:nvSpPr>
          <p:cNvPr id="455" name="cell|Tolonen et al., 2006 - Microarray - MED4|COG1787|ns"/>
          <p:cNvSpPr/>
          <p:nvPr/>
        </p:nvSpPr>
        <p:spPr>
          <a:xfrm>
            <a:off x="5256684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5256684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457" name="cell|Tolonen et al., 2006 - Microarray - MED4|COG3727|absent"/>
          <p:cNvSpPr/>
          <p:nvPr/>
        </p:nvSpPr>
        <p:spPr>
          <a:xfrm>
            <a:off x="5667049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8" name="Connector 457"/>
          <p:cNvCxnSpPr/>
          <p:nvPr/>
        </p:nvCxnSpPr>
        <p:spPr>
          <a:xfrm flipV="1">
            <a:off x="5667049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 flipV="1">
            <a:off x="5667049" y="4050791"/>
            <a:ext cx="205183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V="1">
            <a:off x="5872232" y="426110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1" name="cell|Tolonen et al., 2006 - Microarray - MED4|COG1793|ns"/>
          <p:cNvSpPr/>
          <p:nvPr/>
        </p:nvSpPr>
        <p:spPr>
          <a:xfrm>
            <a:off x="6077414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6077414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463" name="cell|Tolonen et al., 2006 - Microarray - MED4|COG0640|ns"/>
          <p:cNvSpPr/>
          <p:nvPr/>
        </p:nvSpPr>
        <p:spPr>
          <a:xfrm>
            <a:off x="6487779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6487779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465" name="cell|Tolonen et al., 2006 - Microarray - MED4|COG1403|ns"/>
          <p:cNvSpPr/>
          <p:nvPr/>
        </p:nvSpPr>
        <p:spPr>
          <a:xfrm>
            <a:off x="6898144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TextBox 465"/>
          <p:cNvSpPr txBox="1"/>
          <p:nvPr/>
        </p:nvSpPr>
        <p:spPr>
          <a:xfrm>
            <a:off x="6898144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467" name="cell|Tolonen et al., 2006 - Microarray - MED4|COG2214|ns"/>
          <p:cNvSpPr/>
          <p:nvPr/>
        </p:nvSpPr>
        <p:spPr>
          <a:xfrm>
            <a:off x="7308509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TextBox 467"/>
          <p:cNvSpPr txBox="1"/>
          <p:nvPr/>
        </p:nvSpPr>
        <p:spPr>
          <a:xfrm>
            <a:off x="7308509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469" name="cell|Tolonen et al., 2006 - Microarray - MED4|COG0443|ns"/>
          <p:cNvSpPr/>
          <p:nvPr/>
        </p:nvSpPr>
        <p:spPr>
          <a:xfrm>
            <a:off x="7718874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TextBox 469"/>
          <p:cNvSpPr txBox="1"/>
          <p:nvPr/>
        </p:nvSpPr>
        <p:spPr>
          <a:xfrm>
            <a:off x="7718874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471" name="cell|Tolonen et al., 2006 - Microarray - MED4|COG0484|ns"/>
          <p:cNvSpPr/>
          <p:nvPr/>
        </p:nvSpPr>
        <p:spPr>
          <a:xfrm>
            <a:off x="8129239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TextBox 471"/>
          <p:cNvSpPr txBox="1"/>
          <p:nvPr/>
        </p:nvSpPr>
        <p:spPr>
          <a:xfrm>
            <a:off x="8129239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473" name="cell|Tolonen et al., 2006 - Microarray - MED4|COG0330|ns"/>
          <p:cNvSpPr/>
          <p:nvPr/>
        </p:nvSpPr>
        <p:spPr>
          <a:xfrm>
            <a:off x="8539603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TextBox 473"/>
          <p:cNvSpPr txBox="1"/>
          <p:nvPr/>
        </p:nvSpPr>
        <p:spPr>
          <a:xfrm>
            <a:off x="8539603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475" name="cell|Tolonen et al., 2006 - Microarray - MED4|COG1187|ns"/>
          <p:cNvSpPr/>
          <p:nvPr/>
        </p:nvSpPr>
        <p:spPr>
          <a:xfrm>
            <a:off x="8949968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TextBox 475"/>
          <p:cNvSpPr txBox="1"/>
          <p:nvPr/>
        </p:nvSpPr>
        <p:spPr>
          <a:xfrm>
            <a:off x="8949968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477" name="cell|Tolonen et al., 2006 - Microarray - MED4|COG1454|absent"/>
          <p:cNvSpPr/>
          <p:nvPr/>
        </p:nvSpPr>
        <p:spPr>
          <a:xfrm>
            <a:off x="9360333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8" name="Connector 477"/>
          <p:cNvCxnSpPr/>
          <p:nvPr/>
        </p:nvCxnSpPr>
        <p:spPr>
          <a:xfrm flipV="1">
            <a:off x="9360333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 flipV="1">
            <a:off x="9360333" y="4050791"/>
            <a:ext cx="205183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 flipV="1">
            <a:off x="9565516" y="426110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1" name="cell|Tolonen et al., 2006 - Microarray - MED4|COG2370|ns"/>
          <p:cNvSpPr/>
          <p:nvPr/>
        </p:nvSpPr>
        <p:spPr>
          <a:xfrm>
            <a:off x="9770698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9770698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483" name="cell|Tolonen et al., 2006 - Microarray - MED4|COG0367|absent"/>
          <p:cNvSpPr/>
          <p:nvPr/>
        </p:nvSpPr>
        <p:spPr>
          <a:xfrm>
            <a:off x="10181063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4" name="Connector 483"/>
          <p:cNvCxnSpPr/>
          <p:nvPr/>
        </p:nvCxnSpPr>
        <p:spPr>
          <a:xfrm flipV="1">
            <a:off x="10181063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 flipV="1">
            <a:off x="10181063" y="4050791"/>
            <a:ext cx="205182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10386245" y="426110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cell|Tolonen et al., 2006 - Microarray - MED4|COG0082|ns"/>
          <p:cNvSpPr/>
          <p:nvPr/>
        </p:nvSpPr>
        <p:spPr>
          <a:xfrm>
            <a:off x="10591428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10591428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489" name="cell|Tolonen et al., 2006 - Microarray - MED4|COG2274|absent"/>
          <p:cNvSpPr/>
          <p:nvPr/>
        </p:nvSpPr>
        <p:spPr>
          <a:xfrm>
            <a:off x="11001793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0" name="Connector 489"/>
          <p:cNvCxnSpPr/>
          <p:nvPr/>
        </p:nvCxnSpPr>
        <p:spPr>
          <a:xfrm flipV="1">
            <a:off x="11001793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11001793" y="4050791"/>
            <a:ext cx="205182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11206975" y="426110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3" name="cell|Tolonen et al., 2006 - Microarray - MED4|COG1989|absent"/>
          <p:cNvSpPr/>
          <p:nvPr/>
        </p:nvSpPr>
        <p:spPr>
          <a:xfrm>
            <a:off x="11412158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4" name="Connector 493"/>
          <p:cNvCxnSpPr/>
          <p:nvPr/>
        </p:nvCxnSpPr>
        <p:spPr>
          <a:xfrm flipV="1">
            <a:off x="11412158" y="4050791"/>
            <a:ext cx="410364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V="1">
            <a:off x="11412158" y="4050791"/>
            <a:ext cx="205182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V="1">
            <a:off x="11617340" y="426110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7" name="cell|Tolonen et al., 2006 - Microarray - MED4|COG0845|ns"/>
          <p:cNvSpPr/>
          <p:nvPr/>
        </p:nvSpPr>
        <p:spPr>
          <a:xfrm>
            <a:off x="11822522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TextBox 497"/>
          <p:cNvSpPr txBox="1"/>
          <p:nvPr/>
        </p:nvSpPr>
        <p:spPr>
          <a:xfrm>
            <a:off x="11822522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499" name="cell|Tolonen et al., 2006 - Microarray - MED4|COG0488|ns"/>
          <p:cNvSpPr/>
          <p:nvPr/>
        </p:nvSpPr>
        <p:spPr>
          <a:xfrm>
            <a:off x="12232887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12232887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501" name="cell|Tolonen et al., 2006 - Microarray - MED4|COG0697|ns"/>
          <p:cNvSpPr/>
          <p:nvPr/>
        </p:nvSpPr>
        <p:spPr>
          <a:xfrm>
            <a:off x="12643252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TextBox 501"/>
          <p:cNvSpPr txBox="1"/>
          <p:nvPr/>
        </p:nvSpPr>
        <p:spPr>
          <a:xfrm>
            <a:off x="12643252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0/9/9</a:t>
            </a:r>
          </a:p>
        </p:txBody>
      </p:sp>
      <p:sp>
        <p:nvSpPr>
          <p:cNvPr id="503" name="cell|Tolonen et al., 2006 - Microarray - MED4|COG3839|absent"/>
          <p:cNvSpPr/>
          <p:nvPr/>
        </p:nvSpPr>
        <p:spPr>
          <a:xfrm>
            <a:off x="13053617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 flipV="1">
            <a:off x="13053617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 flipV="1">
            <a:off x="13053617" y="4050791"/>
            <a:ext cx="205182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 flipV="1">
            <a:off x="13258799" y="426110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cell|Tolonen et al., 2006 - Microarray - MED4|COG1212|absent"/>
          <p:cNvSpPr/>
          <p:nvPr/>
        </p:nvSpPr>
        <p:spPr>
          <a:xfrm>
            <a:off x="13463982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8" name="Connector 507"/>
          <p:cNvCxnSpPr/>
          <p:nvPr/>
        </p:nvCxnSpPr>
        <p:spPr>
          <a:xfrm flipV="1">
            <a:off x="13463982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 flipV="1">
            <a:off x="13463982" y="4050791"/>
            <a:ext cx="205182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 flipV="1">
            <a:off x="13669164" y="426110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1" name="cell|Tolonen et al., 2006 - Microarray - MED4|COG0477|both"/>
          <p:cNvSpPr/>
          <p:nvPr/>
        </p:nvSpPr>
        <p:spPr>
          <a:xfrm>
            <a:off x="13874347" y="4050791"/>
            <a:ext cx="410364" cy="420624"/>
          </a:xfrm>
          <a:prstGeom prst="rect">
            <a:avLst/>
          </a:prstGeom>
          <a:solidFill>
            <a:srgbClr val="E8913A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13874347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↑1↓4/25/25</a:t>
            </a:r>
          </a:p>
        </p:txBody>
      </p:sp>
      <p:sp>
        <p:nvSpPr>
          <p:cNvPr id="513" name="cell|Tolonen et al., 2006 - Microarray - MED4|COG1472|absent"/>
          <p:cNvSpPr/>
          <p:nvPr/>
        </p:nvSpPr>
        <p:spPr>
          <a:xfrm>
            <a:off x="14284712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4" name="Connector 513"/>
          <p:cNvCxnSpPr/>
          <p:nvPr/>
        </p:nvCxnSpPr>
        <p:spPr>
          <a:xfrm flipV="1">
            <a:off x="14284712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 flipV="1">
            <a:off x="14284712" y="4050791"/>
            <a:ext cx="205182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 flipV="1">
            <a:off x="14489894" y="426110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cell|Tolonen et al., 2006 - Microarray - MED4|COG3754|absent"/>
          <p:cNvSpPr/>
          <p:nvPr/>
        </p:nvSpPr>
        <p:spPr>
          <a:xfrm>
            <a:off x="14695077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14695077" y="4050791"/>
            <a:ext cx="410364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 flipV="1">
            <a:off x="14695077" y="4050791"/>
            <a:ext cx="205182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 flipV="1">
            <a:off x="14900259" y="426110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1" name="cell|Tolonen et al., 2006 - Microarray - MED4|COG0399|ns"/>
          <p:cNvSpPr/>
          <p:nvPr/>
        </p:nvSpPr>
        <p:spPr>
          <a:xfrm>
            <a:off x="15105441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TextBox 521"/>
          <p:cNvSpPr txBox="1"/>
          <p:nvPr/>
        </p:nvSpPr>
        <p:spPr>
          <a:xfrm>
            <a:off x="15105441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523" name="cell|Tolonen et al., 2006 - Microarray - MED4|COG0673|down"/>
          <p:cNvSpPr/>
          <p:nvPr/>
        </p:nvSpPr>
        <p:spPr>
          <a:xfrm>
            <a:off x="15515806" y="4050791"/>
            <a:ext cx="410364" cy="420624"/>
          </a:xfrm>
          <a:prstGeom prst="rect">
            <a:avLst/>
          </a:prstGeom>
          <a:solidFill>
            <a:srgbClr val="5989C0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TextBox 523"/>
          <p:cNvSpPr txBox="1"/>
          <p:nvPr/>
        </p:nvSpPr>
        <p:spPr>
          <a:xfrm>
            <a:off x="15515806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1/2/2</a:t>
            </a:r>
          </a:p>
        </p:txBody>
      </p:sp>
      <p:sp>
        <p:nvSpPr>
          <p:cNvPr id="525" name="cell|Tolonen et al., 2006 - Microarray - MED4|COG0810|absent"/>
          <p:cNvSpPr/>
          <p:nvPr/>
        </p:nvSpPr>
        <p:spPr>
          <a:xfrm>
            <a:off x="15926171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6" name="Connector 525"/>
          <p:cNvCxnSpPr/>
          <p:nvPr/>
        </p:nvCxnSpPr>
        <p:spPr>
          <a:xfrm flipV="1">
            <a:off x="15926171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V="1">
            <a:off x="15926171" y="4050791"/>
            <a:ext cx="205183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 flipV="1">
            <a:off x="16131354" y="426110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9" name="cell|Tolonen et al., 2006 - Microarray - MED4|COG3206|absent"/>
          <p:cNvSpPr/>
          <p:nvPr/>
        </p:nvSpPr>
        <p:spPr>
          <a:xfrm>
            <a:off x="16336536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0" name="Connector 529"/>
          <p:cNvCxnSpPr/>
          <p:nvPr/>
        </p:nvCxnSpPr>
        <p:spPr>
          <a:xfrm flipV="1">
            <a:off x="16336536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 flipV="1">
            <a:off x="16336536" y="4050791"/>
            <a:ext cx="205183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V="1">
            <a:off x="16541719" y="426110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3" name="cell|Tolonen et al., 2006 - Microarray - MED4|COG1596|ns"/>
          <p:cNvSpPr/>
          <p:nvPr/>
        </p:nvSpPr>
        <p:spPr>
          <a:xfrm>
            <a:off x="16746901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TextBox 533"/>
          <p:cNvSpPr txBox="1"/>
          <p:nvPr/>
        </p:nvSpPr>
        <p:spPr>
          <a:xfrm>
            <a:off x="16746901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535" name="cell|Tolonen et al., 2006 - Microarray - MED4|COG1462|absent"/>
          <p:cNvSpPr/>
          <p:nvPr/>
        </p:nvSpPr>
        <p:spPr>
          <a:xfrm>
            <a:off x="17157266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6" name="Connector 535"/>
          <p:cNvCxnSpPr/>
          <p:nvPr/>
        </p:nvCxnSpPr>
        <p:spPr>
          <a:xfrm flipV="1">
            <a:off x="17157266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V="1">
            <a:off x="17157266" y="4050791"/>
            <a:ext cx="205182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 flipV="1">
            <a:off x="17362448" y="426110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9" name="cell|Tolonen et al., 2006 - Microarray - MED4|COG3210|ns"/>
          <p:cNvSpPr/>
          <p:nvPr/>
        </p:nvSpPr>
        <p:spPr>
          <a:xfrm>
            <a:off x="17567631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7567631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541" name="cell|Tolonen et al., 2006 - Microarray - MED4|COG2010|ns"/>
          <p:cNvSpPr/>
          <p:nvPr/>
        </p:nvSpPr>
        <p:spPr>
          <a:xfrm>
            <a:off x="17977996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TextBox 541"/>
          <p:cNvSpPr txBox="1"/>
          <p:nvPr/>
        </p:nvSpPr>
        <p:spPr>
          <a:xfrm>
            <a:off x="17977996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543" name="cell|Tolonen et al., 2006 - Microarray - MED4|COG2114|absent"/>
          <p:cNvSpPr/>
          <p:nvPr/>
        </p:nvSpPr>
        <p:spPr>
          <a:xfrm>
            <a:off x="18388360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4" name="Connector 543"/>
          <p:cNvCxnSpPr/>
          <p:nvPr/>
        </p:nvCxnSpPr>
        <p:spPr>
          <a:xfrm flipV="1">
            <a:off x="18388360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 flipV="1">
            <a:off x="18388360" y="4050791"/>
            <a:ext cx="205183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 flipV="1">
            <a:off x="18593543" y="426110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7" name="cell|Tolonen et al., 2006 - Microarray - MED4|COG0454|ns"/>
          <p:cNvSpPr/>
          <p:nvPr/>
        </p:nvSpPr>
        <p:spPr>
          <a:xfrm>
            <a:off x="18798725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TextBox 547"/>
          <p:cNvSpPr txBox="1"/>
          <p:nvPr/>
        </p:nvSpPr>
        <p:spPr>
          <a:xfrm>
            <a:off x="18798725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549" name="cell|Tolonen et al., 2006 - Microarray - MED4|COG2931|absent"/>
          <p:cNvSpPr/>
          <p:nvPr/>
        </p:nvSpPr>
        <p:spPr>
          <a:xfrm>
            <a:off x="19209090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0" name="Connector 549"/>
          <p:cNvCxnSpPr/>
          <p:nvPr/>
        </p:nvCxnSpPr>
        <p:spPr>
          <a:xfrm flipV="1">
            <a:off x="19209090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19209090" y="4050791"/>
            <a:ext cx="205183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V="1">
            <a:off x="19414273" y="426110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3" name="cell|Tolonen et al., 2006 - Microarray - MED4|COG0412|absent"/>
          <p:cNvSpPr/>
          <p:nvPr/>
        </p:nvSpPr>
        <p:spPr>
          <a:xfrm>
            <a:off x="19619455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4" name="Connector 553"/>
          <p:cNvCxnSpPr/>
          <p:nvPr/>
        </p:nvCxnSpPr>
        <p:spPr>
          <a:xfrm flipV="1">
            <a:off x="19619455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19619455" y="4050791"/>
            <a:ext cx="205183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V="1">
            <a:off x="19824638" y="426110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cell|Tolonen et al., 2006 - Microarray - MED4|COG4252|absent"/>
          <p:cNvSpPr/>
          <p:nvPr/>
        </p:nvSpPr>
        <p:spPr>
          <a:xfrm>
            <a:off x="20029820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8" name="Connector 557"/>
          <p:cNvCxnSpPr/>
          <p:nvPr/>
        </p:nvCxnSpPr>
        <p:spPr>
          <a:xfrm flipV="1">
            <a:off x="20029820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20029820" y="4050791"/>
            <a:ext cx="205182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20235002" y="426110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1" name="cell|Tolonen et al., 2006 - Microarray - MED4|COG2192|down"/>
          <p:cNvSpPr/>
          <p:nvPr/>
        </p:nvSpPr>
        <p:spPr>
          <a:xfrm>
            <a:off x="20440185" y="4050791"/>
            <a:ext cx="410364" cy="420624"/>
          </a:xfrm>
          <a:prstGeom prst="rect">
            <a:avLst/>
          </a:prstGeom>
          <a:solidFill>
            <a:srgbClr val="5989C0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TextBox 561"/>
          <p:cNvSpPr txBox="1"/>
          <p:nvPr/>
        </p:nvSpPr>
        <p:spPr>
          <a:xfrm>
            <a:off x="20440185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1/2/2</a:t>
            </a:r>
          </a:p>
        </p:txBody>
      </p:sp>
      <p:sp>
        <p:nvSpPr>
          <p:cNvPr id="563" name="cell|Tolonen et al., 2006 - Microarray - MED4|COG2159|ns"/>
          <p:cNvSpPr/>
          <p:nvPr/>
        </p:nvSpPr>
        <p:spPr>
          <a:xfrm>
            <a:off x="20850550" y="4050791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TextBox 563"/>
          <p:cNvSpPr txBox="1"/>
          <p:nvPr/>
        </p:nvSpPr>
        <p:spPr>
          <a:xfrm>
            <a:off x="20850550" y="4050791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565" name="cell|Tolonen et al., 2006 - Microarray - MED4|COG5651|absent"/>
          <p:cNvSpPr/>
          <p:nvPr/>
        </p:nvSpPr>
        <p:spPr>
          <a:xfrm>
            <a:off x="21260915" y="4050791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6" name="Connector 565"/>
          <p:cNvCxnSpPr/>
          <p:nvPr/>
        </p:nvCxnSpPr>
        <p:spPr>
          <a:xfrm flipV="1">
            <a:off x="21260915" y="4050791"/>
            <a:ext cx="410365" cy="420625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21260915" y="4050791"/>
            <a:ext cx="205182" cy="210313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21466097" y="426110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9" name="TextBox 568"/>
          <p:cNvSpPr txBox="1"/>
          <p:nvPr/>
        </p:nvSpPr>
        <p:spPr>
          <a:xfrm>
            <a:off x="914400" y="4471416"/>
            <a:ext cx="370332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0B0B0B"/>
                </a:solidFill>
                <a:latin typeface="Arial"/>
              </a:rPr>
              <a:t>Tolonen et al., 2006 - Microarray - MIT9313</a:t>
            </a:r>
          </a:p>
        </p:txBody>
      </p:sp>
      <p:sp>
        <p:nvSpPr>
          <p:cNvPr id="570" name="cell|Tolonen et al., 2006 - Microarray - MIT9313|COG0188|ns"/>
          <p:cNvSpPr/>
          <p:nvPr/>
        </p:nvSpPr>
        <p:spPr>
          <a:xfrm>
            <a:off x="4846320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4846320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0/4/5</a:t>
            </a:r>
          </a:p>
        </p:txBody>
      </p:sp>
      <p:sp>
        <p:nvSpPr>
          <p:cNvPr id="572" name="cell|Tolonen et al., 2006 - Microarray - MIT9313|COG1787|absent"/>
          <p:cNvSpPr/>
          <p:nvPr/>
        </p:nvSpPr>
        <p:spPr>
          <a:xfrm>
            <a:off x="5256684" y="447141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3" name="Connector 572"/>
          <p:cNvCxnSpPr/>
          <p:nvPr/>
        </p:nvCxnSpPr>
        <p:spPr>
          <a:xfrm flipV="1">
            <a:off x="5256684" y="447141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5256684" y="447141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5461867" y="468172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cell|Tolonen et al., 2006 - Microarray - MIT9313|COG3727|absent"/>
          <p:cNvSpPr/>
          <p:nvPr/>
        </p:nvSpPr>
        <p:spPr>
          <a:xfrm>
            <a:off x="5667049" y="447141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7" name="Connector 576"/>
          <p:cNvCxnSpPr/>
          <p:nvPr/>
        </p:nvCxnSpPr>
        <p:spPr>
          <a:xfrm flipV="1">
            <a:off x="5667049" y="447141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5667049" y="447141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 flipV="1">
            <a:off x="5872232" y="468172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0" name="cell|Tolonen et al., 2006 - Microarray - MIT9313|COG1793|ns"/>
          <p:cNvSpPr/>
          <p:nvPr/>
        </p:nvSpPr>
        <p:spPr>
          <a:xfrm>
            <a:off x="6077414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TextBox 580"/>
          <p:cNvSpPr txBox="1"/>
          <p:nvPr/>
        </p:nvSpPr>
        <p:spPr>
          <a:xfrm>
            <a:off x="6077414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582" name="cell|Tolonen et al., 2006 - Microarray - MIT9313|COG0640|ns"/>
          <p:cNvSpPr/>
          <p:nvPr/>
        </p:nvSpPr>
        <p:spPr>
          <a:xfrm>
            <a:off x="6487779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TextBox 582"/>
          <p:cNvSpPr txBox="1"/>
          <p:nvPr/>
        </p:nvSpPr>
        <p:spPr>
          <a:xfrm>
            <a:off x="6487779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584" name="cell|Tolonen et al., 2006 - Microarray - MIT9313|COG1403|ns"/>
          <p:cNvSpPr/>
          <p:nvPr/>
        </p:nvSpPr>
        <p:spPr>
          <a:xfrm>
            <a:off x="6898144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TextBox 584"/>
          <p:cNvSpPr txBox="1"/>
          <p:nvPr/>
        </p:nvSpPr>
        <p:spPr>
          <a:xfrm>
            <a:off x="6898144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586" name="cell|Tolonen et al., 2006 - Microarray - MIT9313|COG2214|ns"/>
          <p:cNvSpPr/>
          <p:nvPr/>
        </p:nvSpPr>
        <p:spPr>
          <a:xfrm>
            <a:off x="7308509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TextBox 586"/>
          <p:cNvSpPr txBox="1"/>
          <p:nvPr/>
        </p:nvSpPr>
        <p:spPr>
          <a:xfrm>
            <a:off x="7308509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0/6/7</a:t>
            </a:r>
          </a:p>
        </p:txBody>
      </p:sp>
      <p:sp>
        <p:nvSpPr>
          <p:cNvPr id="588" name="cell|Tolonen et al., 2006 - Microarray - MIT9313|COG0443|ns"/>
          <p:cNvSpPr/>
          <p:nvPr/>
        </p:nvSpPr>
        <p:spPr>
          <a:xfrm>
            <a:off x="7718874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TextBox 588"/>
          <p:cNvSpPr txBox="1"/>
          <p:nvPr/>
        </p:nvSpPr>
        <p:spPr>
          <a:xfrm>
            <a:off x="7718874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590" name="cell|Tolonen et al., 2006 - Microarray - MIT9313|COG0484|ns"/>
          <p:cNvSpPr/>
          <p:nvPr/>
        </p:nvSpPr>
        <p:spPr>
          <a:xfrm>
            <a:off x="8129239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TextBox 590"/>
          <p:cNvSpPr txBox="1"/>
          <p:nvPr/>
        </p:nvSpPr>
        <p:spPr>
          <a:xfrm>
            <a:off x="8129239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0/6/6</a:t>
            </a:r>
          </a:p>
        </p:txBody>
      </p:sp>
      <p:sp>
        <p:nvSpPr>
          <p:cNvPr id="592" name="cell|Tolonen et al., 2006 - Microarray - MIT9313|COG0330|up"/>
          <p:cNvSpPr/>
          <p:nvPr/>
        </p:nvSpPr>
        <p:spPr>
          <a:xfrm>
            <a:off x="8539603" y="4471416"/>
            <a:ext cx="410364" cy="420624"/>
          </a:xfrm>
          <a:prstGeom prst="rect">
            <a:avLst/>
          </a:prstGeom>
          <a:solidFill>
            <a:srgbClr val="C67872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TextBox 592"/>
          <p:cNvSpPr txBox="1"/>
          <p:nvPr/>
        </p:nvSpPr>
        <p:spPr>
          <a:xfrm>
            <a:off x="8539603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1/3/3</a:t>
            </a:r>
          </a:p>
        </p:txBody>
      </p:sp>
      <p:sp>
        <p:nvSpPr>
          <p:cNvPr id="594" name="cell|Tolonen et al., 2006 - Microarray - MIT9313|COG1187|ns"/>
          <p:cNvSpPr/>
          <p:nvPr/>
        </p:nvSpPr>
        <p:spPr>
          <a:xfrm>
            <a:off x="8949968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8949968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596" name="cell|Tolonen et al., 2006 - Microarray - MIT9313|COG1454|nodata"/>
          <p:cNvSpPr/>
          <p:nvPr/>
        </p:nvSpPr>
        <p:spPr>
          <a:xfrm>
            <a:off x="9360333" y="4471416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cell|Tolonen et al., 2006 - Microarray - MIT9313|COG2370|ns"/>
          <p:cNvSpPr/>
          <p:nvPr/>
        </p:nvSpPr>
        <p:spPr>
          <a:xfrm>
            <a:off x="9770698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TextBox 597"/>
          <p:cNvSpPr txBox="1"/>
          <p:nvPr/>
        </p:nvSpPr>
        <p:spPr>
          <a:xfrm>
            <a:off x="9770698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599" name="cell|Tolonen et al., 2006 - Microarray - MIT9313|COG0367|absent"/>
          <p:cNvSpPr/>
          <p:nvPr/>
        </p:nvSpPr>
        <p:spPr>
          <a:xfrm>
            <a:off x="10181063" y="447141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0" name="Connector 599"/>
          <p:cNvCxnSpPr/>
          <p:nvPr/>
        </p:nvCxnSpPr>
        <p:spPr>
          <a:xfrm flipV="1">
            <a:off x="10181063" y="447141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 flipV="1">
            <a:off x="10181063" y="447141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 flipV="1">
            <a:off x="10386245" y="468172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3" name="cell|Tolonen et al., 2006 - Microarray - MIT9313|COG0082|ns"/>
          <p:cNvSpPr/>
          <p:nvPr/>
        </p:nvSpPr>
        <p:spPr>
          <a:xfrm>
            <a:off x="10591428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TextBox 603"/>
          <p:cNvSpPr txBox="1"/>
          <p:nvPr/>
        </p:nvSpPr>
        <p:spPr>
          <a:xfrm>
            <a:off x="10591428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605" name="cell|Tolonen et al., 2006 - Microarray - MIT9313|COG2274|ns"/>
          <p:cNvSpPr/>
          <p:nvPr/>
        </p:nvSpPr>
        <p:spPr>
          <a:xfrm>
            <a:off x="11001793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TextBox 605"/>
          <p:cNvSpPr txBox="1"/>
          <p:nvPr/>
        </p:nvSpPr>
        <p:spPr>
          <a:xfrm>
            <a:off x="11001793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0/6/6</a:t>
            </a:r>
          </a:p>
        </p:txBody>
      </p:sp>
      <p:sp>
        <p:nvSpPr>
          <p:cNvPr id="607" name="cell|Tolonen et al., 2006 - Microarray - MIT9313|COG1989|ns"/>
          <p:cNvSpPr/>
          <p:nvPr/>
        </p:nvSpPr>
        <p:spPr>
          <a:xfrm>
            <a:off x="11412158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TextBox 607"/>
          <p:cNvSpPr txBox="1"/>
          <p:nvPr/>
        </p:nvSpPr>
        <p:spPr>
          <a:xfrm>
            <a:off x="11412158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09" name="cell|Tolonen et al., 2006 - Microarray - MIT9313|COG0845|down"/>
          <p:cNvSpPr/>
          <p:nvPr/>
        </p:nvSpPr>
        <p:spPr>
          <a:xfrm>
            <a:off x="11822522" y="4471416"/>
            <a:ext cx="410364" cy="420624"/>
          </a:xfrm>
          <a:prstGeom prst="rect">
            <a:avLst/>
          </a:prstGeom>
          <a:solidFill>
            <a:srgbClr val="7F97AE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TextBox 609"/>
          <p:cNvSpPr txBox="1"/>
          <p:nvPr/>
        </p:nvSpPr>
        <p:spPr>
          <a:xfrm>
            <a:off x="11822522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1/10/11</a:t>
            </a:r>
          </a:p>
        </p:txBody>
      </p:sp>
      <p:sp>
        <p:nvSpPr>
          <p:cNvPr id="611" name="cell|Tolonen et al., 2006 - Microarray - MIT9313|COG0488|ns"/>
          <p:cNvSpPr/>
          <p:nvPr/>
        </p:nvSpPr>
        <p:spPr>
          <a:xfrm>
            <a:off x="12232887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TextBox 611"/>
          <p:cNvSpPr txBox="1"/>
          <p:nvPr/>
        </p:nvSpPr>
        <p:spPr>
          <a:xfrm>
            <a:off x="12232887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0/6/6</a:t>
            </a:r>
          </a:p>
        </p:txBody>
      </p:sp>
      <p:sp>
        <p:nvSpPr>
          <p:cNvPr id="613" name="cell|Tolonen et al., 2006 - Microarray - MIT9313|COG0697|ns"/>
          <p:cNvSpPr/>
          <p:nvPr/>
        </p:nvSpPr>
        <p:spPr>
          <a:xfrm>
            <a:off x="12643252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TextBox 613"/>
          <p:cNvSpPr txBox="1"/>
          <p:nvPr/>
        </p:nvSpPr>
        <p:spPr>
          <a:xfrm>
            <a:off x="12643252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0/10/11</a:t>
            </a:r>
          </a:p>
        </p:txBody>
      </p:sp>
      <p:sp>
        <p:nvSpPr>
          <p:cNvPr id="615" name="cell|Tolonen et al., 2006 - Microarray - MIT9313|COG3839|ns"/>
          <p:cNvSpPr/>
          <p:nvPr/>
        </p:nvSpPr>
        <p:spPr>
          <a:xfrm>
            <a:off x="13053617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TextBox 615"/>
          <p:cNvSpPr txBox="1"/>
          <p:nvPr/>
        </p:nvSpPr>
        <p:spPr>
          <a:xfrm>
            <a:off x="13053617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617" name="cell|Tolonen et al., 2006 - Microarray - MIT9313|COG1212|ns"/>
          <p:cNvSpPr/>
          <p:nvPr/>
        </p:nvSpPr>
        <p:spPr>
          <a:xfrm>
            <a:off x="13463982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TextBox 617"/>
          <p:cNvSpPr txBox="1"/>
          <p:nvPr/>
        </p:nvSpPr>
        <p:spPr>
          <a:xfrm>
            <a:off x="13463982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19" name="cell|Tolonen et al., 2006 - Microarray - MIT9313|COG0477|down"/>
          <p:cNvSpPr/>
          <p:nvPr/>
        </p:nvSpPr>
        <p:spPr>
          <a:xfrm>
            <a:off x="13874347" y="4471416"/>
            <a:ext cx="410364" cy="420624"/>
          </a:xfrm>
          <a:prstGeom prst="rect">
            <a:avLst/>
          </a:prstGeom>
          <a:solidFill>
            <a:srgbClr val="8699A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TextBox 619"/>
          <p:cNvSpPr txBox="1"/>
          <p:nvPr/>
        </p:nvSpPr>
        <p:spPr>
          <a:xfrm>
            <a:off x="13874347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1/33/34</a:t>
            </a:r>
          </a:p>
        </p:txBody>
      </p:sp>
      <p:sp>
        <p:nvSpPr>
          <p:cNvPr id="621" name="cell|Tolonen et al., 2006 - Microarray - MIT9313|COG1472|ns"/>
          <p:cNvSpPr/>
          <p:nvPr/>
        </p:nvSpPr>
        <p:spPr>
          <a:xfrm>
            <a:off x="14284712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TextBox 621"/>
          <p:cNvSpPr txBox="1"/>
          <p:nvPr/>
        </p:nvSpPr>
        <p:spPr>
          <a:xfrm>
            <a:off x="14284712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623" name="cell|Tolonen et al., 2006 - Microarray - MIT9313|COG3754|ns"/>
          <p:cNvSpPr/>
          <p:nvPr/>
        </p:nvSpPr>
        <p:spPr>
          <a:xfrm>
            <a:off x="14695077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TextBox 623"/>
          <p:cNvSpPr txBox="1"/>
          <p:nvPr/>
        </p:nvSpPr>
        <p:spPr>
          <a:xfrm>
            <a:off x="14695077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25" name="cell|Tolonen et al., 2006 - Microarray - MIT9313|COG0399|ns"/>
          <p:cNvSpPr/>
          <p:nvPr/>
        </p:nvSpPr>
        <p:spPr>
          <a:xfrm>
            <a:off x="15105441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TextBox 625"/>
          <p:cNvSpPr txBox="1"/>
          <p:nvPr/>
        </p:nvSpPr>
        <p:spPr>
          <a:xfrm>
            <a:off x="15105441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27" name="cell|Tolonen et al., 2006 - Microarray - MIT9313|COG0673|ns"/>
          <p:cNvSpPr/>
          <p:nvPr/>
        </p:nvSpPr>
        <p:spPr>
          <a:xfrm>
            <a:off x="15515806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TextBox 627"/>
          <p:cNvSpPr txBox="1"/>
          <p:nvPr/>
        </p:nvSpPr>
        <p:spPr>
          <a:xfrm>
            <a:off x="15515806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629" name="cell|Tolonen et al., 2006 - Microarray - MIT9313|COG0810|ns"/>
          <p:cNvSpPr/>
          <p:nvPr/>
        </p:nvSpPr>
        <p:spPr>
          <a:xfrm>
            <a:off x="15926171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TextBox 629"/>
          <p:cNvSpPr txBox="1"/>
          <p:nvPr/>
        </p:nvSpPr>
        <p:spPr>
          <a:xfrm>
            <a:off x="15926171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631" name="cell|Tolonen et al., 2006 - Microarray - MIT9313|COG3206|absent"/>
          <p:cNvSpPr/>
          <p:nvPr/>
        </p:nvSpPr>
        <p:spPr>
          <a:xfrm>
            <a:off x="16336536" y="447141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2" name="Connector 631"/>
          <p:cNvCxnSpPr/>
          <p:nvPr/>
        </p:nvCxnSpPr>
        <p:spPr>
          <a:xfrm flipV="1">
            <a:off x="16336536" y="447141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16336536" y="447141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16541719" y="468172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5" name="cell|Tolonen et al., 2006 - Microarray - MIT9313|COG1596|absent"/>
          <p:cNvSpPr/>
          <p:nvPr/>
        </p:nvSpPr>
        <p:spPr>
          <a:xfrm>
            <a:off x="16746901" y="447141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6" name="Connector 635"/>
          <p:cNvCxnSpPr/>
          <p:nvPr/>
        </p:nvCxnSpPr>
        <p:spPr>
          <a:xfrm flipV="1">
            <a:off x="16746901" y="447141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V="1">
            <a:off x="16746901" y="447141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V="1">
            <a:off x="16952083" y="468172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9" name="cell|Tolonen et al., 2006 - Microarray - MIT9313|COG1462|ns"/>
          <p:cNvSpPr/>
          <p:nvPr/>
        </p:nvSpPr>
        <p:spPr>
          <a:xfrm>
            <a:off x="17157266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TextBox 639"/>
          <p:cNvSpPr txBox="1"/>
          <p:nvPr/>
        </p:nvSpPr>
        <p:spPr>
          <a:xfrm>
            <a:off x="17157266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41" name="cell|Tolonen et al., 2006 - Microarray - MIT9313|COG3210|ns"/>
          <p:cNvSpPr/>
          <p:nvPr/>
        </p:nvSpPr>
        <p:spPr>
          <a:xfrm>
            <a:off x="17567631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TextBox 641"/>
          <p:cNvSpPr txBox="1"/>
          <p:nvPr/>
        </p:nvSpPr>
        <p:spPr>
          <a:xfrm>
            <a:off x="17567631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643" name="cell|Tolonen et al., 2006 - Microarray - MIT9313|COG2010|ns"/>
          <p:cNvSpPr/>
          <p:nvPr/>
        </p:nvSpPr>
        <p:spPr>
          <a:xfrm>
            <a:off x="17977996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TextBox 643"/>
          <p:cNvSpPr txBox="1"/>
          <p:nvPr/>
        </p:nvSpPr>
        <p:spPr>
          <a:xfrm>
            <a:off x="17977996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645" name="cell|Tolonen et al., 2006 - Microarray - MIT9313|COG2114|ns"/>
          <p:cNvSpPr/>
          <p:nvPr/>
        </p:nvSpPr>
        <p:spPr>
          <a:xfrm>
            <a:off x="18388360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TextBox 645"/>
          <p:cNvSpPr txBox="1"/>
          <p:nvPr/>
        </p:nvSpPr>
        <p:spPr>
          <a:xfrm>
            <a:off x="18388360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47" name="cell|Tolonen et al., 2006 - Microarray - MIT9313|COG0454|ns"/>
          <p:cNvSpPr/>
          <p:nvPr/>
        </p:nvSpPr>
        <p:spPr>
          <a:xfrm>
            <a:off x="18798725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TextBox 647"/>
          <p:cNvSpPr txBox="1"/>
          <p:nvPr/>
        </p:nvSpPr>
        <p:spPr>
          <a:xfrm>
            <a:off x="18798725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0/7/8</a:t>
            </a:r>
          </a:p>
        </p:txBody>
      </p:sp>
      <p:sp>
        <p:nvSpPr>
          <p:cNvPr id="649" name="cell|Tolonen et al., 2006 - Microarray - MIT9313|COG2931|ns"/>
          <p:cNvSpPr/>
          <p:nvPr/>
        </p:nvSpPr>
        <p:spPr>
          <a:xfrm>
            <a:off x="19209090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TextBox 649"/>
          <p:cNvSpPr txBox="1"/>
          <p:nvPr/>
        </p:nvSpPr>
        <p:spPr>
          <a:xfrm>
            <a:off x="19209090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0/3/4</a:t>
            </a:r>
          </a:p>
        </p:txBody>
      </p:sp>
      <p:sp>
        <p:nvSpPr>
          <p:cNvPr id="651" name="cell|Tolonen et al., 2006 - Microarray - MIT9313|COG0412|ns"/>
          <p:cNvSpPr/>
          <p:nvPr/>
        </p:nvSpPr>
        <p:spPr>
          <a:xfrm>
            <a:off x="19619455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TextBox 651"/>
          <p:cNvSpPr txBox="1"/>
          <p:nvPr/>
        </p:nvSpPr>
        <p:spPr>
          <a:xfrm>
            <a:off x="19619455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53" name="cell|Tolonen et al., 2006 - Microarray - MIT9313|COG4252|ns"/>
          <p:cNvSpPr/>
          <p:nvPr/>
        </p:nvSpPr>
        <p:spPr>
          <a:xfrm>
            <a:off x="20029820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TextBox 653"/>
          <p:cNvSpPr txBox="1"/>
          <p:nvPr/>
        </p:nvSpPr>
        <p:spPr>
          <a:xfrm>
            <a:off x="20029820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55" name="cell|Tolonen et al., 2006 - Microarray - MIT9313|COG2192|absent"/>
          <p:cNvSpPr/>
          <p:nvPr/>
        </p:nvSpPr>
        <p:spPr>
          <a:xfrm>
            <a:off x="20440185" y="447141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6" name="Connector 655"/>
          <p:cNvCxnSpPr/>
          <p:nvPr/>
        </p:nvCxnSpPr>
        <p:spPr>
          <a:xfrm flipV="1">
            <a:off x="20440185" y="447141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 flipV="1">
            <a:off x="20440185" y="447141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 flipV="1">
            <a:off x="20645367" y="468172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cell|Tolonen et al., 2006 - Microarray - MIT9313|COG2159|absent"/>
          <p:cNvSpPr/>
          <p:nvPr/>
        </p:nvSpPr>
        <p:spPr>
          <a:xfrm>
            <a:off x="20850550" y="447141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0" name="Connector 659"/>
          <p:cNvCxnSpPr/>
          <p:nvPr/>
        </p:nvCxnSpPr>
        <p:spPr>
          <a:xfrm flipV="1">
            <a:off x="20850550" y="447141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 flipV="1">
            <a:off x="20850550" y="447141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 flipV="1">
            <a:off x="21055732" y="468172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3" name="cell|Tolonen et al., 2006 - Microarray - MIT9313|COG5651|ns"/>
          <p:cNvSpPr/>
          <p:nvPr/>
        </p:nvSpPr>
        <p:spPr>
          <a:xfrm>
            <a:off x="21260915" y="447141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TextBox 663"/>
          <p:cNvSpPr txBox="1"/>
          <p:nvPr/>
        </p:nvSpPr>
        <p:spPr>
          <a:xfrm>
            <a:off x="21260915" y="447141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914400" y="4892040"/>
            <a:ext cx="370332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0B0B0B"/>
                </a:solidFill>
                <a:latin typeface="Arial"/>
              </a:rPr>
              <a:t>Lin et al., 2015 - RNA-seq - NATL2A</a:t>
            </a:r>
          </a:p>
        </p:txBody>
      </p:sp>
      <p:sp>
        <p:nvSpPr>
          <p:cNvPr id="666" name="cell|Lin et al., 2015 - RNA-seq - NATL2A|COG0188|ns"/>
          <p:cNvSpPr/>
          <p:nvPr/>
        </p:nvSpPr>
        <p:spPr>
          <a:xfrm>
            <a:off x="4846320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TextBox 666"/>
          <p:cNvSpPr txBox="1"/>
          <p:nvPr/>
        </p:nvSpPr>
        <p:spPr>
          <a:xfrm>
            <a:off x="4846320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668" name="cell|Lin et al., 2015 - RNA-seq - NATL2A|COG1787|absent"/>
          <p:cNvSpPr/>
          <p:nvPr/>
        </p:nvSpPr>
        <p:spPr>
          <a:xfrm>
            <a:off x="5256684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9" name="Connector 668"/>
          <p:cNvCxnSpPr/>
          <p:nvPr/>
        </p:nvCxnSpPr>
        <p:spPr>
          <a:xfrm flipV="1">
            <a:off x="5256684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 flipV="1">
            <a:off x="5256684" y="489204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 flipV="1">
            <a:off x="5461867" y="510235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2" name="cell|Lin et al., 2015 - RNA-seq - NATL2A|COG3727|absent"/>
          <p:cNvSpPr/>
          <p:nvPr/>
        </p:nvSpPr>
        <p:spPr>
          <a:xfrm>
            <a:off x="5667049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3" name="Connector 672"/>
          <p:cNvCxnSpPr/>
          <p:nvPr/>
        </p:nvCxnSpPr>
        <p:spPr>
          <a:xfrm flipV="1">
            <a:off x="5667049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 flipV="1">
            <a:off x="5667049" y="489204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 flipV="1">
            <a:off x="5872232" y="510235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6" name="cell|Lin et al., 2015 - RNA-seq - NATL2A|COG1793|ns"/>
          <p:cNvSpPr/>
          <p:nvPr/>
        </p:nvSpPr>
        <p:spPr>
          <a:xfrm>
            <a:off x="6077414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6077414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78" name="cell|Lin et al., 2015 - RNA-seq - NATL2A|COG0640|ns"/>
          <p:cNvSpPr/>
          <p:nvPr/>
        </p:nvSpPr>
        <p:spPr>
          <a:xfrm>
            <a:off x="6487779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TextBox 678"/>
          <p:cNvSpPr txBox="1"/>
          <p:nvPr/>
        </p:nvSpPr>
        <p:spPr>
          <a:xfrm>
            <a:off x="6487779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80" name="cell|Lin et al., 2015 - RNA-seq - NATL2A|COG1403|ns"/>
          <p:cNvSpPr/>
          <p:nvPr/>
        </p:nvSpPr>
        <p:spPr>
          <a:xfrm>
            <a:off x="6898144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extBox 680"/>
          <p:cNvSpPr txBox="1"/>
          <p:nvPr/>
        </p:nvSpPr>
        <p:spPr>
          <a:xfrm>
            <a:off x="6898144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682" name="cell|Lin et al., 2015 - RNA-seq - NATL2A|COG2214|ns"/>
          <p:cNvSpPr/>
          <p:nvPr/>
        </p:nvSpPr>
        <p:spPr>
          <a:xfrm>
            <a:off x="7308509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TextBox 682"/>
          <p:cNvSpPr txBox="1"/>
          <p:nvPr/>
        </p:nvSpPr>
        <p:spPr>
          <a:xfrm>
            <a:off x="7308509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0/6/6</a:t>
            </a:r>
          </a:p>
        </p:txBody>
      </p:sp>
      <p:sp>
        <p:nvSpPr>
          <p:cNvPr id="684" name="cell|Lin et al., 2015 - RNA-seq - NATL2A|COG0443|ns"/>
          <p:cNvSpPr/>
          <p:nvPr/>
        </p:nvSpPr>
        <p:spPr>
          <a:xfrm>
            <a:off x="7718874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TextBox 684"/>
          <p:cNvSpPr txBox="1"/>
          <p:nvPr/>
        </p:nvSpPr>
        <p:spPr>
          <a:xfrm>
            <a:off x="7718874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686" name="cell|Lin et al., 2015 - RNA-seq - NATL2A|COG0484|ns"/>
          <p:cNvSpPr/>
          <p:nvPr/>
        </p:nvSpPr>
        <p:spPr>
          <a:xfrm>
            <a:off x="8129239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8129239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0/6/6</a:t>
            </a:r>
          </a:p>
        </p:txBody>
      </p:sp>
      <p:sp>
        <p:nvSpPr>
          <p:cNvPr id="688" name="cell|Lin et al., 2015 - RNA-seq - NATL2A|COG0330|ns"/>
          <p:cNvSpPr/>
          <p:nvPr/>
        </p:nvSpPr>
        <p:spPr>
          <a:xfrm>
            <a:off x="8539603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8539603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690" name="cell|Lin et al., 2015 - RNA-seq - NATL2A|COG1187|ns"/>
          <p:cNvSpPr/>
          <p:nvPr/>
        </p:nvSpPr>
        <p:spPr>
          <a:xfrm>
            <a:off x="8949968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TextBox 690"/>
          <p:cNvSpPr txBox="1"/>
          <p:nvPr/>
        </p:nvSpPr>
        <p:spPr>
          <a:xfrm>
            <a:off x="8949968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692" name="cell|Lin et al., 2015 - RNA-seq - NATL2A|COG1454|ns"/>
          <p:cNvSpPr/>
          <p:nvPr/>
        </p:nvSpPr>
        <p:spPr>
          <a:xfrm>
            <a:off x="9360333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9360333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94" name="cell|Lin et al., 2015 - RNA-seq - NATL2A|COG2370|ns"/>
          <p:cNvSpPr/>
          <p:nvPr/>
        </p:nvSpPr>
        <p:spPr>
          <a:xfrm>
            <a:off x="9770698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TextBox 694"/>
          <p:cNvSpPr txBox="1"/>
          <p:nvPr/>
        </p:nvSpPr>
        <p:spPr>
          <a:xfrm>
            <a:off x="9770698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696" name="cell|Lin et al., 2015 - RNA-seq - NATL2A|COG0367|absent"/>
          <p:cNvSpPr/>
          <p:nvPr/>
        </p:nvSpPr>
        <p:spPr>
          <a:xfrm>
            <a:off x="10181063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7" name="Connector 696"/>
          <p:cNvCxnSpPr/>
          <p:nvPr/>
        </p:nvCxnSpPr>
        <p:spPr>
          <a:xfrm flipV="1">
            <a:off x="10181063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 flipV="1">
            <a:off x="10181063" y="489204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V="1">
            <a:off x="10386245" y="510235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0" name="cell|Lin et al., 2015 - RNA-seq - NATL2A|COG0082|ns"/>
          <p:cNvSpPr/>
          <p:nvPr/>
        </p:nvSpPr>
        <p:spPr>
          <a:xfrm>
            <a:off x="10591428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TextBox 700"/>
          <p:cNvSpPr txBox="1"/>
          <p:nvPr/>
        </p:nvSpPr>
        <p:spPr>
          <a:xfrm>
            <a:off x="10591428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702" name="cell|Lin et al., 2015 - RNA-seq - NATL2A|COG2274|ns"/>
          <p:cNvSpPr/>
          <p:nvPr/>
        </p:nvSpPr>
        <p:spPr>
          <a:xfrm>
            <a:off x="11001793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TextBox 702"/>
          <p:cNvSpPr txBox="1"/>
          <p:nvPr/>
        </p:nvSpPr>
        <p:spPr>
          <a:xfrm>
            <a:off x="11001793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704" name="cell|Lin et al., 2015 - RNA-seq - NATL2A|COG1989|ns"/>
          <p:cNvSpPr/>
          <p:nvPr/>
        </p:nvSpPr>
        <p:spPr>
          <a:xfrm>
            <a:off x="11412158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TextBox 704"/>
          <p:cNvSpPr txBox="1"/>
          <p:nvPr/>
        </p:nvSpPr>
        <p:spPr>
          <a:xfrm>
            <a:off x="11412158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706" name="cell|Lin et al., 2015 - RNA-seq - NATL2A|COG0845|ns"/>
          <p:cNvSpPr/>
          <p:nvPr/>
        </p:nvSpPr>
        <p:spPr>
          <a:xfrm>
            <a:off x="11822522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TextBox 706"/>
          <p:cNvSpPr txBox="1"/>
          <p:nvPr/>
        </p:nvSpPr>
        <p:spPr>
          <a:xfrm>
            <a:off x="11822522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708" name="cell|Lin et al., 2015 - RNA-seq - NATL2A|COG0488|ns"/>
          <p:cNvSpPr/>
          <p:nvPr/>
        </p:nvSpPr>
        <p:spPr>
          <a:xfrm>
            <a:off x="12232887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TextBox 708"/>
          <p:cNvSpPr txBox="1"/>
          <p:nvPr/>
        </p:nvSpPr>
        <p:spPr>
          <a:xfrm>
            <a:off x="12232887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710" name="cell|Lin et al., 2015 - RNA-seq - NATL2A|COG0697|ns"/>
          <p:cNvSpPr/>
          <p:nvPr/>
        </p:nvSpPr>
        <p:spPr>
          <a:xfrm>
            <a:off x="12643252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TextBox 710"/>
          <p:cNvSpPr txBox="1"/>
          <p:nvPr/>
        </p:nvSpPr>
        <p:spPr>
          <a:xfrm>
            <a:off x="12643252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0/9/9</a:t>
            </a:r>
          </a:p>
        </p:txBody>
      </p:sp>
      <p:sp>
        <p:nvSpPr>
          <p:cNvPr id="712" name="cell|Lin et al., 2015 - RNA-seq - NATL2A|COG3839|ns"/>
          <p:cNvSpPr/>
          <p:nvPr/>
        </p:nvSpPr>
        <p:spPr>
          <a:xfrm>
            <a:off x="13053617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13053617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714" name="cell|Lin et al., 2015 - RNA-seq - NATL2A|COG1212|absent"/>
          <p:cNvSpPr/>
          <p:nvPr/>
        </p:nvSpPr>
        <p:spPr>
          <a:xfrm>
            <a:off x="13463982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5" name="Connector 714"/>
          <p:cNvCxnSpPr/>
          <p:nvPr/>
        </p:nvCxnSpPr>
        <p:spPr>
          <a:xfrm flipV="1">
            <a:off x="13463982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 flipV="1">
            <a:off x="13463982" y="489204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 flipV="1">
            <a:off x="13669164" y="510235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8" name="cell|Lin et al., 2015 - RNA-seq - NATL2A|COG0477|up"/>
          <p:cNvSpPr/>
          <p:nvPr/>
        </p:nvSpPr>
        <p:spPr>
          <a:xfrm>
            <a:off x="13874347" y="4892040"/>
            <a:ext cx="410364" cy="420624"/>
          </a:xfrm>
          <a:prstGeom prst="rect">
            <a:avLst/>
          </a:prstGeom>
          <a:solidFill>
            <a:srgbClr val="B88C84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TextBox 718"/>
          <p:cNvSpPr txBox="1"/>
          <p:nvPr/>
        </p:nvSpPr>
        <p:spPr>
          <a:xfrm>
            <a:off x="13874347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1/28/28</a:t>
            </a:r>
          </a:p>
        </p:txBody>
      </p:sp>
      <p:sp>
        <p:nvSpPr>
          <p:cNvPr id="720" name="cell|Lin et al., 2015 - RNA-seq - NATL2A|COG1472|ns"/>
          <p:cNvSpPr/>
          <p:nvPr/>
        </p:nvSpPr>
        <p:spPr>
          <a:xfrm>
            <a:off x="14284712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TextBox 720"/>
          <p:cNvSpPr txBox="1"/>
          <p:nvPr/>
        </p:nvSpPr>
        <p:spPr>
          <a:xfrm>
            <a:off x="14284712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722" name="cell|Lin et al., 2015 - RNA-seq - NATL2A|COG3754|absent"/>
          <p:cNvSpPr/>
          <p:nvPr/>
        </p:nvSpPr>
        <p:spPr>
          <a:xfrm>
            <a:off x="14695077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3" name="Connector 722"/>
          <p:cNvCxnSpPr/>
          <p:nvPr/>
        </p:nvCxnSpPr>
        <p:spPr>
          <a:xfrm flipV="1">
            <a:off x="14695077" y="4892040"/>
            <a:ext cx="410364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 flipV="1">
            <a:off x="14695077" y="489204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 flipV="1">
            <a:off x="14900259" y="510235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6" name="cell|Lin et al., 2015 - RNA-seq - NATL2A|COG0399|ns"/>
          <p:cNvSpPr/>
          <p:nvPr/>
        </p:nvSpPr>
        <p:spPr>
          <a:xfrm>
            <a:off x="15105441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TextBox 726"/>
          <p:cNvSpPr txBox="1"/>
          <p:nvPr/>
        </p:nvSpPr>
        <p:spPr>
          <a:xfrm>
            <a:off x="15105441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728" name="cell|Lin et al., 2015 - RNA-seq - NATL2A|COG0673|ns"/>
          <p:cNvSpPr/>
          <p:nvPr/>
        </p:nvSpPr>
        <p:spPr>
          <a:xfrm>
            <a:off x="15515806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TextBox 728"/>
          <p:cNvSpPr txBox="1"/>
          <p:nvPr/>
        </p:nvSpPr>
        <p:spPr>
          <a:xfrm>
            <a:off x="15515806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730" name="cell|Lin et al., 2015 - RNA-seq - NATL2A|COG0810|ns"/>
          <p:cNvSpPr/>
          <p:nvPr/>
        </p:nvSpPr>
        <p:spPr>
          <a:xfrm>
            <a:off x="15926171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TextBox 730"/>
          <p:cNvSpPr txBox="1"/>
          <p:nvPr/>
        </p:nvSpPr>
        <p:spPr>
          <a:xfrm>
            <a:off x="15926171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732" name="cell|Lin et al., 2015 - RNA-seq - NATL2A|COG3206|absent"/>
          <p:cNvSpPr/>
          <p:nvPr/>
        </p:nvSpPr>
        <p:spPr>
          <a:xfrm>
            <a:off x="16336536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3" name="Connector 732"/>
          <p:cNvCxnSpPr/>
          <p:nvPr/>
        </p:nvCxnSpPr>
        <p:spPr>
          <a:xfrm flipV="1">
            <a:off x="16336536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 flipV="1">
            <a:off x="16336536" y="489204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 flipV="1">
            <a:off x="16541719" y="510235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6" name="cell|Lin et al., 2015 - RNA-seq - NATL2A|COG1596|absent"/>
          <p:cNvSpPr/>
          <p:nvPr/>
        </p:nvSpPr>
        <p:spPr>
          <a:xfrm>
            <a:off x="16746901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7" name="Connector 736"/>
          <p:cNvCxnSpPr/>
          <p:nvPr/>
        </p:nvCxnSpPr>
        <p:spPr>
          <a:xfrm flipV="1">
            <a:off x="16746901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8" name="Connector 737"/>
          <p:cNvCxnSpPr/>
          <p:nvPr/>
        </p:nvCxnSpPr>
        <p:spPr>
          <a:xfrm flipV="1">
            <a:off x="16746901" y="489204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 flipV="1">
            <a:off x="16952083" y="510235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0" name="cell|Lin et al., 2015 - RNA-seq - NATL2A|COG1462|absent"/>
          <p:cNvSpPr/>
          <p:nvPr/>
        </p:nvSpPr>
        <p:spPr>
          <a:xfrm>
            <a:off x="17157266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1" name="Connector 740"/>
          <p:cNvCxnSpPr/>
          <p:nvPr/>
        </p:nvCxnSpPr>
        <p:spPr>
          <a:xfrm flipV="1">
            <a:off x="17157266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 flipV="1">
            <a:off x="17157266" y="489204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 flipV="1">
            <a:off x="17362448" y="510235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4" name="cell|Lin et al., 2015 - RNA-seq - NATL2A|COG3210|ns"/>
          <p:cNvSpPr/>
          <p:nvPr/>
        </p:nvSpPr>
        <p:spPr>
          <a:xfrm>
            <a:off x="17567631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TextBox 744"/>
          <p:cNvSpPr txBox="1"/>
          <p:nvPr/>
        </p:nvSpPr>
        <p:spPr>
          <a:xfrm>
            <a:off x="17567631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746" name="cell|Lin et al., 2015 - RNA-seq - NATL2A|COG2010|ns"/>
          <p:cNvSpPr/>
          <p:nvPr/>
        </p:nvSpPr>
        <p:spPr>
          <a:xfrm>
            <a:off x="17977996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TextBox 746"/>
          <p:cNvSpPr txBox="1"/>
          <p:nvPr/>
        </p:nvSpPr>
        <p:spPr>
          <a:xfrm>
            <a:off x="17977996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748" name="cell|Lin et al., 2015 - RNA-seq - NATL2A|COG2114|absent"/>
          <p:cNvSpPr/>
          <p:nvPr/>
        </p:nvSpPr>
        <p:spPr>
          <a:xfrm>
            <a:off x="18388360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9" name="Connector 748"/>
          <p:cNvCxnSpPr/>
          <p:nvPr/>
        </p:nvCxnSpPr>
        <p:spPr>
          <a:xfrm flipV="1">
            <a:off x="18388360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 flipV="1">
            <a:off x="18388360" y="489204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 flipV="1">
            <a:off x="18593543" y="510235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2" name="cell|Lin et al., 2015 - RNA-seq - NATL2A|COG0454|ns"/>
          <p:cNvSpPr/>
          <p:nvPr/>
        </p:nvSpPr>
        <p:spPr>
          <a:xfrm>
            <a:off x="18798725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TextBox 752"/>
          <p:cNvSpPr txBox="1"/>
          <p:nvPr/>
        </p:nvSpPr>
        <p:spPr>
          <a:xfrm>
            <a:off x="18798725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754" name="cell|Lin et al., 2015 - RNA-seq - NATL2A|COG2931|ns"/>
          <p:cNvSpPr/>
          <p:nvPr/>
        </p:nvSpPr>
        <p:spPr>
          <a:xfrm>
            <a:off x="19209090" y="4892040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TextBox 754"/>
          <p:cNvSpPr txBox="1"/>
          <p:nvPr/>
        </p:nvSpPr>
        <p:spPr>
          <a:xfrm>
            <a:off x="19209090" y="4892040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756" name="cell|Lin et al., 2015 - RNA-seq - NATL2A|COG0412|absent"/>
          <p:cNvSpPr/>
          <p:nvPr/>
        </p:nvSpPr>
        <p:spPr>
          <a:xfrm>
            <a:off x="19619455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7" name="Connector 756"/>
          <p:cNvCxnSpPr/>
          <p:nvPr/>
        </p:nvCxnSpPr>
        <p:spPr>
          <a:xfrm flipV="1">
            <a:off x="19619455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 flipV="1">
            <a:off x="19619455" y="489204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9" name="Connector 758"/>
          <p:cNvCxnSpPr/>
          <p:nvPr/>
        </p:nvCxnSpPr>
        <p:spPr>
          <a:xfrm flipV="1">
            <a:off x="19824638" y="510235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0" name="cell|Lin et al., 2015 - RNA-seq - NATL2A|COG4252|absent"/>
          <p:cNvSpPr/>
          <p:nvPr/>
        </p:nvSpPr>
        <p:spPr>
          <a:xfrm>
            <a:off x="20029820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1" name="Connector 760"/>
          <p:cNvCxnSpPr/>
          <p:nvPr/>
        </p:nvCxnSpPr>
        <p:spPr>
          <a:xfrm flipV="1">
            <a:off x="20029820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 flipV="1">
            <a:off x="20029820" y="489204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 flipV="1">
            <a:off x="20235002" y="510235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4" name="cell|Lin et al., 2015 - RNA-seq - NATL2A|COG2192|absent"/>
          <p:cNvSpPr/>
          <p:nvPr/>
        </p:nvSpPr>
        <p:spPr>
          <a:xfrm>
            <a:off x="20440185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5" name="Connector 764"/>
          <p:cNvCxnSpPr/>
          <p:nvPr/>
        </p:nvCxnSpPr>
        <p:spPr>
          <a:xfrm flipV="1">
            <a:off x="20440185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 flipV="1">
            <a:off x="20440185" y="489204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Connector 766"/>
          <p:cNvCxnSpPr/>
          <p:nvPr/>
        </p:nvCxnSpPr>
        <p:spPr>
          <a:xfrm flipV="1">
            <a:off x="20645367" y="510235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8" name="cell|Lin et al., 2015 - RNA-seq - NATL2A|COG2159|absent"/>
          <p:cNvSpPr/>
          <p:nvPr/>
        </p:nvSpPr>
        <p:spPr>
          <a:xfrm>
            <a:off x="20850550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9" name="Connector 768"/>
          <p:cNvCxnSpPr/>
          <p:nvPr/>
        </p:nvCxnSpPr>
        <p:spPr>
          <a:xfrm flipV="1">
            <a:off x="20850550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0" name="Connector 769"/>
          <p:cNvCxnSpPr/>
          <p:nvPr/>
        </p:nvCxnSpPr>
        <p:spPr>
          <a:xfrm flipV="1">
            <a:off x="20850550" y="489204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 flipV="1">
            <a:off x="21055732" y="510235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2" name="cell|Lin et al., 2015 - RNA-seq - NATL2A|COG5651|absent"/>
          <p:cNvSpPr/>
          <p:nvPr/>
        </p:nvSpPr>
        <p:spPr>
          <a:xfrm>
            <a:off x="21260915" y="4892040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3" name="Connector 772"/>
          <p:cNvCxnSpPr/>
          <p:nvPr/>
        </p:nvCxnSpPr>
        <p:spPr>
          <a:xfrm flipV="1">
            <a:off x="21260915" y="4892040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4" name="Connector 773"/>
          <p:cNvCxnSpPr/>
          <p:nvPr/>
        </p:nvCxnSpPr>
        <p:spPr>
          <a:xfrm flipV="1">
            <a:off x="21260915" y="489204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5" name="Connector 774"/>
          <p:cNvCxnSpPr/>
          <p:nvPr/>
        </p:nvCxnSpPr>
        <p:spPr>
          <a:xfrm flipV="1">
            <a:off x="21466097" y="510235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6" name="TextBox 775"/>
          <p:cNvSpPr txBox="1"/>
          <p:nvPr/>
        </p:nvSpPr>
        <p:spPr>
          <a:xfrm>
            <a:off x="914400" y="5312664"/>
            <a:ext cx="370332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0B0B0B"/>
                </a:solidFill>
                <a:latin typeface="Arial"/>
              </a:rPr>
              <a:t>Fuszard et al., 2012 - Proteomics - MIT9312</a:t>
            </a:r>
          </a:p>
        </p:txBody>
      </p:sp>
      <p:sp>
        <p:nvSpPr>
          <p:cNvPr id="777" name="cell|Fuszard et al., 2012 - Proteomics - MIT9312|COG0188|ns"/>
          <p:cNvSpPr/>
          <p:nvPr/>
        </p:nvSpPr>
        <p:spPr>
          <a:xfrm>
            <a:off x="4846320" y="5312664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TextBox 777"/>
          <p:cNvSpPr txBox="1"/>
          <p:nvPr/>
        </p:nvSpPr>
        <p:spPr>
          <a:xfrm>
            <a:off x="4846320" y="531266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0/1/6</a:t>
            </a:r>
          </a:p>
        </p:txBody>
      </p:sp>
      <p:sp>
        <p:nvSpPr>
          <p:cNvPr id="779" name="cell|Fuszard et al., 2012 - Proteomics - MIT9312|COG1787|nodata"/>
          <p:cNvSpPr/>
          <p:nvPr/>
        </p:nvSpPr>
        <p:spPr>
          <a:xfrm>
            <a:off x="5256684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cell|Fuszard et al., 2012 - Proteomics - MIT9312|COG3727|nodata"/>
          <p:cNvSpPr/>
          <p:nvPr/>
        </p:nvSpPr>
        <p:spPr>
          <a:xfrm>
            <a:off x="5667049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cell|Fuszard et al., 2012 - Proteomics - MIT9312|COG1793|nodata"/>
          <p:cNvSpPr/>
          <p:nvPr/>
        </p:nvSpPr>
        <p:spPr>
          <a:xfrm>
            <a:off x="6077414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cell|Fuszard et al., 2012 - Proteomics - MIT9312|COG0640|nodata"/>
          <p:cNvSpPr/>
          <p:nvPr/>
        </p:nvSpPr>
        <p:spPr>
          <a:xfrm>
            <a:off x="6487779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cell|Fuszard et al., 2012 - Proteomics - MIT9312|COG1403|nodata"/>
          <p:cNvSpPr/>
          <p:nvPr/>
        </p:nvSpPr>
        <p:spPr>
          <a:xfrm>
            <a:off x="6898144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cell|Fuszard et al., 2012 - Proteomics - MIT9312|COG2214|ns"/>
          <p:cNvSpPr/>
          <p:nvPr/>
        </p:nvSpPr>
        <p:spPr>
          <a:xfrm>
            <a:off x="7308509" y="5312664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TextBox 784"/>
          <p:cNvSpPr txBox="1"/>
          <p:nvPr/>
        </p:nvSpPr>
        <p:spPr>
          <a:xfrm>
            <a:off x="7308509" y="531266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0/1/5</a:t>
            </a:r>
          </a:p>
        </p:txBody>
      </p:sp>
      <p:sp>
        <p:nvSpPr>
          <p:cNvPr id="786" name="cell|Fuszard et al., 2012 - Proteomics - MIT9312|COG0443|nodata"/>
          <p:cNvSpPr/>
          <p:nvPr/>
        </p:nvSpPr>
        <p:spPr>
          <a:xfrm>
            <a:off x="7718874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cell|Fuszard et al., 2012 - Proteomics - MIT9312|COG0484|ns"/>
          <p:cNvSpPr/>
          <p:nvPr/>
        </p:nvSpPr>
        <p:spPr>
          <a:xfrm>
            <a:off x="8129239" y="5312664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TextBox 787"/>
          <p:cNvSpPr txBox="1"/>
          <p:nvPr/>
        </p:nvSpPr>
        <p:spPr>
          <a:xfrm>
            <a:off x="8129239" y="531266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0/1/5</a:t>
            </a:r>
          </a:p>
        </p:txBody>
      </p:sp>
      <p:sp>
        <p:nvSpPr>
          <p:cNvPr id="789" name="cell|Fuszard et al., 2012 - Proteomics - MIT9312|COG0330|ns"/>
          <p:cNvSpPr/>
          <p:nvPr/>
        </p:nvSpPr>
        <p:spPr>
          <a:xfrm>
            <a:off x="8539603" y="5312664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TextBox 789"/>
          <p:cNvSpPr txBox="1"/>
          <p:nvPr/>
        </p:nvSpPr>
        <p:spPr>
          <a:xfrm>
            <a:off x="8539603" y="531266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791" name="cell|Fuszard et al., 2012 - Proteomics - MIT9312|COG1187|nodata"/>
          <p:cNvSpPr/>
          <p:nvPr/>
        </p:nvSpPr>
        <p:spPr>
          <a:xfrm>
            <a:off x="8949968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cell|Fuszard et al., 2012 - Proteomics - MIT9312|COG1454|absent"/>
          <p:cNvSpPr/>
          <p:nvPr/>
        </p:nvSpPr>
        <p:spPr>
          <a:xfrm>
            <a:off x="9360333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3" name="Connector 792"/>
          <p:cNvCxnSpPr/>
          <p:nvPr/>
        </p:nvCxnSpPr>
        <p:spPr>
          <a:xfrm flipV="1">
            <a:off x="9360333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Connector 793"/>
          <p:cNvCxnSpPr/>
          <p:nvPr/>
        </p:nvCxnSpPr>
        <p:spPr>
          <a:xfrm flipV="1">
            <a:off x="9360333" y="531266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Connector 794"/>
          <p:cNvCxnSpPr/>
          <p:nvPr/>
        </p:nvCxnSpPr>
        <p:spPr>
          <a:xfrm flipV="1">
            <a:off x="9565516" y="552297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6" name="cell|Fuszard et al., 2012 - Proteomics - MIT9312|COG2370|absent"/>
          <p:cNvSpPr/>
          <p:nvPr/>
        </p:nvSpPr>
        <p:spPr>
          <a:xfrm>
            <a:off x="9770698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7" name="Connector 796"/>
          <p:cNvCxnSpPr/>
          <p:nvPr/>
        </p:nvCxnSpPr>
        <p:spPr>
          <a:xfrm flipV="1">
            <a:off x="9770698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Connector 797"/>
          <p:cNvCxnSpPr/>
          <p:nvPr/>
        </p:nvCxnSpPr>
        <p:spPr>
          <a:xfrm flipV="1">
            <a:off x="9770698" y="531266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Connector 798"/>
          <p:cNvCxnSpPr/>
          <p:nvPr/>
        </p:nvCxnSpPr>
        <p:spPr>
          <a:xfrm flipV="1">
            <a:off x="9975880" y="552297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0" name="cell|Fuszard et al., 2012 - Proteomics - MIT9312|COG0367|nodata"/>
          <p:cNvSpPr/>
          <p:nvPr/>
        </p:nvSpPr>
        <p:spPr>
          <a:xfrm>
            <a:off x="10181063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cell|Fuszard et al., 2012 - Proteomics - MIT9312|COG0082|nodata"/>
          <p:cNvSpPr/>
          <p:nvPr/>
        </p:nvSpPr>
        <p:spPr>
          <a:xfrm>
            <a:off x="10591428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cell|Fuszard et al., 2012 - Proteomics - MIT9312|COG2274|nodata"/>
          <p:cNvSpPr/>
          <p:nvPr/>
        </p:nvSpPr>
        <p:spPr>
          <a:xfrm>
            <a:off x="11001793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cell|Fuszard et al., 2012 - Proteomics - MIT9312|COG1989|nodata"/>
          <p:cNvSpPr/>
          <p:nvPr/>
        </p:nvSpPr>
        <p:spPr>
          <a:xfrm>
            <a:off x="11412158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cell|Fuszard et al., 2012 - Proteomics - MIT9312|COG0845|nodata"/>
          <p:cNvSpPr/>
          <p:nvPr/>
        </p:nvSpPr>
        <p:spPr>
          <a:xfrm>
            <a:off x="11822522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cell|Fuszard et al., 2012 - Proteomics - MIT9312|COG0488|nodata"/>
          <p:cNvSpPr/>
          <p:nvPr/>
        </p:nvSpPr>
        <p:spPr>
          <a:xfrm>
            <a:off x="12232887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cell|Fuszard et al., 2012 - Proteomics - MIT9312|COG0697|nodata"/>
          <p:cNvSpPr/>
          <p:nvPr/>
        </p:nvSpPr>
        <p:spPr>
          <a:xfrm>
            <a:off x="12643252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cell|Fuszard et al., 2012 - Proteomics - MIT9312|COG3839|absent"/>
          <p:cNvSpPr/>
          <p:nvPr/>
        </p:nvSpPr>
        <p:spPr>
          <a:xfrm>
            <a:off x="13053617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8" name="Connector 807"/>
          <p:cNvCxnSpPr/>
          <p:nvPr/>
        </p:nvCxnSpPr>
        <p:spPr>
          <a:xfrm flipV="1">
            <a:off x="13053617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Connector 808"/>
          <p:cNvCxnSpPr/>
          <p:nvPr/>
        </p:nvCxnSpPr>
        <p:spPr>
          <a:xfrm flipV="1">
            <a:off x="13053617" y="531266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Connector 809"/>
          <p:cNvCxnSpPr/>
          <p:nvPr/>
        </p:nvCxnSpPr>
        <p:spPr>
          <a:xfrm flipV="1">
            <a:off x="13258799" y="552297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1" name="cell|Fuszard et al., 2012 - Proteomics - MIT9312|COG1212|absent"/>
          <p:cNvSpPr/>
          <p:nvPr/>
        </p:nvSpPr>
        <p:spPr>
          <a:xfrm>
            <a:off x="13463982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2" name="Connector 811"/>
          <p:cNvCxnSpPr/>
          <p:nvPr/>
        </p:nvCxnSpPr>
        <p:spPr>
          <a:xfrm flipV="1">
            <a:off x="13463982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Connector 812"/>
          <p:cNvCxnSpPr/>
          <p:nvPr/>
        </p:nvCxnSpPr>
        <p:spPr>
          <a:xfrm flipV="1">
            <a:off x="13463982" y="531266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Connector 813"/>
          <p:cNvCxnSpPr/>
          <p:nvPr/>
        </p:nvCxnSpPr>
        <p:spPr>
          <a:xfrm flipV="1">
            <a:off x="13669164" y="552297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5" name="cell|Fuszard et al., 2012 - Proteomics - MIT9312|COG0477|up"/>
          <p:cNvSpPr/>
          <p:nvPr/>
        </p:nvSpPr>
        <p:spPr>
          <a:xfrm>
            <a:off x="13874347" y="5312664"/>
            <a:ext cx="410364" cy="420624"/>
          </a:xfrm>
          <a:prstGeom prst="rect">
            <a:avLst/>
          </a:prstGeom>
          <a:solidFill>
            <a:srgbClr val="CD6C67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TextBox 815"/>
          <p:cNvSpPr txBox="1"/>
          <p:nvPr/>
        </p:nvSpPr>
        <p:spPr>
          <a:xfrm>
            <a:off x="13874347" y="5312664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1/2/25</a:t>
            </a:r>
          </a:p>
        </p:txBody>
      </p:sp>
      <p:sp>
        <p:nvSpPr>
          <p:cNvPr id="817" name="cell|Fuszard et al., 2012 - Proteomics - MIT9312|COG1472|absent"/>
          <p:cNvSpPr/>
          <p:nvPr/>
        </p:nvSpPr>
        <p:spPr>
          <a:xfrm>
            <a:off x="14284712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8" name="Connector 817"/>
          <p:cNvCxnSpPr/>
          <p:nvPr/>
        </p:nvCxnSpPr>
        <p:spPr>
          <a:xfrm flipV="1">
            <a:off x="14284712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 flipV="1">
            <a:off x="14284712" y="531266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0" name="Connector 819"/>
          <p:cNvCxnSpPr/>
          <p:nvPr/>
        </p:nvCxnSpPr>
        <p:spPr>
          <a:xfrm flipV="1">
            <a:off x="14489894" y="552297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1" name="cell|Fuszard et al., 2012 - Proteomics - MIT9312|COG3754|absent"/>
          <p:cNvSpPr/>
          <p:nvPr/>
        </p:nvSpPr>
        <p:spPr>
          <a:xfrm>
            <a:off x="14695077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2" name="Connector 821"/>
          <p:cNvCxnSpPr/>
          <p:nvPr/>
        </p:nvCxnSpPr>
        <p:spPr>
          <a:xfrm flipV="1">
            <a:off x="14695077" y="5312664"/>
            <a:ext cx="410364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3" name="Connector 822"/>
          <p:cNvCxnSpPr/>
          <p:nvPr/>
        </p:nvCxnSpPr>
        <p:spPr>
          <a:xfrm flipV="1">
            <a:off x="14695077" y="531266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4" name="Connector 823"/>
          <p:cNvCxnSpPr/>
          <p:nvPr/>
        </p:nvCxnSpPr>
        <p:spPr>
          <a:xfrm flipV="1">
            <a:off x="14900259" y="552297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5" name="cell|Fuszard et al., 2012 - Proteomics - MIT9312|COG0399|nodata"/>
          <p:cNvSpPr/>
          <p:nvPr/>
        </p:nvSpPr>
        <p:spPr>
          <a:xfrm>
            <a:off x="15105441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cell|Fuszard et al., 2012 - Proteomics - MIT9312|COG0673|nodata"/>
          <p:cNvSpPr/>
          <p:nvPr/>
        </p:nvSpPr>
        <p:spPr>
          <a:xfrm>
            <a:off x="15515806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cell|Fuszard et al., 2012 - Proteomics - MIT9312|COG0810|absent"/>
          <p:cNvSpPr/>
          <p:nvPr/>
        </p:nvSpPr>
        <p:spPr>
          <a:xfrm>
            <a:off x="15926171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8" name="Connector 827"/>
          <p:cNvCxnSpPr/>
          <p:nvPr/>
        </p:nvCxnSpPr>
        <p:spPr>
          <a:xfrm flipV="1">
            <a:off x="15926171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Connector 828"/>
          <p:cNvCxnSpPr/>
          <p:nvPr/>
        </p:nvCxnSpPr>
        <p:spPr>
          <a:xfrm flipV="1">
            <a:off x="15926171" y="531266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Connector 829"/>
          <p:cNvCxnSpPr/>
          <p:nvPr/>
        </p:nvCxnSpPr>
        <p:spPr>
          <a:xfrm flipV="1">
            <a:off x="16131354" y="552297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1" name="cell|Fuszard et al., 2012 - Proteomics - MIT9312|COG3206|nodata"/>
          <p:cNvSpPr/>
          <p:nvPr/>
        </p:nvSpPr>
        <p:spPr>
          <a:xfrm>
            <a:off x="16336536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cell|Fuszard et al., 2012 - Proteomics - MIT9312|COG1596|nodata"/>
          <p:cNvSpPr/>
          <p:nvPr/>
        </p:nvSpPr>
        <p:spPr>
          <a:xfrm>
            <a:off x="16746901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cell|Fuszard et al., 2012 - Proteomics - MIT9312|COG1462|absent"/>
          <p:cNvSpPr/>
          <p:nvPr/>
        </p:nvSpPr>
        <p:spPr>
          <a:xfrm>
            <a:off x="17157266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4" name="Connector 833"/>
          <p:cNvCxnSpPr/>
          <p:nvPr/>
        </p:nvCxnSpPr>
        <p:spPr>
          <a:xfrm flipV="1">
            <a:off x="17157266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5" name="Connector 834"/>
          <p:cNvCxnSpPr/>
          <p:nvPr/>
        </p:nvCxnSpPr>
        <p:spPr>
          <a:xfrm flipV="1">
            <a:off x="17157266" y="531266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6" name="Connector 835"/>
          <p:cNvCxnSpPr/>
          <p:nvPr/>
        </p:nvCxnSpPr>
        <p:spPr>
          <a:xfrm flipV="1">
            <a:off x="17362448" y="552297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7" name="cell|Fuszard et al., 2012 - Proteomics - MIT9312|COG3210|absent"/>
          <p:cNvSpPr/>
          <p:nvPr/>
        </p:nvSpPr>
        <p:spPr>
          <a:xfrm>
            <a:off x="17567631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8" name="Connector 837"/>
          <p:cNvCxnSpPr/>
          <p:nvPr/>
        </p:nvCxnSpPr>
        <p:spPr>
          <a:xfrm flipV="1">
            <a:off x="17567631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9" name="Connector 838"/>
          <p:cNvCxnSpPr/>
          <p:nvPr/>
        </p:nvCxnSpPr>
        <p:spPr>
          <a:xfrm flipV="1">
            <a:off x="17567631" y="531266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0" name="Connector 839"/>
          <p:cNvCxnSpPr/>
          <p:nvPr/>
        </p:nvCxnSpPr>
        <p:spPr>
          <a:xfrm flipV="1">
            <a:off x="17772813" y="552297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1" name="cell|Fuszard et al., 2012 - Proteomics - MIT9312|COG2010|nodata"/>
          <p:cNvSpPr/>
          <p:nvPr/>
        </p:nvSpPr>
        <p:spPr>
          <a:xfrm>
            <a:off x="17977996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cell|Fuszard et al., 2012 - Proteomics - MIT9312|COG2114|absent"/>
          <p:cNvSpPr/>
          <p:nvPr/>
        </p:nvSpPr>
        <p:spPr>
          <a:xfrm>
            <a:off x="18388360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3" name="Connector 842"/>
          <p:cNvCxnSpPr/>
          <p:nvPr/>
        </p:nvCxnSpPr>
        <p:spPr>
          <a:xfrm flipV="1">
            <a:off x="18388360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4" name="Connector 843"/>
          <p:cNvCxnSpPr/>
          <p:nvPr/>
        </p:nvCxnSpPr>
        <p:spPr>
          <a:xfrm flipV="1">
            <a:off x="18388360" y="531266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5" name="Connector 844"/>
          <p:cNvCxnSpPr/>
          <p:nvPr/>
        </p:nvCxnSpPr>
        <p:spPr>
          <a:xfrm flipV="1">
            <a:off x="18593543" y="552297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6" name="cell|Fuszard et al., 2012 - Proteomics - MIT9312|COG0454|nodata"/>
          <p:cNvSpPr/>
          <p:nvPr/>
        </p:nvSpPr>
        <p:spPr>
          <a:xfrm>
            <a:off x="18798725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cell|Fuszard et al., 2012 - Proteomics - MIT9312|COG2931|absent"/>
          <p:cNvSpPr/>
          <p:nvPr/>
        </p:nvSpPr>
        <p:spPr>
          <a:xfrm>
            <a:off x="19209090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8" name="Connector 847"/>
          <p:cNvCxnSpPr/>
          <p:nvPr/>
        </p:nvCxnSpPr>
        <p:spPr>
          <a:xfrm flipV="1">
            <a:off x="19209090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9" name="Connector 848"/>
          <p:cNvCxnSpPr/>
          <p:nvPr/>
        </p:nvCxnSpPr>
        <p:spPr>
          <a:xfrm flipV="1">
            <a:off x="19209090" y="531266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0" name="Connector 849"/>
          <p:cNvCxnSpPr/>
          <p:nvPr/>
        </p:nvCxnSpPr>
        <p:spPr>
          <a:xfrm flipV="1">
            <a:off x="19414273" y="552297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1" name="cell|Fuszard et al., 2012 - Proteomics - MIT9312|COG0412|nodata"/>
          <p:cNvSpPr/>
          <p:nvPr/>
        </p:nvSpPr>
        <p:spPr>
          <a:xfrm>
            <a:off x="19619455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cell|Fuszard et al., 2012 - Proteomics - MIT9312|COG4252|absent"/>
          <p:cNvSpPr/>
          <p:nvPr/>
        </p:nvSpPr>
        <p:spPr>
          <a:xfrm>
            <a:off x="20029820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3" name="Connector 852"/>
          <p:cNvCxnSpPr/>
          <p:nvPr/>
        </p:nvCxnSpPr>
        <p:spPr>
          <a:xfrm flipV="1">
            <a:off x="20029820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4" name="Connector 853"/>
          <p:cNvCxnSpPr/>
          <p:nvPr/>
        </p:nvCxnSpPr>
        <p:spPr>
          <a:xfrm flipV="1">
            <a:off x="20029820" y="531266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5" name="Connector 854"/>
          <p:cNvCxnSpPr/>
          <p:nvPr/>
        </p:nvCxnSpPr>
        <p:spPr>
          <a:xfrm flipV="1">
            <a:off x="20235002" y="552297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6" name="cell|Fuszard et al., 2012 - Proteomics - MIT9312|COG2192|nodata"/>
          <p:cNvSpPr/>
          <p:nvPr/>
        </p:nvSpPr>
        <p:spPr>
          <a:xfrm>
            <a:off x="20440185" y="5312664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cell|Fuszard et al., 2012 - Proteomics - MIT9312|COG2159|absent"/>
          <p:cNvSpPr/>
          <p:nvPr/>
        </p:nvSpPr>
        <p:spPr>
          <a:xfrm>
            <a:off x="20850550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8" name="Connector 857"/>
          <p:cNvCxnSpPr/>
          <p:nvPr/>
        </p:nvCxnSpPr>
        <p:spPr>
          <a:xfrm flipV="1">
            <a:off x="20850550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9" name="Connector 858"/>
          <p:cNvCxnSpPr/>
          <p:nvPr/>
        </p:nvCxnSpPr>
        <p:spPr>
          <a:xfrm flipV="1">
            <a:off x="20850550" y="531266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0" name="Connector 859"/>
          <p:cNvCxnSpPr/>
          <p:nvPr/>
        </p:nvCxnSpPr>
        <p:spPr>
          <a:xfrm flipV="1">
            <a:off x="21055732" y="552297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1" name="cell|Fuszard et al., 2012 - Proteomics - MIT9312|COG5651|absent"/>
          <p:cNvSpPr/>
          <p:nvPr/>
        </p:nvSpPr>
        <p:spPr>
          <a:xfrm>
            <a:off x="21260915" y="5312664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2" name="Connector 861"/>
          <p:cNvCxnSpPr/>
          <p:nvPr/>
        </p:nvCxnSpPr>
        <p:spPr>
          <a:xfrm flipV="1">
            <a:off x="21260915" y="5312664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3" name="Connector 862"/>
          <p:cNvCxnSpPr/>
          <p:nvPr/>
        </p:nvCxnSpPr>
        <p:spPr>
          <a:xfrm flipV="1">
            <a:off x="21260915" y="531266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4" name="Connector 863"/>
          <p:cNvCxnSpPr/>
          <p:nvPr/>
        </p:nvCxnSpPr>
        <p:spPr>
          <a:xfrm flipV="1">
            <a:off x="21466097" y="552297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5" name="TextBox 864"/>
          <p:cNvSpPr txBox="1"/>
          <p:nvPr/>
        </p:nvSpPr>
        <p:spPr>
          <a:xfrm>
            <a:off x="914400" y="5733288"/>
            <a:ext cx="370332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0B0B0B"/>
                </a:solidFill>
                <a:latin typeface="Arial"/>
              </a:rPr>
              <a:t>Fuszard et al., 2012 - Proteomics - NATL2A</a:t>
            </a:r>
          </a:p>
        </p:txBody>
      </p:sp>
      <p:sp>
        <p:nvSpPr>
          <p:cNvPr id="866" name="cell|Fuszard et al., 2012 - Proteomics - NATL2A|COG0188|nodata"/>
          <p:cNvSpPr/>
          <p:nvPr/>
        </p:nvSpPr>
        <p:spPr>
          <a:xfrm>
            <a:off x="4846320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cell|Fuszard et al., 2012 - Proteomics - NATL2A|COG1787|absent"/>
          <p:cNvSpPr/>
          <p:nvPr/>
        </p:nvSpPr>
        <p:spPr>
          <a:xfrm>
            <a:off x="5256684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8" name="Connector 867"/>
          <p:cNvCxnSpPr/>
          <p:nvPr/>
        </p:nvCxnSpPr>
        <p:spPr>
          <a:xfrm flipV="1">
            <a:off x="5256684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 flipV="1">
            <a:off x="5256684" y="573328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0" name="Connector 869"/>
          <p:cNvCxnSpPr/>
          <p:nvPr/>
        </p:nvCxnSpPr>
        <p:spPr>
          <a:xfrm flipV="1">
            <a:off x="5461867" y="594360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1" name="cell|Fuszard et al., 2012 - Proteomics - NATL2A|COG3727|absent"/>
          <p:cNvSpPr/>
          <p:nvPr/>
        </p:nvSpPr>
        <p:spPr>
          <a:xfrm>
            <a:off x="5667049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2" name="Connector 871"/>
          <p:cNvCxnSpPr/>
          <p:nvPr/>
        </p:nvCxnSpPr>
        <p:spPr>
          <a:xfrm flipV="1">
            <a:off x="5667049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3" name="Connector 872"/>
          <p:cNvCxnSpPr/>
          <p:nvPr/>
        </p:nvCxnSpPr>
        <p:spPr>
          <a:xfrm flipV="1">
            <a:off x="5667049" y="573328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4" name="Connector 873"/>
          <p:cNvCxnSpPr/>
          <p:nvPr/>
        </p:nvCxnSpPr>
        <p:spPr>
          <a:xfrm flipV="1">
            <a:off x="5872232" y="594360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5" name="cell|Fuszard et al., 2012 - Proteomics - NATL2A|COG1793|nodata"/>
          <p:cNvSpPr/>
          <p:nvPr/>
        </p:nvSpPr>
        <p:spPr>
          <a:xfrm>
            <a:off x="6077414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cell|Fuszard et al., 2012 - Proteomics - NATL2A|COG0640|nodata"/>
          <p:cNvSpPr/>
          <p:nvPr/>
        </p:nvSpPr>
        <p:spPr>
          <a:xfrm>
            <a:off x="6487779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cell|Fuszard et al., 2012 - Proteomics - NATL2A|COG1403|nodata"/>
          <p:cNvSpPr/>
          <p:nvPr/>
        </p:nvSpPr>
        <p:spPr>
          <a:xfrm>
            <a:off x="6898144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cell|Fuszard et al., 2012 - Proteomics - NATL2A|COG2214|nodata"/>
          <p:cNvSpPr/>
          <p:nvPr/>
        </p:nvSpPr>
        <p:spPr>
          <a:xfrm>
            <a:off x="7308509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cell|Fuszard et al., 2012 - Proteomics - NATL2A|COG0443|down"/>
          <p:cNvSpPr/>
          <p:nvPr/>
        </p:nvSpPr>
        <p:spPr>
          <a:xfrm>
            <a:off x="7718874" y="5733288"/>
            <a:ext cx="410364" cy="420624"/>
          </a:xfrm>
          <a:prstGeom prst="rect">
            <a:avLst/>
          </a:prstGeom>
          <a:solidFill>
            <a:srgbClr val="2A78D6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TextBox 879"/>
          <p:cNvSpPr txBox="1"/>
          <p:nvPr/>
        </p:nvSpPr>
        <p:spPr>
          <a:xfrm>
            <a:off x="7718874" y="573328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2/2/4</a:t>
            </a:r>
          </a:p>
        </p:txBody>
      </p:sp>
      <p:sp>
        <p:nvSpPr>
          <p:cNvPr id="881" name="cell|Fuszard et al., 2012 - Proteomics - NATL2A|COG0484|nodata"/>
          <p:cNvSpPr/>
          <p:nvPr/>
        </p:nvSpPr>
        <p:spPr>
          <a:xfrm>
            <a:off x="8129239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cell|Fuszard et al., 2012 - Proteomics - NATL2A|COG0330|nodata"/>
          <p:cNvSpPr/>
          <p:nvPr/>
        </p:nvSpPr>
        <p:spPr>
          <a:xfrm>
            <a:off x="8539603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cell|Fuszard et al., 2012 - Proteomics - NATL2A|COG1187|nodata"/>
          <p:cNvSpPr/>
          <p:nvPr/>
        </p:nvSpPr>
        <p:spPr>
          <a:xfrm>
            <a:off x="8949968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cell|Fuszard et al., 2012 - Proteomics - NATL2A|COG1454|nodata"/>
          <p:cNvSpPr/>
          <p:nvPr/>
        </p:nvSpPr>
        <p:spPr>
          <a:xfrm>
            <a:off x="9360333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cell|Fuszard et al., 2012 - Proteomics - NATL2A|COG2370|nodata"/>
          <p:cNvSpPr/>
          <p:nvPr/>
        </p:nvSpPr>
        <p:spPr>
          <a:xfrm>
            <a:off x="9770698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cell|Fuszard et al., 2012 - Proteomics - NATL2A|COG0367|absent"/>
          <p:cNvSpPr/>
          <p:nvPr/>
        </p:nvSpPr>
        <p:spPr>
          <a:xfrm>
            <a:off x="10181063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7" name="Connector 886"/>
          <p:cNvCxnSpPr/>
          <p:nvPr/>
        </p:nvCxnSpPr>
        <p:spPr>
          <a:xfrm flipV="1">
            <a:off x="10181063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8" name="Connector 887"/>
          <p:cNvCxnSpPr/>
          <p:nvPr/>
        </p:nvCxnSpPr>
        <p:spPr>
          <a:xfrm flipV="1">
            <a:off x="10181063" y="573328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9" name="Connector 888"/>
          <p:cNvCxnSpPr/>
          <p:nvPr/>
        </p:nvCxnSpPr>
        <p:spPr>
          <a:xfrm flipV="1">
            <a:off x="10386245" y="594360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0" name="cell|Fuszard et al., 2012 - Proteomics - NATL2A|COG0082|nodata"/>
          <p:cNvSpPr/>
          <p:nvPr/>
        </p:nvSpPr>
        <p:spPr>
          <a:xfrm>
            <a:off x="10591428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cell|Fuszard et al., 2012 - Proteomics - NATL2A|COG2274|nodata"/>
          <p:cNvSpPr/>
          <p:nvPr/>
        </p:nvSpPr>
        <p:spPr>
          <a:xfrm>
            <a:off x="11001793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cell|Fuszard et al., 2012 - Proteomics - NATL2A|COG1989|nodata"/>
          <p:cNvSpPr/>
          <p:nvPr/>
        </p:nvSpPr>
        <p:spPr>
          <a:xfrm>
            <a:off x="11412158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cell|Fuszard et al., 2012 - Proteomics - NATL2A|COG0845|nodata"/>
          <p:cNvSpPr/>
          <p:nvPr/>
        </p:nvSpPr>
        <p:spPr>
          <a:xfrm>
            <a:off x="11822522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cell|Fuszard et al., 2012 - Proteomics - NATL2A|COG0488|nodata"/>
          <p:cNvSpPr/>
          <p:nvPr/>
        </p:nvSpPr>
        <p:spPr>
          <a:xfrm>
            <a:off x="12232887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cell|Fuszard et al., 2012 - Proteomics - NATL2A|COG0697|nodata"/>
          <p:cNvSpPr/>
          <p:nvPr/>
        </p:nvSpPr>
        <p:spPr>
          <a:xfrm>
            <a:off x="12643252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cell|Fuszard et al., 2012 - Proteomics - NATL2A|COG3839|nodata"/>
          <p:cNvSpPr/>
          <p:nvPr/>
        </p:nvSpPr>
        <p:spPr>
          <a:xfrm>
            <a:off x="13053617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cell|Fuszard et al., 2012 - Proteomics - NATL2A|COG1212|absent"/>
          <p:cNvSpPr/>
          <p:nvPr/>
        </p:nvSpPr>
        <p:spPr>
          <a:xfrm>
            <a:off x="13463982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8" name="Connector 897"/>
          <p:cNvCxnSpPr/>
          <p:nvPr/>
        </p:nvCxnSpPr>
        <p:spPr>
          <a:xfrm flipV="1">
            <a:off x="13463982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9" name="Connector 898"/>
          <p:cNvCxnSpPr/>
          <p:nvPr/>
        </p:nvCxnSpPr>
        <p:spPr>
          <a:xfrm flipV="1">
            <a:off x="13463982" y="573328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" name="Connector 899"/>
          <p:cNvCxnSpPr/>
          <p:nvPr/>
        </p:nvCxnSpPr>
        <p:spPr>
          <a:xfrm flipV="1">
            <a:off x="13669164" y="594360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" name="cell|Fuszard et al., 2012 - Proteomics - NATL2A|COG0477|ns"/>
          <p:cNvSpPr/>
          <p:nvPr/>
        </p:nvSpPr>
        <p:spPr>
          <a:xfrm>
            <a:off x="13874347" y="5733288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TextBox 901"/>
          <p:cNvSpPr txBox="1"/>
          <p:nvPr/>
        </p:nvSpPr>
        <p:spPr>
          <a:xfrm>
            <a:off x="13874347" y="5733288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0/1/28</a:t>
            </a:r>
          </a:p>
        </p:txBody>
      </p:sp>
      <p:sp>
        <p:nvSpPr>
          <p:cNvPr id="903" name="cell|Fuszard et al., 2012 - Proteomics - NATL2A|COG1472|nodata"/>
          <p:cNvSpPr/>
          <p:nvPr/>
        </p:nvSpPr>
        <p:spPr>
          <a:xfrm>
            <a:off x="14284712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cell|Fuszard et al., 2012 - Proteomics - NATL2A|COG3754|absent"/>
          <p:cNvSpPr/>
          <p:nvPr/>
        </p:nvSpPr>
        <p:spPr>
          <a:xfrm>
            <a:off x="14695077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5" name="Connector 904"/>
          <p:cNvCxnSpPr/>
          <p:nvPr/>
        </p:nvCxnSpPr>
        <p:spPr>
          <a:xfrm flipV="1">
            <a:off x="14695077" y="5733288"/>
            <a:ext cx="410364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 flipV="1">
            <a:off x="14695077" y="573328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" name="Connector 906"/>
          <p:cNvCxnSpPr/>
          <p:nvPr/>
        </p:nvCxnSpPr>
        <p:spPr>
          <a:xfrm flipV="1">
            <a:off x="14900259" y="594360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" name="cell|Fuszard et al., 2012 - Proteomics - NATL2A|COG0399|nodata"/>
          <p:cNvSpPr/>
          <p:nvPr/>
        </p:nvSpPr>
        <p:spPr>
          <a:xfrm>
            <a:off x="15105441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cell|Fuszard et al., 2012 - Proteomics - NATL2A|COG0673|nodata"/>
          <p:cNvSpPr/>
          <p:nvPr/>
        </p:nvSpPr>
        <p:spPr>
          <a:xfrm>
            <a:off x="15515806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cell|Fuszard et al., 2012 - Proteomics - NATL2A|COG0810|nodata"/>
          <p:cNvSpPr/>
          <p:nvPr/>
        </p:nvSpPr>
        <p:spPr>
          <a:xfrm>
            <a:off x="15926171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cell|Fuszard et al., 2012 - Proteomics - NATL2A|COG3206|absent"/>
          <p:cNvSpPr/>
          <p:nvPr/>
        </p:nvSpPr>
        <p:spPr>
          <a:xfrm>
            <a:off x="16336536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2" name="Connector 911"/>
          <p:cNvCxnSpPr/>
          <p:nvPr/>
        </p:nvCxnSpPr>
        <p:spPr>
          <a:xfrm flipV="1">
            <a:off x="16336536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" name="Connector 912"/>
          <p:cNvCxnSpPr/>
          <p:nvPr/>
        </p:nvCxnSpPr>
        <p:spPr>
          <a:xfrm flipV="1">
            <a:off x="16336536" y="573328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" name="Connector 913"/>
          <p:cNvCxnSpPr/>
          <p:nvPr/>
        </p:nvCxnSpPr>
        <p:spPr>
          <a:xfrm flipV="1">
            <a:off x="16541719" y="594360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5" name="cell|Fuszard et al., 2012 - Proteomics - NATL2A|COG1596|absent"/>
          <p:cNvSpPr/>
          <p:nvPr/>
        </p:nvSpPr>
        <p:spPr>
          <a:xfrm>
            <a:off x="16746901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6" name="Connector 915"/>
          <p:cNvCxnSpPr/>
          <p:nvPr/>
        </p:nvCxnSpPr>
        <p:spPr>
          <a:xfrm flipV="1">
            <a:off x="16746901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 flipV="1">
            <a:off x="16746901" y="573328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 flipV="1">
            <a:off x="16952083" y="594360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9" name="cell|Fuszard et al., 2012 - Proteomics - NATL2A|COG1462|absent"/>
          <p:cNvSpPr/>
          <p:nvPr/>
        </p:nvSpPr>
        <p:spPr>
          <a:xfrm>
            <a:off x="17157266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0" name="Connector 919"/>
          <p:cNvCxnSpPr/>
          <p:nvPr/>
        </p:nvCxnSpPr>
        <p:spPr>
          <a:xfrm flipV="1">
            <a:off x="17157266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 flipV="1">
            <a:off x="17157266" y="573328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 flipV="1">
            <a:off x="17362448" y="594360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3" name="cell|Fuszard et al., 2012 - Proteomics - NATL2A|COG3210|nodata"/>
          <p:cNvSpPr/>
          <p:nvPr/>
        </p:nvSpPr>
        <p:spPr>
          <a:xfrm>
            <a:off x="17567631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cell|Fuszard et al., 2012 - Proteomics - NATL2A|COG2010|nodata"/>
          <p:cNvSpPr/>
          <p:nvPr/>
        </p:nvSpPr>
        <p:spPr>
          <a:xfrm>
            <a:off x="17977996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cell|Fuszard et al., 2012 - Proteomics - NATL2A|COG2114|absent"/>
          <p:cNvSpPr/>
          <p:nvPr/>
        </p:nvSpPr>
        <p:spPr>
          <a:xfrm>
            <a:off x="18388360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6" name="Connector 925"/>
          <p:cNvCxnSpPr/>
          <p:nvPr/>
        </p:nvCxnSpPr>
        <p:spPr>
          <a:xfrm flipV="1">
            <a:off x="18388360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 flipV="1">
            <a:off x="18388360" y="573328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 flipV="1">
            <a:off x="18593543" y="594360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9" name="cell|Fuszard et al., 2012 - Proteomics - NATL2A|COG0454|nodata"/>
          <p:cNvSpPr/>
          <p:nvPr/>
        </p:nvSpPr>
        <p:spPr>
          <a:xfrm>
            <a:off x="18798725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cell|Fuszard et al., 2012 - Proteomics - NATL2A|COG2931|nodata"/>
          <p:cNvSpPr/>
          <p:nvPr/>
        </p:nvSpPr>
        <p:spPr>
          <a:xfrm>
            <a:off x="19209090" y="5733288"/>
            <a:ext cx="410364" cy="420624"/>
          </a:xfrm>
          <a:prstGeom prst="rect">
            <a:avLst/>
          </a:prstGeom>
          <a:solidFill>
            <a:srgbClr val="E7E4D8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cell|Fuszard et al., 2012 - Proteomics - NATL2A|COG0412|absent"/>
          <p:cNvSpPr/>
          <p:nvPr/>
        </p:nvSpPr>
        <p:spPr>
          <a:xfrm>
            <a:off x="19619455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2" name="Connector 931"/>
          <p:cNvCxnSpPr/>
          <p:nvPr/>
        </p:nvCxnSpPr>
        <p:spPr>
          <a:xfrm flipV="1">
            <a:off x="19619455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3" name="Connector 932"/>
          <p:cNvCxnSpPr/>
          <p:nvPr/>
        </p:nvCxnSpPr>
        <p:spPr>
          <a:xfrm flipV="1">
            <a:off x="19619455" y="573328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4" name="Connector 933"/>
          <p:cNvCxnSpPr/>
          <p:nvPr/>
        </p:nvCxnSpPr>
        <p:spPr>
          <a:xfrm flipV="1">
            <a:off x="19824638" y="5943600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5" name="cell|Fuszard et al., 2012 - Proteomics - NATL2A|COG4252|absent"/>
          <p:cNvSpPr/>
          <p:nvPr/>
        </p:nvSpPr>
        <p:spPr>
          <a:xfrm>
            <a:off x="20029820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6" name="Connector 935"/>
          <p:cNvCxnSpPr/>
          <p:nvPr/>
        </p:nvCxnSpPr>
        <p:spPr>
          <a:xfrm flipV="1">
            <a:off x="20029820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7" name="Connector 936"/>
          <p:cNvCxnSpPr/>
          <p:nvPr/>
        </p:nvCxnSpPr>
        <p:spPr>
          <a:xfrm flipV="1">
            <a:off x="20029820" y="573328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8" name="Connector 937"/>
          <p:cNvCxnSpPr/>
          <p:nvPr/>
        </p:nvCxnSpPr>
        <p:spPr>
          <a:xfrm flipV="1">
            <a:off x="20235002" y="594360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9" name="cell|Fuszard et al., 2012 - Proteomics - NATL2A|COG2192|absent"/>
          <p:cNvSpPr/>
          <p:nvPr/>
        </p:nvSpPr>
        <p:spPr>
          <a:xfrm>
            <a:off x="20440185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0" name="Connector 939"/>
          <p:cNvCxnSpPr/>
          <p:nvPr/>
        </p:nvCxnSpPr>
        <p:spPr>
          <a:xfrm flipV="1">
            <a:off x="20440185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 flipV="1">
            <a:off x="20440185" y="573328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 flipV="1">
            <a:off x="20645367" y="594360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3" name="cell|Fuszard et al., 2012 - Proteomics - NATL2A|COG2159|absent"/>
          <p:cNvSpPr/>
          <p:nvPr/>
        </p:nvSpPr>
        <p:spPr>
          <a:xfrm>
            <a:off x="20850550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4" name="Connector 943"/>
          <p:cNvCxnSpPr/>
          <p:nvPr/>
        </p:nvCxnSpPr>
        <p:spPr>
          <a:xfrm flipV="1">
            <a:off x="20850550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5" name="Connector 944"/>
          <p:cNvCxnSpPr/>
          <p:nvPr/>
        </p:nvCxnSpPr>
        <p:spPr>
          <a:xfrm flipV="1">
            <a:off x="20850550" y="573328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6" name="Connector 945"/>
          <p:cNvCxnSpPr/>
          <p:nvPr/>
        </p:nvCxnSpPr>
        <p:spPr>
          <a:xfrm flipV="1">
            <a:off x="21055732" y="594360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7" name="cell|Fuszard et al., 2012 - Proteomics - NATL2A|COG5651|absent"/>
          <p:cNvSpPr/>
          <p:nvPr/>
        </p:nvSpPr>
        <p:spPr>
          <a:xfrm>
            <a:off x="21260915" y="5733288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8" name="Connector 947"/>
          <p:cNvCxnSpPr/>
          <p:nvPr/>
        </p:nvCxnSpPr>
        <p:spPr>
          <a:xfrm flipV="1">
            <a:off x="21260915" y="5733288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 flipV="1">
            <a:off x="21260915" y="573328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V="1">
            <a:off x="21466097" y="5943600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1" name="TextBox 950"/>
          <p:cNvSpPr txBox="1"/>
          <p:nvPr/>
        </p:nvSpPr>
        <p:spPr>
          <a:xfrm>
            <a:off x="914400" y="6153912"/>
            <a:ext cx="370332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0B0B0B"/>
                </a:solidFill>
                <a:latin typeface="Arial"/>
              </a:rPr>
              <a:t>Martiny et al., 2006 - Microarray - MED4</a:t>
            </a:r>
          </a:p>
        </p:txBody>
      </p:sp>
      <p:sp>
        <p:nvSpPr>
          <p:cNvPr id="952" name="cell|Martiny et al., 2006 - Microarray - MED4|COG0188|up"/>
          <p:cNvSpPr/>
          <p:nvPr/>
        </p:nvSpPr>
        <p:spPr>
          <a:xfrm>
            <a:off x="4846320" y="6153912"/>
            <a:ext cx="410364" cy="420624"/>
          </a:xfrm>
          <a:prstGeom prst="rect">
            <a:avLst/>
          </a:prstGeom>
          <a:solidFill>
            <a:srgbClr val="BE837C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TextBox 952"/>
          <p:cNvSpPr txBox="1"/>
          <p:nvPr/>
        </p:nvSpPr>
        <p:spPr>
          <a:xfrm>
            <a:off x="4846320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1/6/6</a:t>
            </a:r>
          </a:p>
        </p:txBody>
      </p:sp>
      <p:sp>
        <p:nvSpPr>
          <p:cNvPr id="954" name="cell|Martiny et al., 2006 - Microarray - MED4|COG1787|ns"/>
          <p:cNvSpPr/>
          <p:nvPr/>
        </p:nvSpPr>
        <p:spPr>
          <a:xfrm>
            <a:off x="5256684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5256684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956" name="cell|Martiny et al., 2006 - Microarray - MED4|COG3727|absent"/>
          <p:cNvSpPr/>
          <p:nvPr/>
        </p:nvSpPr>
        <p:spPr>
          <a:xfrm>
            <a:off x="5667049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7" name="Connector 956"/>
          <p:cNvCxnSpPr/>
          <p:nvPr/>
        </p:nvCxnSpPr>
        <p:spPr>
          <a:xfrm flipV="1">
            <a:off x="5667049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8" name="Connector 957"/>
          <p:cNvCxnSpPr/>
          <p:nvPr/>
        </p:nvCxnSpPr>
        <p:spPr>
          <a:xfrm flipV="1">
            <a:off x="5667049" y="615391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9" name="Connector 958"/>
          <p:cNvCxnSpPr/>
          <p:nvPr/>
        </p:nvCxnSpPr>
        <p:spPr>
          <a:xfrm flipV="1">
            <a:off x="5872232" y="636422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0" name="cell|Martiny et al., 2006 - Microarray - MED4|COG1793|ns"/>
          <p:cNvSpPr/>
          <p:nvPr/>
        </p:nvSpPr>
        <p:spPr>
          <a:xfrm>
            <a:off x="6077414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6077414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962" name="cell|Martiny et al., 2006 - Microarray - MED4|COG0640|ns"/>
          <p:cNvSpPr/>
          <p:nvPr/>
        </p:nvSpPr>
        <p:spPr>
          <a:xfrm>
            <a:off x="6487779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TextBox 962"/>
          <p:cNvSpPr txBox="1"/>
          <p:nvPr/>
        </p:nvSpPr>
        <p:spPr>
          <a:xfrm>
            <a:off x="6487779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964" name="cell|Martiny et al., 2006 - Microarray - MED4|COG1403|up"/>
          <p:cNvSpPr/>
          <p:nvPr/>
        </p:nvSpPr>
        <p:spPr>
          <a:xfrm>
            <a:off x="6898144" y="6153912"/>
            <a:ext cx="410364" cy="420624"/>
          </a:xfrm>
          <a:prstGeom prst="rect">
            <a:avLst/>
          </a:prstGeom>
          <a:solidFill>
            <a:srgbClr val="C27D77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TextBox 964"/>
          <p:cNvSpPr txBox="1"/>
          <p:nvPr/>
        </p:nvSpPr>
        <p:spPr>
          <a:xfrm>
            <a:off x="6898144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1/4/4</a:t>
            </a:r>
          </a:p>
        </p:txBody>
      </p:sp>
      <p:sp>
        <p:nvSpPr>
          <p:cNvPr id="966" name="cell|Martiny et al., 2006 - Microarray - MED4|COG2214|ns"/>
          <p:cNvSpPr/>
          <p:nvPr/>
        </p:nvSpPr>
        <p:spPr>
          <a:xfrm>
            <a:off x="7308509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TextBox 966"/>
          <p:cNvSpPr txBox="1"/>
          <p:nvPr/>
        </p:nvSpPr>
        <p:spPr>
          <a:xfrm>
            <a:off x="7308509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968" name="cell|Martiny et al., 2006 - Microarray - MED4|COG0443|ns"/>
          <p:cNvSpPr/>
          <p:nvPr/>
        </p:nvSpPr>
        <p:spPr>
          <a:xfrm>
            <a:off x="7718874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TextBox 968"/>
          <p:cNvSpPr txBox="1"/>
          <p:nvPr/>
        </p:nvSpPr>
        <p:spPr>
          <a:xfrm>
            <a:off x="7718874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970" name="cell|Martiny et al., 2006 - Microarray - MED4|COG0484|ns"/>
          <p:cNvSpPr/>
          <p:nvPr/>
        </p:nvSpPr>
        <p:spPr>
          <a:xfrm>
            <a:off x="8129239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8129239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972" name="cell|Martiny et al., 2006 - Microarray - MED4|COG0330|ns"/>
          <p:cNvSpPr/>
          <p:nvPr/>
        </p:nvSpPr>
        <p:spPr>
          <a:xfrm>
            <a:off x="8539603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TextBox 972"/>
          <p:cNvSpPr txBox="1"/>
          <p:nvPr/>
        </p:nvSpPr>
        <p:spPr>
          <a:xfrm>
            <a:off x="8539603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974" name="cell|Martiny et al., 2006 - Microarray - MED4|COG1187|ns"/>
          <p:cNvSpPr/>
          <p:nvPr/>
        </p:nvSpPr>
        <p:spPr>
          <a:xfrm>
            <a:off x="8949968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TextBox 974"/>
          <p:cNvSpPr txBox="1"/>
          <p:nvPr/>
        </p:nvSpPr>
        <p:spPr>
          <a:xfrm>
            <a:off x="8949968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976" name="cell|Martiny et al., 2006 - Microarray - MED4|COG1454|absent"/>
          <p:cNvSpPr/>
          <p:nvPr/>
        </p:nvSpPr>
        <p:spPr>
          <a:xfrm>
            <a:off x="9360333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7" name="Connector 976"/>
          <p:cNvCxnSpPr/>
          <p:nvPr/>
        </p:nvCxnSpPr>
        <p:spPr>
          <a:xfrm flipV="1">
            <a:off x="9360333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V="1">
            <a:off x="9360333" y="615391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V="1">
            <a:off x="9565516" y="636422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0" name="cell|Martiny et al., 2006 - Microarray - MED4|COG2370|ns"/>
          <p:cNvSpPr/>
          <p:nvPr/>
        </p:nvSpPr>
        <p:spPr>
          <a:xfrm>
            <a:off x="9770698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TextBox 980"/>
          <p:cNvSpPr txBox="1"/>
          <p:nvPr/>
        </p:nvSpPr>
        <p:spPr>
          <a:xfrm>
            <a:off x="9770698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982" name="cell|Martiny et al., 2006 - Microarray - MED4|COG0367|absent"/>
          <p:cNvSpPr/>
          <p:nvPr/>
        </p:nvSpPr>
        <p:spPr>
          <a:xfrm>
            <a:off x="10181063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3" name="Connector 982"/>
          <p:cNvCxnSpPr/>
          <p:nvPr/>
        </p:nvCxnSpPr>
        <p:spPr>
          <a:xfrm flipV="1">
            <a:off x="10181063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V="1">
            <a:off x="10181063" y="615391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V="1">
            <a:off x="10386245" y="636422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6" name="cell|Martiny et al., 2006 - Microarray - MED4|COG0082|ns"/>
          <p:cNvSpPr/>
          <p:nvPr/>
        </p:nvSpPr>
        <p:spPr>
          <a:xfrm>
            <a:off x="10591428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TextBox 986"/>
          <p:cNvSpPr txBox="1"/>
          <p:nvPr/>
        </p:nvSpPr>
        <p:spPr>
          <a:xfrm>
            <a:off x="10591428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988" name="cell|Martiny et al., 2006 - Microarray - MED4|COG2274|absent"/>
          <p:cNvSpPr/>
          <p:nvPr/>
        </p:nvSpPr>
        <p:spPr>
          <a:xfrm>
            <a:off x="11001793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9" name="Connector 988"/>
          <p:cNvCxnSpPr/>
          <p:nvPr/>
        </p:nvCxnSpPr>
        <p:spPr>
          <a:xfrm flipV="1">
            <a:off x="11001793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V="1">
            <a:off x="11001793" y="615391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V="1">
            <a:off x="11206975" y="636422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2" name="cell|Martiny et al., 2006 - Microarray - MED4|COG1989|absent"/>
          <p:cNvSpPr/>
          <p:nvPr/>
        </p:nvSpPr>
        <p:spPr>
          <a:xfrm>
            <a:off x="11412158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3" name="Connector 992"/>
          <p:cNvCxnSpPr/>
          <p:nvPr/>
        </p:nvCxnSpPr>
        <p:spPr>
          <a:xfrm flipV="1">
            <a:off x="11412158" y="6153912"/>
            <a:ext cx="410364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V="1">
            <a:off x="11412158" y="615391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 flipV="1">
            <a:off x="11617340" y="636422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6" name="cell|Martiny et al., 2006 - Microarray - MED4|COG0845|ns"/>
          <p:cNvSpPr/>
          <p:nvPr/>
        </p:nvSpPr>
        <p:spPr>
          <a:xfrm>
            <a:off x="11822522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TextBox 996"/>
          <p:cNvSpPr txBox="1"/>
          <p:nvPr/>
        </p:nvSpPr>
        <p:spPr>
          <a:xfrm>
            <a:off x="11822522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998" name="cell|Martiny et al., 2006 - Microarray - MED4|COG0488|ns"/>
          <p:cNvSpPr/>
          <p:nvPr/>
        </p:nvSpPr>
        <p:spPr>
          <a:xfrm>
            <a:off x="12232887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2232887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1000" name="cell|Martiny et al., 2006 - Microarray - MED4|COG0697|ns"/>
          <p:cNvSpPr/>
          <p:nvPr/>
        </p:nvSpPr>
        <p:spPr>
          <a:xfrm>
            <a:off x="12643252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TextBox 1000"/>
          <p:cNvSpPr txBox="1"/>
          <p:nvPr/>
        </p:nvSpPr>
        <p:spPr>
          <a:xfrm>
            <a:off x="12643252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0/9/9</a:t>
            </a:r>
          </a:p>
        </p:txBody>
      </p:sp>
      <p:sp>
        <p:nvSpPr>
          <p:cNvPr id="1002" name="cell|Martiny et al., 2006 - Microarray - MED4|COG3839|absent"/>
          <p:cNvSpPr/>
          <p:nvPr/>
        </p:nvSpPr>
        <p:spPr>
          <a:xfrm>
            <a:off x="13053617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3" name="Connector 1002"/>
          <p:cNvCxnSpPr/>
          <p:nvPr/>
        </p:nvCxnSpPr>
        <p:spPr>
          <a:xfrm flipV="1">
            <a:off x="13053617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V="1">
            <a:off x="13053617" y="615391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V="1">
            <a:off x="13258799" y="636422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6" name="cell|Martiny et al., 2006 - Microarray - MED4|COG1212|absent"/>
          <p:cNvSpPr/>
          <p:nvPr/>
        </p:nvSpPr>
        <p:spPr>
          <a:xfrm>
            <a:off x="13463982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7" name="Connector 1006"/>
          <p:cNvCxnSpPr/>
          <p:nvPr/>
        </p:nvCxnSpPr>
        <p:spPr>
          <a:xfrm flipV="1">
            <a:off x="13463982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 flipV="1">
            <a:off x="13463982" y="615391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 flipV="1">
            <a:off x="13669164" y="636422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0" name="cell|Martiny et al., 2006 - Microarray - MED4|COG0477|up"/>
          <p:cNvSpPr/>
          <p:nvPr/>
        </p:nvSpPr>
        <p:spPr>
          <a:xfrm>
            <a:off x="13874347" y="6153912"/>
            <a:ext cx="410364" cy="420624"/>
          </a:xfrm>
          <a:prstGeom prst="rect">
            <a:avLst/>
          </a:prstGeom>
          <a:solidFill>
            <a:srgbClr val="BA8981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13874347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2/25/25</a:t>
            </a:r>
          </a:p>
        </p:txBody>
      </p:sp>
      <p:sp>
        <p:nvSpPr>
          <p:cNvPr id="1012" name="cell|Martiny et al., 2006 - Microarray - MED4|COG1472|absent"/>
          <p:cNvSpPr/>
          <p:nvPr/>
        </p:nvSpPr>
        <p:spPr>
          <a:xfrm>
            <a:off x="14284712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3" name="Connector 1012"/>
          <p:cNvCxnSpPr/>
          <p:nvPr/>
        </p:nvCxnSpPr>
        <p:spPr>
          <a:xfrm flipV="1">
            <a:off x="14284712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V="1">
            <a:off x="14284712" y="615391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V="1">
            <a:off x="14489894" y="636422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6" name="cell|Martiny et al., 2006 - Microarray - MED4|COG3754|absent"/>
          <p:cNvSpPr/>
          <p:nvPr/>
        </p:nvSpPr>
        <p:spPr>
          <a:xfrm>
            <a:off x="14695077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7" name="Connector 1016"/>
          <p:cNvCxnSpPr/>
          <p:nvPr/>
        </p:nvCxnSpPr>
        <p:spPr>
          <a:xfrm flipV="1">
            <a:off x="14695077" y="6153912"/>
            <a:ext cx="410364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14695077" y="615391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14900259" y="636422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0" name="cell|Martiny et al., 2006 - Microarray - MED4|COG0399|ns"/>
          <p:cNvSpPr/>
          <p:nvPr/>
        </p:nvSpPr>
        <p:spPr>
          <a:xfrm>
            <a:off x="15105441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TextBox 1020"/>
          <p:cNvSpPr txBox="1"/>
          <p:nvPr/>
        </p:nvSpPr>
        <p:spPr>
          <a:xfrm>
            <a:off x="15105441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1022" name="cell|Martiny et al., 2006 - Microarray - MED4|COG0673|ns"/>
          <p:cNvSpPr/>
          <p:nvPr/>
        </p:nvSpPr>
        <p:spPr>
          <a:xfrm>
            <a:off x="15515806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15515806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024" name="cell|Martiny et al., 2006 - Microarray - MED4|COG0810|absent"/>
          <p:cNvSpPr/>
          <p:nvPr/>
        </p:nvSpPr>
        <p:spPr>
          <a:xfrm>
            <a:off x="15926171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5" name="Connector 1024"/>
          <p:cNvCxnSpPr/>
          <p:nvPr/>
        </p:nvCxnSpPr>
        <p:spPr>
          <a:xfrm flipV="1">
            <a:off x="15926171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 flipV="1">
            <a:off x="15926171" y="615391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V="1">
            <a:off x="16131354" y="636422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8" name="cell|Martiny et al., 2006 - Microarray - MED4|COG3206|absent"/>
          <p:cNvSpPr/>
          <p:nvPr/>
        </p:nvSpPr>
        <p:spPr>
          <a:xfrm>
            <a:off x="16336536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9" name="Connector 1028"/>
          <p:cNvCxnSpPr/>
          <p:nvPr/>
        </p:nvCxnSpPr>
        <p:spPr>
          <a:xfrm flipV="1">
            <a:off x="16336536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V="1">
            <a:off x="16336536" y="615391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 flipV="1">
            <a:off x="16541719" y="636422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2" name="cell|Martiny et al., 2006 - Microarray - MED4|COG1596|ns"/>
          <p:cNvSpPr/>
          <p:nvPr/>
        </p:nvSpPr>
        <p:spPr>
          <a:xfrm>
            <a:off x="16746901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TextBox 1032"/>
          <p:cNvSpPr txBox="1"/>
          <p:nvPr/>
        </p:nvSpPr>
        <p:spPr>
          <a:xfrm>
            <a:off x="16746901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034" name="cell|Martiny et al., 2006 - Microarray - MED4|COG1462|absent"/>
          <p:cNvSpPr/>
          <p:nvPr/>
        </p:nvSpPr>
        <p:spPr>
          <a:xfrm>
            <a:off x="17157266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5" name="Connector 1034"/>
          <p:cNvCxnSpPr/>
          <p:nvPr/>
        </p:nvCxnSpPr>
        <p:spPr>
          <a:xfrm flipV="1">
            <a:off x="17157266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V="1">
            <a:off x="17157266" y="615391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 flipV="1">
            <a:off x="17362448" y="636422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cell|Martiny et al., 2006 - Microarray - MED4|COG3210|ns"/>
          <p:cNvSpPr/>
          <p:nvPr/>
        </p:nvSpPr>
        <p:spPr>
          <a:xfrm>
            <a:off x="17567631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7567631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040" name="cell|Martiny et al., 2006 - Microarray - MED4|COG2010|ns"/>
          <p:cNvSpPr/>
          <p:nvPr/>
        </p:nvSpPr>
        <p:spPr>
          <a:xfrm>
            <a:off x="17977996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TextBox 1040"/>
          <p:cNvSpPr txBox="1"/>
          <p:nvPr/>
        </p:nvSpPr>
        <p:spPr>
          <a:xfrm>
            <a:off x="17977996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042" name="cell|Martiny et al., 2006 - Microarray - MED4|COG2114|absent"/>
          <p:cNvSpPr/>
          <p:nvPr/>
        </p:nvSpPr>
        <p:spPr>
          <a:xfrm>
            <a:off x="18388360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3" name="Connector 1042"/>
          <p:cNvCxnSpPr/>
          <p:nvPr/>
        </p:nvCxnSpPr>
        <p:spPr>
          <a:xfrm flipV="1">
            <a:off x="18388360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 flipV="1">
            <a:off x="18388360" y="615391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 flipV="1">
            <a:off x="18593543" y="636422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6" name="cell|Martiny et al., 2006 - Microarray - MED4|COG0454|ns"/>
          <p:cNvSpPr/>
          <p:nvPr/>
        </p:nvSpPr>
        <p:spPr>
          <a:xfrm>
            <a:off x="18798725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18798725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1048" name="cell|Martiny et al., 2006 - Microarray - MED4|COG2931|absent"/>
          <p:cNvSpPr/>
          <p:nvPr/>
        </p:nvSpPr>
        <p:spPr>
          <a:xfrm>
            <a:off x="19209090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9" name="Connector 1048"/>
          <p:cNvCxnSpPr/>
          <p:nvPr/>
        </p:nvCxnSpPr>
        <p:spPr>
          <a:xfrm flipV="1">
            <a:off x="19209090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19209090" y="615391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19414273" y="636422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cell|Martiny et al., 2006 - Microarray - MED4|COG0412|absent"/>
          <p:cNvSpPr/>
          <p:nvPr/>
        </p:nvSpPr>
        <p:spPr>
          <a:xfrm>
            <a:off x="19619455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3" name="Connector 1052"/>
          <p:cNvCxnSpPr/>
          <p:nvPr/>
        </p:nvCxnSpPr>
        <p:spPr>
          <a:xfrm flipV="1">
            <a:off x="19619455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V="1">
            <a:off x="19619455" y="6153912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 flipV="1">
            <a:off x="19824638" y="6364224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cell|Martiny et al., 2006 - Microarray - MED4|COG4252|absent"/>
          <p:cNvSpPr/>
          <p:nvPr/>
        </p:nvSpPr>
        <p:spPr>
          <a:xfrm>
            <a:off x="20029820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7" name="Connector 1056"/>
          <p:cNvCxnSpPr/>
          <p:nvPr/>
        </p:nvCxnSpPr>
        <p:spPr>
          <a:xfrm flipV="1">
            <a:off x="20029820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 flipV="1">
            <a:off x="20029820" y="615391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 flipV="1">
            <a:off x="20235002" y="636422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cell|Martiny et al., 2006 - Microarray - MED4|COG2192|ns"/>
          <p:cNvSpPr/>
          <p:nvPr/>
        </p:nvSpPr>
        <p:spPr>
          <a:xfrm>
            <a:off x="20440185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TextBox 1060"/>
          <p:cNvSpPr txBox="1"/>
          <p:nvPr/>
        </p:nvSpPr>
        <p:spPr>
          <a:xfrm>
            <a:off x="20440185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062" name="cell|Martiny et al., 2006 - Microarray - MED4|COG2159|ns"/>
          <p:cNvSpPr/>
          <p:nvPr/>
        </p:nvSpPr>
        <p:spPr>
          <a:xfrm>
            <a:off x="20850550" y="6153912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20850550" y="6153912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064" name="cell|Martiny et al., 2006 - Microarray - MED4|COG5651|absent"/>
          <p:cNvSpPr/>
          <p:nvPr/>
        </p:nvSpPr>
        <p:spPr>
          <a:xfrm>
            <a:off x="21260915" y="6153912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5" name="Connector 1064"/>
          <p:cNvCxnSpPr/>
          <p:nvPr/>
        </p:nvCxnSpPr>
        <p:spPr>
          <a:xfrm flipV="1">
            <a:off x="21260915" y="6153912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 flipV="1">
            <a:off x="21260915" y="6153912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V="1">
            <a:off x="21466097" y="6364224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8" name="TextBox 1067"/>
          <p:cNvSpPr txBox="1"/>
          <p:nvPr/>
        </p:nvSpPr>
        <p:spPr>
          <a:xfrm>
            <a:off x="914400" y="6574536"/>
            <a:ext cx="3703320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0B0B0B"/>
                </a:solidFill>
                <a:latin typeface="Arial"/>
              </a:rPr>
              <a:t>Martiny et al., 2006 - Microarray - MIT9313*</a:t>
            </a:r>
          </a:p>
        </p:txBody>
      </p:sp>
      <p:sp>
        <p:nvSpPr>
          <p:cNvPr id="1069" name="cell|Martiny et al., 2006 - Microarray - MIT9313*|COG0188|ns"/>
          <p:cNvSpPr/>
          <p:nvPr/>
        </p:nvSpPr>
        <p:spPr>
          <a:xfrm>
            <a:off x="4846320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4846320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1071" name="cell|Martiny et al., 2006 - Microarray - MIT9313*|COG1787|absent"/>
          <p:cNvSpPr/>
          <p:nvPr/>
        </p:nvSpPr>
        <p:spPr>
          <a:xfrm>
            <a:off x="5256684" y="657453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2" name="Connector 1071"/>
          <p:cNvCxnSpPr/>
          <p:nvPr/>
        </p:nvCxnSpPr>
        <p:spPr>
          <a:xfrm flipV="1">
            <a:off x="5256684" y="657453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3" name="Connector 1072"/>
          <p:cNvCxnSpPr/>
          <p:nvPr/>
        </p:nvCxnSpPr>
        <p:spPr>
          <a:xfrm flipV="1">
            <a:off x="5256684" y="657453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 flipV="1">
            <a:off x="5461867" y="678484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5" name="cell|Martiny et al., 2006 - Microarray - MIT9313*|COG3727|absent"/>
          <p:cNvSpPr/>
          <p:nvPr/>
        </p:nvSpPr>
        <p:spPr>
          <a:xfrm>
            <a:off x="5667049" y="657453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6" name="Connector 1075"/>
          <p:cNvCxnSpPr/>
          <p:nvPr/>
        </p:nvCxnSpPr>
        <p:spPr>
          <a:xfrm flipV="1">
            <a:off x="5667049" y="657453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Connector 1076"/>
          <p:cNvCxnSpPr/>
          <p:nvPr/>
        </p:nvCxnSpPr>
        <p:spPr>
          <a:xfrm flipV="1">
            <a:off x="5667049" y="657453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Connector 1077"/>
          <p:cNvCxnSpPr/>
          <p:nvPr/>
        </p:nvCxnSpPr>
        <p:spPr>
          <a:xfrm flipV="1">
            <a:off x="5872232" y="678484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9" name="cell|Martiny et al., 2006 - Microarray - MIT9313*|COG1793|ns"/>
          <p:cNvSpPr/>
          <p:nvPr/>
        </p:nvSpPr>
        <p:spPr>
          <a:xfrm>
            <a:off x="6077414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6077414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081" name="cell|Martiny et al., 2006 - Microarray - MIT9313*|COG0640|ns"/>
          <p:cNvSpPr/>
          <p:nvPr/>
        </p:nvSpPr>
        <p:spPr>
          <a:xfrm>
            <a:off x="6487779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6487779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083" name="cell|Martiny et al., 2006 - Microarray - MIT9313*|COG1403|ns"/>
          <p:cNvSpPr/>
          <p:nvPr/>
        </p:nvSpPr>
        <p:spPr>
          <a:xfrm>
            <a:off x="6898144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TextBox 1083"/>
          <p:cNvSpPr txBox="1"/>
          <p:nvPr/>
        </p:nvSpPr>
        <p:spPr>
          <a:xfrm>
            <a:off x="6898144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085" name="cell|Martiny et al., 2006 - Microarray - MIT9313*|COG2214|ns"/>
          <p:cNvSpPr/>
          <p:nvPr/>
        </p:nvSpPr>
        <p:spPr>
          <a:xfrm>
            <a:off x="7308509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7308509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0/7/7</a:t>
            </a:r>
          </a:p>
        </p:txBody>
      </p:sp>
      <p:sp>
        <p:nvSpPr>
          <p:cNvPr id="1087" name="cell|Martiny et al., 2006 - Microarray - MIT9313*|COG0443|ns"/>
          <p:cNvSpPr/>
          <p:nvPr/>
        </p:nvSpPr>
        <p:spPr>
          <a:xfrm>
            <a:off x="7718874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7718874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0/5/5</a:t>
            </a:r>
          </a:p>
        </p:txBody>
      </p:sp>
      <p:sp>
        <p:nvSpPr>
          <p:cNvPr id="1089" name="cell|Martiny et al., 2006 - Microarray - MIT9313*|COG0484|ns"/>
          <p:cNvSpPr/>
          <p:nvPr/>
        </p:nvSpPr>
        <p:spPr>
          <a:xfrm>
            <a:off x="8129239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8129239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0/6/6</a:t>
            </a:r>
          </a:p>
        </p:txBody>
      </p:sp>
      <p:sp>
        <p:nvSpPr>
          <p:cNvPr id="1091" name="cell|Martiny et al., 2006 - Microarray - MIT9313*|COG0330|ns"/>
          <p:cNvSpPr/>
          <p:nvPr/>
        </p:nvSpPr>
        <p:spPr>
          <a:xfrm>
            <a:off x="8539603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TextBox 1091"/>
          <p:cNvSpPr txBox="1"/>
          <p:nvPr/>
        </p:nvSpPr>
        <p:spPr>
          <a:xfrm>
            <a:off x="8539603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1093" name="cell|Martiny et al., 2006 - Microarray - MIT9313*|COG1187|ns"/>
          <p:cNvSpPr/>
          <p:nvPr/>
        </p:nvSpPr>
        <p:spPr>
          <a:xfrm>
            <a:off x="8949968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8949968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1095" name="cell|Martiny et al., 2006 - Microarray - MIT9313*|COG1454|ns"/>
          <p:cNvSpPr/>
          <p:nvPr/>
        </p:nvSpPr>
        <p:spPr>
          <a:xfrm>
            <a:off x="9360333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TextBox 1095"/>
          <p:cNvSpPr txBox="1"/>
          <p:nvPr/>
        </p:nvSpPr>
        <p:spPr>
          <a:xfrm>
            <a:off x="9360333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097" name="cell|Martiny et al., 2006 - Microarray - MIT9313*|COG2370|down"/>
          <p:cNvSpPr/>
          <p:nvPr/>
        </p:nvSpPr>
        <p:spPr>
          <a:xfrm>
            <a:off x="9770698" y="6574536"/>
            <a:ext cx="410364" cy="420624"/>
          </a:xfrm>
          <a:prstGeom prst="rect">
            <a:avLst/>
          </a:prstGeom>
          <a:solidFill>
            <a:srgbClr val="2A78D6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9770698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1/1/1</a:t>
            </a:r>
          </a:p>
        </p:txBody>
      </p:sp>
      <p:sp>
        <p:nvSpPr>
          <p:cNvPr id="1099" name="cell|Martiny et al., 2006 - Microarray - MIT9313*|COG0367|absent"/>
          <p:cNvSpPr/>
          <p:nvPr/>
        </p:nvSpPr>
        <p:spPr>
          <a:xfrm>
            <a:off x="10181063" y="657453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0" name="Connector 1099"/>
          <p:cNvCxnSpPr/>
          <p:nvPr/>
        </p:nvCxnSpPr>
        <p:spPr>
          <a:xfrm flipV="1">
            <a:off x="10181063" y="657453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 flipV="1">
            <a:off x="10181063" y="657453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 1101"/>
          <p:cNvCxnSpPr/>
          <p:nvPr/>
        </p:nvCxnSpPr>
        <p:spPr>
          <a:xfrm flipV="1">
            <a:off x="10386245" y="678484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cell|Martiny et al., 2006 - Microarray - MIT9313*|COG0082|ns"/>
          <p:cNvSpPr/>
          <p:nvPr/>
        </p:nvSpPr>
        <p:spPr>
          <a:xfrm>
            <a:off x="10591428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TextBox 1103"/>
          <p:cNvSpPr txBox="1"/>
          <p:nvPr/>
        </p:nvSpPr>
        <p:spPr>
          <a:xfrm>
            <a:off x="10591428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1105" name="cell|Martiny et al., 2006 - Microarray - MIT9313*|COG2274|ns"/>
          <p:cNvSpPr/>
          <p:nvPr/>
        </p:nvSpPr>
        <p:spPr>
          <a:xfrm>
            <a:off x="11001793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11001793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0/6/6</a:t>
            </a:r>
          </a:p>
        </p:txBody>
      </p:sp>
      <p:sp>
        <p:nvSpPr>
          <p:cNvPr id="1107" name="cell|Martiny et al., 2006 - Microarray - MIT9313*|COG1989|ns"/>
          <p:cNvSpPr/>
          <p:nvPr/>
        </p:nvSpPr>
        <p:spPr>
          <a:xfrm>
            <a:off x="11412158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11412158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109" name="cell|Martiny et al., 2006 - Microarray - MIT9313*|COG0845|ns"/>
          <p:cNvSpPr/>
          <p:nvPr/>
        </p:nvSpPr>
        <p:spPr>
          <a:xfrm>
            <a:off x="11822522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TextBox 1109"/>
          <p:cNvSpPr txBox="1"/>
          <p:nvPr/>
        </p:nvSpPr>
        <p:spPr>
          <a:xfrm>
            <a:off x="11822522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0/11/11</a:t>
            </a:r>
          </a:p>
        </p:txBody>
      </p:sp>
      <p:sp>
        <p:nvSpPr>
          <p:cNvPr id="1111" name="cell|Martiny et al., 2006 - Microarray - MIT9313*|COG0488|ns"/>
          <p:cNvSpPr/>
          <p:nvPr/>
        </p:nvSpPr>
        <p:spPr>
          <a:xfrm>
            <a:off x="12232887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12232887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0/6/6</a:t>
            </a:r>
          </a:p>
        </p:txBody>
      </p:sp>
      <p:sp>
        <p:nvSpPr>
          <p:cNvPr id="1113" name="cell|Martiny et al., 2006 - Microarray - MIT9313*|COG0697|down"/>
          <p:cNvSpPr/>
          <p:nvPr/>
        </p:nvSpPr>
        <p:spPr>
          <a:xfrm>
            <a:off x="12643252" y="6574536"/>
            <a:ext cx="410364" cy="420624"/>
          </a:xfrm>
          <a:prstGeom prst="rect">
            <a:avLst/>
          </a:prstGeom>
          <a:solidFill>
            <a:srgbClr val="8097AE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TextBox 1113"/>
          <p:cNvSpPr txBox="1"/>
          <p:nvPr/>
        </p:nvSpPr>
        <p:spPr>
          <a:xfrm>
            <a:off x="12643252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1/11/11</a:t>
            </a:r>
          </a:p>
        </p:txBody>
      </p:sp>
      <p:sp>
        <p:nvSpPr>
          <p:cNvPr id="1115" name="cell|Martiny et al., 2006 - Microarray - MIT9313*|COG3839|up"/>
          <p:cNvSpPr/>
          <p:nvPr/>
        </p:nvSpPr>
        <p:spPr>
          <a:xfrm>
            <a:off x="13053617" y="6574536"/>
            <a:ext cx="410364" cy="420624"/>
          </a:xfrm>
          <a:prstGeom prst="rect">
            <a:avLst/>
          </a:prstGeom>
          <a:solidFill>
            <a:srgbClr val="C67872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13053617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1/3/3</a:t>
            </a:r>
          </a:p>
        </p:txBody>
      </p:sp>
      <p:sp>
        <p:nvSpPr>
          <p:cNvPr id="1117" name="cell|Martiny et al., 2006 - Microarray - MIT9313*|COG1212|ns"/>
          <p:cNvSpPr/>
          <p:nvPr/>
        </p:nvSpPr>
        <p:spPr>
          <a:xfrm>
            <a:off x="13463982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13463982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119" name="cell|Martiny et al., 2006 - Microarray - MIT9313*|COG0477|up"/>
          <p:cNvSpPr/>
          <p:nvPr/>
        </p:nvSpPr>
        <p:spPr>
          <a:xfrm>
            <a:off x="13874347" y="6574536"/>
            <a:ext cx="410364" cy="420624"/>
          </a:xfrm>
          <a:prstGeom prst="rect">
            <a:avLst/>
          </a:prstGeom>
          <a:solidFill>
            <a:srgbClr val="B88D84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TextBox 1119"/>
          <p:cNvSpPr txBox="1"/>
          <p:nvPr/>
        </p:nvSpPr>
        <p:spPr>
          <a:xfrm>
            <a:off x="13874347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1/34/34</a:t>
            </a:r>
          </a:p>
        </p:txBody>
      </p:sp>
      <p:sp>
        <p:nvSpPr>
          <p:cNvPr id="1121" name="cell|Martiny et al., 2006 - Microarray - MIT9313*|COG1472|ns"/>
          <p:cNvSpPr/>
          <p:nvPr/>
        </p:nvSpPr>
        <p:spPr>
          <a:xfrm>
            <a:off x="14284712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TextBox 1121"/>
          <p:cNvSpPr txBox="1"/>
          <p:nvPr/>
        </p:nvSpPr>
        <p:spPr>
          <a:xfrm>
            <a:off x="14284712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123" name="cell|Martiny et al., 2006 - Microarray - MIT9313*|COG3754|ns"/>
          <p:cNvSpPr/>
          <p:nvPr/>
        </p:nvSpPr>
        <p:spPr>
          <a:xfrm>
            <a:off x="14695077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14695077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125" name="cell|Martiny et al., 2006 - Microarray - MIT9313*|COG0399|ns"/>
          <p:cNvSpPr/>
          <p:nvPr/>
        </p:nvSpPr>
        <p:spPr>
          <a:xfrm>
            <a:off x="15105441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15105441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127" name="cell|Martiny et al., 2006 - Microarray - MIT9313*|COG0673|ns"/>
          <p:cNvSpPr/>
          <p:nvPr/>
        </p:nvSpPr>
        <p:spPr>
          <a:xfrm>
            <a:off x="15515806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15515806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129" name="cell|Martiny et al., 2006 - Microarray - MIT9313*|COG0810|ns"/>
          <p:cNvSpPr/>
          <p:nvPr/>
        </p:nvSpPr>
        <p:spPr>
          <a:xfrm>
            <a:off x="15926171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TextBox 1129"/>
          <p:cNvSpPr txBox="1"/>
          <p:nvPr/>
        </p:nvSpPr>
        <p:spPr>
          <a:xfrm>
            <a:off x="15926171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131" name="cell|Martiny et al., 2006 - Microarray - MIT9313*|COG3206|absent"/>
          <p:cNvSpPr/>
          <p:nvPr/>
        </p:nvSpPr>
        <p:spPr>
          <a:xfrm>
            <a:off x="16336536" y="657453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2" name="Connector 1131"/>
          <p:cNvCxnSpPr/>
          <p:nvPr/>
        </p:nvCxnSpPr>
        <p:spPr>
          <a:xfrm flipV="1">
            <a:off x="16336536" y="657453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3" name="Connector 1132"/>
          <p:cNvCxnSpPr/>
          <p:nvPr/>
        </p:nvCxnSpPr>
        <p:spPr>
          <a:xfrm flipV="1">
            <a:off x="16336536" y="6574536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4" name="Connector 1133"/>
          <p:cNvCxnSpPr/>
          <p:nvPr/>
        </p:nvCxnSpPr>
        <p:spPr>
          <a:xfrm flipV="1">
            <a:off x="16541719" y="6784848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cell|Martiny et al., 2006 - Microarray - MIT9313*|COG1596|absent"/>
          <p:cNvSpPr/>
          <p:nvPr/>
        </p:nvSpPr>
        <p:spPr>
          <a:xfrm>
            <a:off x="16746901" y="657453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6" name="Connector 1135"/>
          <p:cNvCxnSpPr/>
          <p:nvPr/>
        </p:nvCxnSpPr>
        <p:spPr>
          <a:xfrm flipV="1">
            <a:off x="16746901" y="657453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7" name="Connector 1136"/>
          <p:cNvCxnSpPr/>
          <p:nvPr/>
        </p:nvCxnSpPr>
        <p:spPr>
          <a:xfrm flipV="1">
            <a:off x="16746901" y="657453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8" name="Connector 1137"/>
          <p:cNvCxnSpPr/>
          <p:nvPr/>
        </p:nvCxnSpPr>
        <p:spPr>
          <a:xfrm flipV="1">
            <a:off x="16952083" y="678484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cell|Martiny et al., 2006 - Microarray - MIT9313*|COG1462|down"/>
          <p:cNvSpPr/>
          <p:nvPr/>
        </p:nvSpPr>
        <p:spPr>
          <a:xfrm>
            <a:off x="17157266" y="6574536"/>
            <a:ext cx="410364" cy="420624"/>
          </a:xfrm>
          <a:prstGeom prst="rect">
            <a:avLst/>
          </a:prstGeom>
          <a:solidFill>
            <a:srgbClr val="2A78D6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17157266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1/1/1</a:t>
            </a:r>
          </a:p>
        </p:txBody>
      </p:sp>
      <p:sp>
        <p:nvSpPr>
          <p:cNvPr id="1141" name="cell|Martiny et al., 2006 - Microarray - MIT9313*|COG3210|ns"/>
          <p:cNvSpPr/>
          <p:nvPr/>
        </p:nvSpPr>
        <p:spPr>
          <a:xfrm>
            <a:off x="17567631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17567631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0/2/2</a:t>
            </a:r>
          </a:p>
        </p:txBody>
      </p:sp>
      <p:sp>
        <p:nvSpPr>
          <p:cNvPr id="1143" name="cell|Martiny et al., 2006 - Microarray - MIT9313*|COG2010|ns"/>
          <p:cNvSpPr/>
          <p:nvPr/>
        </p:nvSpPr>
        <p:spPr>
          <a:xfrm>
            <a:off x="17977996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17977996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0/3/3</a:t>
            </a:r>
          </a:p>
        </p:txBody>
      </p:sp>
      <p:sp>
        <p:nvSpPr>
          <p:cNvPr id="1145" name="cell|Martiny et al., 2006 - Microarray - MIT9313*|COG2114|ns"/>
          <p:cNvSpPr/>
          <p:nvPr/>
        </p:nvSpPr>
        <p:spPr>
          <a:xfrm>
            <a:off x="18388360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18388360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147" name="cell|Martiny et al., 2006 - Microarray - MIT9313*|COG0454|ns"/>
          <p:cNvSpPr/>
          <p:nvPr/>
        </p:nvSpPr>
        <p:spPr>
          <a:xfrm>
            <a:off x="18798725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TextBox 1147"/>
          <p:cNvSpPr txBox="1"/>
          <p:nvPr/>
        </p:nvSpPr>
        <p:spPr>
          <a:xfrm>
            <a:off x="18798725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0/8/8</a:t>
            </a:r>
          </a:p>
        </p:txBody>
      </p:sp>
      <p:sp>
        <p:nvSpPr>
          <p:cNvPr id="1149" name="cell|Martiny et al., 2006 - Microarray - MIT9313*|COG2931|ns"/>
          <p:cNvSpPr/>
          <p:nvPr/>
        </p:nvSpPr>
        <p:spPr>
          <a:xfrm>
            <a:off x="19209090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19209090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0/4/4</a:t>
            </a:r>
          </a:p>
        </p:txBody>
      </p:sp>
      <p:sp>
        <p:nvSpPr>
          <p:cNvPr id="1151" name="cell|Martiny et al., 2006 - Microarray - MIT9313*|COG0412|ns"/>
          <p:cNvSpPr/>
          <p:nvPr/>
        </p:nvSpPr>
        <p:spPr>
          <a:xfrm>
            <a:off x="19619455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TextBox 1151"/>
          <p:cNvSpPr txBox="1"/>
          <p:nvPr/>
        </p:nvSpPr>
        <p:spPr>
          <a:xfrm>
            <a:off x="19619455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153" name="cell|Martiny et al., 2006 - Microarray - MIT9313*|COG4252|ns"/>
          <p:cNvSpPr/>
          <p:nvPr/>
        </p:nvSpPr>
        <p:spPr>
          <a:xfrm>
            <a:off x="20029820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20029820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sp>
        <p:nvSpPr>
          <p:cNvPr id="1155" name="cell|Martiny et al., 2006 - Microarray - MIT9313*|COG2192|absent"/>
          <p:cNvSpPr/>
          <p:nvPr/>
        </p:nvSpPr>
        <p:spPr>
          <a:xfrm>
            <a:off x="20440185" y="657453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6" name="Connector 1155"/>
          <p:cNvCxnSpPr/>
          <p:nvPr/>
        </p:nvCxnSpPr>
        <p:spPr>
          <a:xfrm flipV="1">
            <a:off x="20440185" y="657453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7" name="Connector 1156"/>
          <p:cNvCxnSpPr/>
          <p:nvPr/>
        </p:nvCxnSpPr>
        <p:spPr>
          <a:xfrm flipV="1">
            <a:off x="20440185" y="657453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8" name="Connector 1157"/>
          <p:cNvCxnSpPr/>
          <p:nvPr/>
        </p:nvCxnSpPr>
        <p:spPr>
          <a:xfrm flipV="1">
            <a:off x="20645367" y="678484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9" name="cell|Martiny et al., 2006 - Microarray - MIT9313*|COG2159|absent"/>
          <p:cNvSpPr/>
          <p:nvPr/>
        </p:nvSpPr>
        <p:spPr>
          <a:xfrm>
            <a:off x="20850550" y="6574536"/>
            <a:ext cx="410364" cy="420624"/>
          </a:xfrm>
          <a:prstGeom prst="rect">
            <a:avLst/>
          </a:prstGeom>
          <a:solidFill>
            <a:srgbClr val="FDFCF9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0" name="Connector 1159"/>
          <p:cNvCxnSpPr/>
          <p:nvPr/>
        </p:nvCxnSpPr>
        <p:spPr>
          <a:xfrm flipV="1">
            <a:off x="20850550" y="6574536"/>
            <a:ext cx="410365" cy="420624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1" name="Connector 1160"/>
          <p:cNvCxnSpPr/>
          <p:nvPr/>
        </p:nvCxnSpPr>
        <p:spPr>
          <a:xfrm flipV="1">
            <a:off x="20850550" y="6574536"/>
            <a:ext cx="205182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2" name="Connector 1161"/>
          <p:cNvCxnSpPr/>
          <p:nvPr/>
        </p:nvCxnSpPr>
        <p:spPr>
          <a:xfrm flipV="1">
            <a:off x="21055732" y="6784848"/>
            <a:ext cx="205183" cy="210312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3" name="cell|Martiny et al., 2006 - Microarray - MIT9313*|COG5651|ns"/>
          <p:cNvSpPr/>
          <p:nvPr/>
        </p:nvSpPr>
        <p:spPr>
          <a:xfrm>
            <a:off x="21260915" y="6574536"/>
            <a:ext cx="410364" cy="420624"/>
          </a:xfrm>
          <a:prstGeom prst="rect">
            <a:avLst/>
          </a:prstGeom>
          <a:solidFill>
            <a:srgbClr val="A8A69B"/>
          </a:solidFill>
          <a:ln w="12700">
            <a:solidFill>
              <a:srgbClr val="D7D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TextBox 1163"/>
          <p:cNvSpPr txBox="1"/>
          <p:nvPr/>
        </p:nvSpPr>
        <p:spPr>
          <a:xfrm>
            <a:off x="21260915" y="6574536"/>
            <a:ext cx="410364" cy="420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B0B0B"/>
                </a:solidFill>
                <a:latin typeface="Arial"/>
              </a:rPr>
              <a:t>0/1/1</a:t>
            </a:r>
          </a:p>
        </p:txBody>
      </p:sp>
      <p:cxnSp>
        <p:nvCxnSpPr>
          <p:cNvPr id="1165" name="Connector 1164"/>
          <p:cNvCxnSpPr/>
          <p:nvPr/>
        </p:nvCxnSpPr>
        <p:spPr>
          <a:xfrm>
            <a:off x="594360" y="2816351"/>
            <a:ext cx="0" cy="2048256"/>
          </a:xfrm>
          <a:prstGeom prst="line">
            <a:avLst/>
          </a:prstGeom>
          <a:ln w="20320">
            <a:solidFill>
              <a:srgbClr val="0B0B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6" name="Connector 1165"/>
          <p:cNvCxnSpPr/>
          <p:nvPr/>
        </p:nvCxnSpPr>
        <p:spPr>
          <a:xfrm>
            <a:off x="594360" y="2816351"/>
            <a:ext cx="91440" cy="0"/>
          </a:xfrm>
          <a:prstGeom prst="line">
            <a:avLst/>
          </a:prstGeom>
          <a:ln w="20320">
            <a:solidFill>
              <a:srgbClr val="0B0B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7" name="Connector 1166"/>
          <p:cNvCxnSpPr/>
          <p:nvPr/>
        </p:nvCxnSpPr>
        <p:spPr>
          <a:xfrm>
            <a:off x="594360" y="4864607"/>
            <a:ext cx="91440" cy="0"/>
          </a:xfrm>
          <a:prstGeom prst="line">
            <a:avLst/>
          </a:prstGeom>
          <a:ln w="20320">
            <a:solidFill>
              <a:srgbClr val="0B0B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8" name="TextBox 1167"/>
          <p:cNvSpPr txBox="1"/>
          <p:nvPr/>
        </p:nvSpPr>
        <p:spPr>
          <a:xfrm rot="16200000">
            <a:off x="-365760" y="3703319"/>
            <a:ext cx="192024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Nitrogen starvation</a:t>
            </a:r>
          </a:p>
        </p:txBody>
      </p:sp>
      <p:cxnSp>
        <p:nvCxnSpPr>
          <p:cNvPr id="1169" name="Connector 1168"/>
          <p:cNvCxnSpPr/>
          <p:nvPr/>
        </p:nvCxnSpPr>
        <p:spPr>
          <a:xfrm>
            <a:off x="594360" y="4919472"/>
            <a:ext cx="0" cy="2048256"/>
          </a:xfrm>
          <a:prstGeom prst="line">
            <a:avLst/>
          </a:prstGeom>
          <a:ln w="20320">
            <a:solidFill>
              <a:srgbClr val="0B0B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0" name="Connector 1169"/>
          <p:cNvCxnSpPr/>
          <p:nvPr/>
        </p:nvCxnSpPr>
        <p:spPr>
          <a:xfrm>
            <a:off x="594360" y="4919472"/>
            <a:ext cx="91440" cy="0"/>
          </a:xfrm>
          <a:prstGeom prst="line">
            <a:avLst/>
          </a:prstGeom>
          <a:ln w="20320">
            <a:solidFill>
              <a:srgbClr val="0B0B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1" name="Connector 1170"/>
          <p:cNvCxnSpPr/>
          <p:nvPr/>
        </p:nvCxnSpPr>
        <p:spPr>
          <a:xfrm>
            <a:off x="594360" y="6967728"/>
            <a:ext cx="91440" cy="0"/>
          </a:xfrm>
          <a:prstGeom prst="line">
            <a:avLst/>
          </a:prstGeom>
          <a:ln w="20320">
            <a:solidFill>
              <a:srgbClr val="0B0B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2" name="TextBox 1171"/>
          <p:cNvSpPr txBox="1"/>
          <p:nvPr/>
        </p:nvSpPr>
        <p:spPr>
          <a:xfrm rot="16200000">
            <a:off x="-365760" y="5806440"/>
            <a:ext cx="192024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0B0B0B"/>
                </a:solidFill>
                <a:latin typeface="Arial"/>
              </a:rPr>
              <a:t>Phosphorus starvation</a:t>
            </a:r>
          </a:p>
        </p:txBody>
      </p:sp>
      <p:sp>
        <p:nvSpPr>
          <p:cNvPr id="1173" name="Rectangle 1172"/>
          <p:cNvSpPr/>
          <p:nvPr/>
        </p:nvSpPr>
        <p:spPr>
          <a:xfrm>
            <a:off x="4846320" y="4881067"/>
            <a:ext cx="16824960" cy="25603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Rectangle 1173"/>
          <p:cNvSpPr/>
          <p:nvPr/>
        </p:nvSpPr>
        <p:spPr>
          <a:xfrm>
            <a:off x="7297536" y="2788920"/>
            <a:ext cx="18288" cy="420624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Rectangle 1174"/>
          <p:cNvSpPr/>
          <p:nvPr/>
        </p:nvSpPr>
        <p:spPr>
          <a:xfrm>
            <a:off x="9349360" y="2788920"/>
            <a:ext cx="18288" cy="420624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Rectangle 1175"/>
          <p:cNvSpPr/>
          <p:nvPr/>
        </p:nvSpPr>
        <p:spPr>
          <a:xfrm>
            <a:off x="13453009" y="2788920"/>
            <a:ext cx="18288" cy="420624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Rectangle 1176"/>
          <p:cNvSpPr/>
          <p:nvPr/>
        </p:nvSpPr>
        <p:spPr>
          <a:xfrm>
            <a:off x="15915198" y="2788920"/>
            <a:ext cx="18288" cy="420624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Rectangle 1177"/>
          <p:cNvSpPr/>
          <p:nvPr/>
        </p:nvSpPr>
        <p:spPr>
          <a:xfrm>
            <a:off x="16325563" y="2788920"/>
            <a:ext cx="18288" cy="420624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Rectangle 1178"/>
          <p:cNvSpPr/>
          <p:nvPr/>
        </p:nvSpPr>
        <p:spPr>
          <a:xfrm>
            <a:off x="17146293" y="2788920"/>
            <a:ext cx="18288" cy="420624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Rectangle 1179"/>
          <p:cNvSpPr/>
          <p:nvPr/>
        </p:nvSpPr>
        <p:spPr>
          <a:xfrm>
            <a:off x="17967023" y="2788920"/>
            <a:ext cx="18288" cy="420624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Rectangle 1180"/>
          <p:cNvSpPr/>
          <p:nvPr/>
        </p:nvSpPr>
        <p:spPr>
          <a:xfrm>
            <a:off x="18377388" y="2788920"/>
            <a:ext cx="18288" cy="420624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Rectangle 1181"/>
          <p:cNvSpPr/>
          <p:nvPr/>
        </p:nvSpPr>
        <p:spPr>
          <a:xfrm>
            <a:off x="19198117" y="2788920"/>
            <a:ext cx="18288" cy="420624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Rectangle 1182"/>
          <p:cNvSpPr/>
          <p:nvPr/>
        </p:nvSpPr>
        <p:spPr>
          <a:xfrm>
            <a:off x="19608482" y="2788920"/>
            <a:ext cx="18288" cy="420624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Rectangle 1183"/>
          <p:cNvSpPr/>
          <p:nvPr/>
        </p:nvSpPr>
        <p:spPr>
          <a:xfrm>
            <a:off x="4846320" y="8549640"/>
            <a:ext cx="274320" cy="274320"/>
          </a:xfrm>
          <a:prstGeom prst="rect">
            <a:avLst/>
          </a:prstGeom>
          <a:solidFill>
            <a:srgbClr val="E34948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TextBox 1184"/>
          <p:cNvSpPr txBox="1"/>
          <p:nvPr/>
        </p:nvSpPr>
        <p:spPr>
          <a:xfrm>
            <a:off x="5230368" y="8531352"/>
            <a:ext cx="36576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Upregulated (most of COG's genes)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7951622" y="8549640"/>
            <a:ext cx="274320" cy="274320"/>
          </a:xfrm>
          <a:prstGeom prst="rect">
            <a:avLst/>
          </a:prstGeom>
          <a:solidFill>
            <a:srgbClr val="2A78D6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8335670" y="8531352"/>
            <a:ext cx="36576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Downregulated</a:t>
            </a:r>
          </a:p>
        </p:txBody>
      </p:sp>
      <p:sp>
        <p:nvSpPr>
          <p:cNvPr id="1188" name="Rectangle 1187"/>
          <p:cNvSpPr/>
          <p:nvPr/>
        </p:nvSpPr>
        <p:spPr>
          <a:xfrm>
            <a:off x="9740188" y="8549640"/>
            <a:ext cx="274320" cy="274320"/>
          </a:xfrm>
          <a:prstGeom prst="rect">
            <a:avLst/>
          </a:prstGeom>
          <a:solidFill>
            <a:srgbClr val="E8913A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10124236" y="8531352"/>
            <a:ext cx="36576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Both up- and downregulated genes</a:t>
            </a:r>
          </a:p>
        </p:txBody>
      </p:sp>
      <p:sp>
        <p:nvSpPr>
          <p:cNvPr id="1190" name="Rectangle 1189"/>
          <p:cNvSpPr/>
          <p:nvPr/>
        </p:nvSpPr>
        <p:spPr>
          <a:xfrm>
            <a:off x="12779654" y="8549640"/>
            <a:ext cx="274320" cy="274320"/>
          </a:xfrm>
          <a:prstGeom prst="rect">
            <a:avLst/>
          </a:prstGeom>
          <a:solidFill>
            <a:srgbClr val="A8A69B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TextBox 1190"/>
          <p:cNvSpPr txBox="1"/>
          <p:nvPr/>
        </p:nvSpPr>
        <p:spPr>
          <a:xfrm>
            <a:off x="13163702" y="8531352"/>
            <a:ext cx="36576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Tested, no gene significant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15489935" y="8549640"/>
            <a:ext cx="274320" cy="274320"/>
          </a:xfrm>
          <a:prstGeom prst="rect">
            <a:avLst/>
          </a:prstGeom>
          <a:solidFill>
            <a:srgbClr val="E7E4D8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15873984" y="8531352"/>
            <a:ext cx="36576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No data (COG present, not in table)</a:t>
            </a:r>
          </a:p>
        </p:txBody>
      </p:sp>
      <p:sp>
        <p:nvSpPr>
          <p:cNvPr id="1194" name="Rectangle 1193"/>
          <p:cNvSpPr/>
          <p:nvPr/>
        </p:nvSpPr>
        <p:spPr>
          <a:xfrm>
            <a:off x="18726911" y="8549640"/>
            <a:ext cx="274320" cy="274320"/>
          </a:xfrm>
          <a:prstGeom prst="rect">
            <a:avLst/>
          </a:prstGeom>
          <a:solidFill>
            <a:srgbClr val="FDFCF9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5" name="Connector 1194"/>
          <p:cNvCxnSpPr/>
          <p:nvPr/>
        </p:nvCxnSpPr>
        <p:spPr>
          <a:xfrm flipV="1">
            <a:off x="18726911" y="8549640"/>
            <a:ext cx="274320" cy="274320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6" name="Connector 1195"/>
          <p:cNvCxnSpPr/>
          <p:nvPr/>
        </p:nvCxnSpPr>
        <p:spPr>
          <a:xfrm flipV="1">
            <a:off x="18726911" y="8549640"/>
            <a:ext cx="137160" cy="137160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Connector 1196"/>
          <p:cNvCxnSpPr/>
          <p:nvPr/>
        </p:nvCxnSpPr>
        <p:spPr>
          <a:xfrm flipV="1">
            <a:off x="18864071" y="8686800"/>
            <a:ext cx="137160" cy="137160"/>
          </a:xfrm>
          <a:prstGeom prst="line">
            <a:avLst/>
          </a:prstGeom>
          <a:ln w="10160">
            <a:solidFill>
              <a:srgbClr val="9A98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8" name="TextBox 1197"/>
          <p:cNvSpPr txBox="1"/>
          <p:nvPr/>
        </p:nvSpPr>
        <p:spPr>
          <a:xfrm>
            <a:off x="19110960" y="8531352"/>
            <a:ext cx="36576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Arial"/>
              </a:rPr>
              <a:t>COG absent from strain genome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
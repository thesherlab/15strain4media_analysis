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16800" cy="8412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841248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938528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Calibri"/>
              </a:rPr>
              <a:t>41 candidate starvation-sensitivity COGs vs. nutrient-starvation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9385280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898781"/>
                </a:solidFill>
                <a:latin typeface="Calibri"/>
              </a:rPr>
              <a:t>cell text k / n / m = significant / measured in this experiment / copies in that strain's genome  ·  fill = dominant direction, blended toward grey by k/n  ·  columns grouped by functional category, N / mixed strip = that COG's Direction tag  ·  * Martiny MIT9313 at 24h (no 48h row); table-absent COGs = not significant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27832" y="2130552"/>
            <a:ext cx="2380562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600200"/>
            <a:ext cx="3166946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Quality control - DNA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3258" y="2130552"/>
            <a:ext cx="1974657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70066" y="1600200"/>
            <a:ext cx="2761041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Quality control - Protein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2780" y="2130552"/>
            <a:ext cx="4004179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9588" y="1600200"/>
            <a:ext cx="4790563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Amino acid &amp; mixotrophy biosynthesis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51824" y="2130552"/>
            <a:ext cx="2380562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58632" y="1600200"/>
            <a:ext cx="3166946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LPS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87250" y="2130552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94058" y="1600200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Membrane linker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593154" y="2130552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99962" y="1600200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Exopolysaccharide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04963" y="2130552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11771" y="1600200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Biofilm / Attachment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16772" y="2130552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23580" y="1600200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Energy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622676" y="2130552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29484" y="1600200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Translation, transcription &amp; signalling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434485" y="2130552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041293" y="1600200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RTX toxins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40390" y="2130552"/>
            <a:ext cx="1974657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47198" y="1600200"/>
            <a:ext cx="2761041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6304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2208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8113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4017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9921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5826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41730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7635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3539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9443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5348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71252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7157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3061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8965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4870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0774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06679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12583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18487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24392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30296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536200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42105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348009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53914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59818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565722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971627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377531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783436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89340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244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001149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407053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812958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18862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624766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030671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36575" y="2313432"/>
            <a:ext cx="40590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68" name="TextBox 67"/>
          <p:cNvSpPr txBox="1"/>
          <p:nvPr/>
        </p:nvSpPr>
        <p:spPr>
          <a:xfrm rot="18000000">
            <a:off x="2488952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GyrA  COG0188</a:t>
            </a:r>
          </a:p>
        </p:txBody>
      </p:sp>
      <p:sp>
        <p:nvSpPr>
          <p:cNvPr id="69" name="TextBox 68"/>
          <p:cNvSpPr txBox="1"/>
          <p:nvPr/>
        </p:nvSpPr>
        <p:spPr>
          <a:xfrm rot="18000000">
            <a:off x="2894856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Mrr  COG1787</a:t>
            </a:r>
          </a:p>
        </p:txBody>
      </p:sp>
      <p:sp>
        <p:nvSpPr>
          <p:cNvPr id="70" name="TextBox 69"/>
          <p:cNvSpPr txBox="1"/>
          <p:nvPr/>
        </p:nvSpPr>
        <p:spPr>
          <a:xfrm rot="18000000">
            <a:off x="3300760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Vsr  COG3727</a:t>
            </a:r>
          </a:p>
        </p:txBody>
      </p:sp>
      <p:sp>
        <p:nvSpPr>
          <p:cNvPr id="71" name="TextBox 70"/>
          <p:cNvSpPr txBox="1"/>
          <p:nvPr/>
        </p:nvSpPr>
        <p:spPr>
          <a:xfrm rot="18000000">
            <a:off x="3706665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CDC9  COG1793</a:t>
            </a:r>
          </a:p>
        </p:txBody>
      </p:sp>
      <p:sp>
        <p:nvSpPr>
          <p:cNvPr id="72" name="TextBox 71"/>
          <p:cNvSpPr txBox="1"/>
          <p:nvPr/>
        </p:nvSpPr>
        <p:spPr>
          <a:xfrm rot="18000000">
            <a:off x="4112569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smtB/ArsR  COG0640</a:t>
            </a:r>
          </a:p>
        </p:txBody>
      </p:sp>
      <p:sp>
        <p:nvSpPr>
          <p:cNvPr id="73" name="TextBox 72"/>
          <p:cNvSpPr txBox="1"/>
          <p:nvPr/>
        </p:nvSpPr>
        <p:spPr>
          <a:xfrm rot="18000000">
            <a:off x="4518474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McrA  COG1403</a:t>
            </a:r>
          </a:p>
        </p:txBody>
      </p:sp>
      <p:sp>
        <p:nvSpPr>
          <p:cNvPr id="74" name="TextBox 73"/>
          <p:cNvSpPr txBox="1"/>
          <p:nvPr/>
        </p:nvSpPr>
        <p:spPr>
          <a:xfrm rot="18000000">
            <a:off x="4924378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CbpA  COG2214</a:t>
            </a:r>
          </a:p>
        </p:txBody>
      </p:sp>
      <p:sp>
        <p:nvSpPr>
          <p:cNvPr id="75" name="TextBox 74"/>
          <p:cNvSpPr txBox="1"/>
          <p:nvPr/>
        </p:nvSpPr>
        <p:spPr>
          <a:xfrm rot="18000000">
            <a:off x="5330282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DnaK  COG0443</a:t>
            </a:r>
          </a:p>
        </p:txBody>
      </p:sp>
      <p:sp>
        <p:nvSpPr>
          <p:cNvPr id="76" name="TextBox 75"/>
          <p:cNvSpPr txBox="1"/>
          <p:nvPr/>
        </p:nvSpPr>
        <p:spPr>
          <a:xfrm rot="18000000">
            <a:off x="5736187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DnaJ  COG0484</a:t>
            </a:r>
          </a:p>
        </p:txBody>
      </p:sp>
      <p:sp>
        <p:nvSpPr>
          <p:cNvPr id="77" name="TextBox 76"/>
          <p:cNvSpPr txBox="1"/>
          <p:nvPr/>
        </p:nvSpPr>
        <p:spPr>
          <a:xfrm rot="18000000">
            <a:off x="6142091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HflC  COG0330</a:t>
            </a:r>
          </a:p>
        </p:txBody>
      </p:sp>
      <p:sp>
        <p:nvSpPr>
          <p:cNvPr id="78" name="TextBox 77"/>
          <p:cNvSpPr txBox="1"/>
          <p:nvPr/>
        </p:nvSpPr>
        <p:spPr>
          <a:xfrm rot="18000000">
            <a:off x="6547996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RsuA  COG1187</a:t>
            </a:r>
          </a:p>
        </p:txBody>
      </p:sp>
      <p:sp>
        <p:nvSpPr>
          <p:cNvPr id="79" name="TextBox 78"/>
          <p:cNvSpPr txBox="1"/>
          <p:nvPr/>
        </p:nvSpPr>
        <p:spPr>
          <a:xfrm rot="18000000">
            <a:off x="6953900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EutG  COG1454</a:t>
            </a:r>
          </a:p>
        </p:txBody>
      </p:sp>
      <p:sp>
        <p:nvSpPr>
          <p:cNvPr id="80" name="TextBox 79"/>
          <p:cNvSpPr txBox="1"/>
          <p:nvPr/>
        </p:nvSpPr>
        <p:spPr>
          <a:xfrm rot="18000000">
            <a:off x="7359804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HupE  COG2370</a:t>
            </a:r>
          </a:p>
        </p:txBody>
      </p:sp>
      <p:sp>
        <p:nvSpPr>
          <p:cNvPr id="81" name="TextBox 80"/>
          <p:cNvSpPr txBox="1"/>
          <p:nvPr/>
        </p:nvSpPr>
        <p:spPr>
          <a:xfrm rot="18000000">
            <a:off x="7765709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AsnB  COG0367</a:t>
            </a:r>
          </a:p>
        </p:txBody>
      </p:sp>
      <p:sp>
        <p:nvSpPr>
          <p:cNvPr id="82" name="TextBox 81"/>
          <p:cNvSpPr txBox="1"/>
          <p:nvPr/>
        </p:nvSpPr>
        <p:spPr>
          <a:xfrm rot="18000000">
            <a:off x="8171613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AroC  COG0082</a:t>
            </a:r>
          </a:p>
        </p:txBody>
      </p:sp>
      <p:sp>
        <p:nvSpPr>
          <p:cNvPr id="83" name="TextBox 82"/>
          <p:cNvSpPr txBox="1"/>
          <p:nvPr/>
        </p:nvSpPr>
        <p:spPr>
          <a:xfrm rot="18000000">
            <a:off x="8577518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SunT  COG2274</a:t>
            </a:r>
          </a:p>
        </p:txBody>
      </p:sp>
      <p:sp>
        <p:nvSpPr>
          <p:cNvPr id="84" name="TextBox 83"/>
          <p:cNvSpPr txBox="1"/>
          <p:nvPr/>
        </p:nvSpPr>
        <p:spPr>
          <a:xfrm rot="18000000">
            <a:off x="8983422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PulO  COG1989</a:t>
            </a:r>
          </a:p>
        </p:txBody>
      </p:sp>
      <p:sp>
        <p:nvSpPr>
          <p:cNvPr id="85" name="TextBox 84"/>
          <p:cNvSpPr txBox="1"/>
          <p:nvPr/>
        </p:nvSpPr>
        <p:spPr>
          <a:xfrm rot="18000000">
            <a:off x="9389326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AcrA  COG0845</a:t>
            </a:r>
          </a:p>
        </p:txBody>
      </p:sp>
      <p:sp>
        <p:nvSpPr>
          <p:cNvPr id="86" name="TextBox 85"/>
          <p:cNvSpPr txBox="1"/>
          <p:nvPr/>
        </p:nvSpPr>
        <p:spPr>
          <a:xfrm rot="18000000">
            <a:off x="9795231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Uup  COG0488</a:t>
            </a:r>
          </a:p>
        </p:txBody>
      </p:sp>
      <p:sp>
        <p:nvSpPr>
          <p:cNvPr id="87" name="TextBox 86"/>
          <p:cNvSpPr txBox="1"/>
          <p:nvPr/>
        </p:nvSpPr>
        <p:spPr>
          <a:xfrm rot="18000000">
            <a:off x="10201135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RhaT  COG0697</a:t>
            </a:r>
          </a:p>
        </p:txBody>
      </p:sp>
      <p:sp>
        <p:nvSpPr>
          <p:cNvPr id="88" name="TextBox 87"/>
          <p:cNvSpPr txBox="1"/>
          <p:nvPr/>
        </p:nvSpPr>
        <p:spPr>
          <a:xfrm rot="18000000">
            <a:off x="10607040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MalK  COG3839</a:t>
            </a:r>
          </a:p>
        </p:txBody>
      </p:sp>
      <p:sp>
        <p:nvSpPr>
          <p:cNvPr id="89" name="TextBox 88"/>
          <p:cNvSpPr txBox="1"/>
          <p:nvPr/>
        </p:nvSpPr>
        <p:spPr>
          <a:xfrm rot="18000000">
            <a:off x="11012944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kdsB  COG1212</a:t>
            </a:r>
          </a:p>
        </p:txBody>
      </p:sp>
      <p:sp>
        <p:nvSpPr>
          <p:cNvPr id="90" name="TextBox 89"/>
          <p:cNvSpPr txBox="1"/>
          <p:nvPr/>
        </p:nvSpPr>
        <p:spPr>
          <a:xfrm rot="18000000">
            <a:off x="11418848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prop  COG0477</a:t>
            </a:r>
          </a:p>
        </p:txBody>
      </p:sp>
      <p:sp>
        <p:nvSpPr>
          <p:cNvPr id="91" name="TextBox 90"/>
          <p:cNvSpPr txBox="1"/>
          <p:nvPr/>
        </p:nvSpPr>
        <p:spPr>
          <a:xfrm rot="18000000">
            <a:off x="11824753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BglX  COG1472</a:t>
            </a:r>
          </a:p>
        </p:txBody>
      </p:sp>
      <p:sp>
        <p:nvSpPr>
          <p:cNvPr id="92" name="TextBox 91"/>
          <p:cNvSpPr txBox="1"/>
          <p:nvPr/>
        </p:nvSpPr>
        <p:spPr>
          <a:xfrm rot="18000000">
            <a:off x="12230657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RgpF  COG3754</a:t>
            </a:r>
          </a:p>
        </p:txBody>
      </p:sp>
      <p:sp>
        <p:nvSpPr>
          <p:cNvPr id="93" name="TextBox 92"/>
          <p:cNvSpPr txBox="1"/>
          <p:nvPr/>
        </p:nvSpPr>
        <p:spPr>
          <a:xfrm rot="18000000">
            <a:off x="12636561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WecE  COG0399</a:t>
            </a:r>
          </a:p>
        </p:txBody>
      </p:sp>
      <p:sp>
        <p:nvSpPr>
          <p:cNvPr id="94" name="TextBox 93"/>
          <p:cNvSpPr txBox="1"/>
          <p:nvPr/>
        </p:nvSpPr>
        <p:spPr>
          <a:xfrm rot="18000000">
            <a:off x="13042466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MviM  COG0673</a:t>
            </a:r>
          </a:p>
        </p:txBody>
      </p:sp>
      <p:sp>
        <p:nvSpPr>
          <p:cNvPr id="95" name="TextBox 94"/>
          <p:cNvSpPr txBox="1"/>
          <p:nvPr/>
        </p:nvSpPr>
        <p:spPr>
          <a:xfrm rot="18000000">
            <a:off x="13448370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TonB  COG0810</a:t>
            </a:r>
          </a:p>
        </p:txBody>
      </p:sp>
      <p:sp>
        <p:nvSpPr>
          <p:cNvPr id="96" name="TextBox 95"/>
          <p:cNvSpPr txBox="1"/>
          <p:nvPr/>
        </p:nvSpPr>
        <p:spPr>
          <a:xfrm rot="18000000">
            <a:off x="13854275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GumC  COG3206</a:t>
            </a:r>
          </a:p>
        </p:txBody>
      </p:sp>
      <p:sp>
        <p:nvSpPr>
          <p:cNvPr id="97" name="TextBox 96"/>
          <p:cNvSpPr txBox="1"/>
          <p:nvPr/>
        </p:nvSpPr>
        <p:spPr>
          <a:xfrm rot="18000000">
            <a:off x="14260179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Wza  COG1596</a:t>
            </a:r>
          </a:p>
        </p:txBody>
      </p:sp>
      <p:sp>
        <p:nvSpPr>
          <p:cNvPr id="98" name="TextBox 97"/>
          <p:cNvSpPr txBox="1"/>
          <p:nvPr/>
        </p:nvSpPr>
        <p:spPr>
          <a:xfrm rot="18000000">
            <a:off x="14666083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CsgG  COG1462</a:t>
            </a:r>
          </a:p>
        </p:txBody>
      </p:sp>
      <p:sp>
        <p:nvSpPr>
          <p:cNvPr id="99" name="TextBox 98"/>
          <p:cNvSpPr txBox="1"/>
          <p:nvPr/>
        </p:nvSpPr>
        <p:spPr>
          <a:xfrm rot="18000000">
            <a:off x="15071988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FhaB  COG3210</a:t>
            </a:r>
          </a:p>
        </p:txBody>
      </p:sp>
      <p:sp>
        <p:nvSpPr>
          <p:cNvPr id="100" name="TextBox 99"/>
          <p:cNvSpPr txBox="1"/>
          <p:nvPr/>
        </p:nvSpPr>
        <p:spPr>
          <a:xfrm rot="18000000">
            <a:off x="15477892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CccA  COG2010</a:t>
            </a:r>
          </a:p>
        </p:txBody>
      </p:sp>
      <p:sp>
        <p:nvSpPr>
          <p:cNvPr id="101" name="TextBox 100"/>
          <p:cNvSpPr txBox="1"/>
          <p:nvPr/>
        </p:nvSpPr>
        <p:spPr>
          <a:xfrm rot="18000000">
            <a:off x="15883797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AcyC  COG2114</a:t>
            </a:r>
          </a:p>
        </p:txBody>
      </p:sp>
      <p:sp>
        <p:nvSpPr>
          <p:cNvPr id="102" name="TextBox 101"/>
          <p:cNvSpPr txBox="1"/>
          <p:nvPr/>
        </p:nvSpPr>
        <p:spPr>
          <a:xfrm rot="18000000">
            <a:off x="16289701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PhnO  COG0454</a:t>
            </a:r>
          </a:p>
        </p:txBody>
      </p:sp>
      <p:sp>
        <p:nvSpPr>
          <p:cNvPr id="103" name="TextBox 102"/>
          <p:cNvSpPr txBox="1"/>
          <p:nvPr/>
        </p:nvSpPr>
        <p:spPr>
          <a:xfrm rot="18000000">
            <a:off x="16695605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COG2931  COG2931</a:t>
            </a:r>
          </a:p>
        </p:txBody>
      </p:sp>
      <p:sp>
        <p:nvSpPr>
          <p:cNvPr id="104" name="TextBox 103"/>
          <p:cNvSpPr txBox="1"/>
          <p:nvPr/>
        </p:nvSpPr>
        <p:spPr>
          <a:xfrm rot="18000000">
            <a:off x="17101510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DLH  COG0412</a:t>
            </a:r>
          </a:p>
        </p:txBody>
      </p:sp>
      <p:sp>
        <p:nvSpPr>
          <p:cNvPr id="105" name="TextBox 104"/>
          <p:cNvSpPr txBox="1"/>
          <p:nvPr/>
        </p:nvSpPr>
        <p:spPr>
          <a:xfrm rot="18000000">
            <a:off x="17507414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CHASE2  COG4252</a:t>
            </a:r>
          </a:p>
        </p:txBody>
      </p:sp>
      <p:sp>
        <p:nvSpPr>
          <p:cNvPr id="106" name="TextBox 105"/>
          <p:cNvSpPr txBox="1"/>
          <p:nvPr/>
        </p:nvSpPr>
        <p:spPr>
          <a:xfrm rot="18000000">
            <a:off x="17913319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COG2192  COG2192</a:t>
            </a:r>
          </a:p>
        </p:txBody>
      </p:sp>
      <p:sp>
        <p:nvSpPr>
          <p:cNvPr id="107" name="TextBox 106"/>
          <p:cNvSpPr txBox="1"/>
          <p:nvPr/>
        </p:nvSpPr>
        <p:spPr>
          <a:xfrm rot="18000000">
            <a:off x="18319223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LigW  COG2159</a:t>
            </a:r>
          </a:p>
        </p:txBody>
      </p:sp>
      <p:sp>
        <p:nvSpPr>
          <p:cNvPr id="108" name="TextBox 107"/>
          <p:cNvSpPr txBox="1"/>
          <p:nvPr/>
        </p:nvSpPr>
        <p:spPr>
          <a:xfrm rot="18000000">
            <a:off x="18725127" y="65836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0B0B0B"/>
                </a:solidFill>
                <a:latin typeface="Consolas"/>
              </a:rPr>
              <a:t>PPE  COG5651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7160" y="2606040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Weissberg - Proteomics (MED4)</a:t>
            </a:r>
          </a:p>
        </p:txBody>
      </p:sp>
      <p:sp>
        <p:nvSpPr>
          <p:cNvPr id="110" name="cell|N: Weissberg - Proteomics (MED4)|COG0188|ns"/>
          <p:cNvSpPr/>
          <p:nvPr/>
        </p:nvSpPr>
        <p:spPr>
          <a:xfrm>
            <a:off x="3200400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200400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0/5/6</a:t>
            </a:r>
          </a:p>
        </p:txBody>
      </p:sp>
      <p:sp>
        <p:nvSpPr>
          <p:cNvPr id="112" name="cell|N: Weissberg - Proteomics (MED4)|COG1787|ns"/>
          <p:cNvSpPr/>
          <p:nvPr/>
        </p:nvSpPr>
        <p:spPr>
          <a:xfrm>
            <a:off x="3606304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06304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14" name="cell|N: Weissberg - Proteomics (MED4)|COG3727|absent"/>
          <p:cNvSpPr/>
          <p:nvPr/>
        </p:nvSpPr>
        <p:spPr>
          <a:xfrm>
            <a:off x="4012208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cell|N: Weissberg - Proteomics (MED4)|COG1793|ns"/>
          <p:cNvSpPr/>
          <p:nvPr/>
        </p:nvSpPr>
        <p:spPr>
          <a:xfrm>
            <a:off x="4418113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18113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117" name="cell|N: Weissberg - Proteomics (MED4)|COG0640|nodata"/>
          <p:cNvSpPr/>
          <p:nvPr/>
        </p:nvSpPr>
        <p:spPr>
          <a:xfrm>
            <a:off x="4824017" y="26060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ell|N: Weissberg - Proteomics (MED4)|COG1403|ns"/>
          <p:cNvSpPr/>
          <p:nvPr/>
        </p:nvSpPr>
        <p:spPr>
          <a:xfrm>
            <a:off x="5229921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229921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0/2/4</a:t>
            </a:r>
          </a:p>
        </p:txBody>
      </p:sp>
      <p:sp>
        <p:nvSpPr>
          <p:cNvPr id="120" name="cell|N: Weissberg - Proteomics (MED4)|COG2214|ns"/>
          <p:cNvSpPr/>
          <p:nvPr/>
        </p:nvSpPr>
        <p:spPr>
          <a:xfrm>
            <a:off x="5635826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35826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122" name="cell|N: Weissberg - Proteomics (MED4)|COG0443|ns"/>
          <p:cNvSpPr/>
          <p:nvPr/>
        </p:nvSpPr>
        <p:spPr>
          <a:xfrm>
            <a:off x="6041730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041730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124" name="cell|N: Weissberg - Proteomics (MED4)|COG0484|ns"/>
          <p:cNvSpPr/>
          <p:nvPr/>
        </p:nvSpPr>
        <p:spPr>
          <a:xfrm>
            <a:off x="6447635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47635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126" name="cell|N: Weissberg - Proteomics (MED4)|COG0330|ns"/>
          <p:cNvSpPr/>
          <p:nvPr/>
        </p:nvSpPr>
        <p:spPr>
          <a:xfrm>
            <a:off x="6853539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53539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28" name="cell|N: Weissberg - Proteomics (MED4)|COG1187|ns"/>
          <p:cNvSpPr/>
          <p:nvPr/>
        </p:nvSpPr>
        <p:spPr>
          <a:xfrm>
            <a:off x="7259443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259443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30" name="cell|N: Weissberg - Proteomics (MED4)|COG1454|absent"/>
          <p:cNvSpPr/>
          <p:nvPr/>
        </p:nvSpPr>
        <p:spPr>
          <a:xfrm>
            <a:off x="7665348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cell|N: Weissberg - Proteomics (MED4)|COG2370|nodata"/>
          <p:cNvSpPr/>
          <p:nvPr/>
        </p:nvSpPr>
        <p:spPr>
          <a:xfrm>
            <a:off x="8071252" y="26060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ell|N: Weissberg - Proteomics (MED4)|COG0367|absent"/>
          <p:cNvSpPr/>
          <p:nvPr/>
        </p:nvSpPr>
        <p:spPr>
          <a:xfrm>
            <a:off x="8477157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cell|N: Weissberg - Proteomics (MED4)|COG0082|ns"/>
          <p:cNvSpPr/>
          <p:nvPr/>
        </p:nvSpPr>
        <p:spPr>
          <a:xfrm>
            <a:off x="8883061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883061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35" name="cell|N: Weissberg - Proteomics (MED4)|COG2274|absent"/>
          <p:cNvSpPr/>
          <p:nvPr/>
        </p:nvSpPr>
        <p:spPr>
          <a:xfrm>
            <a:off x="9288965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ell|N: Weissberg - Proteomics (MED4)|COG1989|absent"/>
          <p:cNvSpPr/>
          <p:nvPr/>
        </p:nvSpPr>
        <p:spPr>
          <a:xfrm>
            <a:off x="9694870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cell|N: Weissberg - Proteomics (MED4)|COG0845|ns"/>
          <p:cNvSpPr/>
          <p:nvPr/>
        </p:nvSpPr>
        <p:spPr>
          <a:xfrm>
            <a:off x="10100774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100774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139" name="cell|N: Weissberg - Proteomics (MED4)|COG0488|ns"/>
          <p:cNvSpPr/>
          <p:nvPr/>
        </p:nvSpPr>
        <p:spPr>
          <a:xfrm>
            <a:off x="10506679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06679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141" name="cell|N: Weissberg - Proteomics (MED4)|COG0697|ns"/>
          <p:cNvSpPr/>
          <p:nvPr/>
        </p:nvSpPr>
        <p:spPr>
          <a:xfrm>
            <a:off x="10912583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12583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0/3/9</a:t>
            </a:r>
          </a:p>
        </p:txBody>
      </p:sp>
      <p:sp>
        <p:nvSpPr>
          <p:cNvPr id="143" name="cell|N: Weissberg - Proteomics (MED4)|COG3839|absent"/>
          <p:cNvSpPr/>
          <p:nvPr/>
        </p:nvSpPr>
        <p:spPr>
          <a:xfrm>
            <a:off x="11318487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cell|N: Weissberg - Proteomics (MED4)|COG1212|absent"/>
          <p:cNvSpPr/>
          <p:nvPr/>
        </p:nvSpPr>
        <p:spPr>
          <a:xfrm>
            <a:off x="11724392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cell|N: Weissberg - Proteomics (MED4)|COG0477|ns"/>
          <p:cNvSpPr/>
          <p:nvPr/>
        </p:nvSpPr>
        <p:spPr>
          <a:xfrm>
            <a:off x="12130296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130296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0/15/25</a:t>
            </a:r>
          </a:p>
        </p:txBody>
      </p:sp>
      <p:sp>
        <p:nvSpPr>
          <p:cNvPr id="147" name="cell|N: Weissberg - Proteomics (MED4)|COG1472|absent"/>
          <p:cNvSpPr/>
          <p:nvPr/>
        </p:nvSpPr>
        <p:spPr>
          <a:xfrm>
            <a:off x="12536200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cell|N: Weissberg - Proteomics (MED4)|COG3754|absent"/>
          <p:cNvSpPr/>
          <p:nvPr/>
        </p:nvSpPr>
        <p:spPr>
          <a:xfrm>
            <a:off x="12942105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cell|N: Weissberg - Proteomics (MED4)|COG0399|ns"/>
          <p:cNvSpPr/>
          <p:nvPr/>
        </p:nvSpPr>
        <p:spPr>
          <a:xfrm>
            <a:off x="13348009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3348009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151" name="cell|N: Weissberg - Proteomics (MED4)|COG0673|ns"/>
          <p:cNvSpPr/>
          <p:nvPr/>
        </p:nvSpPr>
        <p:spPr>
          <a:xfrm>
            <a:off x="13753914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3753914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53" name="cell|N: Weissberg - Proteomics (MED4)|COG0810|absent"/>
          <p:cNvSpPr/>
          <p:nvPr/>
        </p:nvSpPr>
        <p:spPr>
          <a:xfrm>
            <a:off x="14159818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cell|N: Weissberg - Proteomics (MED4)|COG3206|absent"/>
          <p:cNvSpPr/>
          <p:nvPr/>
        </p:nvSpPr>
        <p:spPr>
          <a:xfrm>
            <a:off x="14565722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cell|N: Weissberg - Proteomics (MED4)|COG1596|ns"/>
          <p:cNvSpPr/>
          <p:nvPr/>
        </p:nvSpPr>
        <p:spPr>
          <a:xfrm>
            <a:off x="14971627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4971627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157" name="cell|N: Weissberg - Proteomics (MED4)|COG1462|absent"/>
          <p:cNvSpPr/>
          <p:nvPr/>
        </p:nvSpPr>
        <p:spPr>
          <a:xfrm>
            <a:off x="15377531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cell|N: Weissberg - Proteomics (MED4)|COG3210|nodata"/>
          <p:cNvSpPr/>
          <p:nvPr/>
        </p:nvSpPr>
        <p:spPr>
          <a:xfrm>
            <a:off x="15783436" y="26060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cell|N: Weissberg - Proteomics (MED4)|COG2010|ns"/>
          <p:cNvSpPr/>
          <p:nvPr/>
        </p:nvSpPr>
        <p:spPr>
          <a:xfrm>
            <a:off x="16189340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6189340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61" name="cell|N: Weissberg - Proteomics (MED4)|COG2114|absent"/>
          <p:cNvSpPr/>
          <p:nvPr/>
        </p:nvSpPr>
        <p:spPr>
          <a:xfrm>
            <a:off x="16595244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cell|N: Weissberg - Proteomics (MED4)|COG0454|ns"/>
          <p:cNvSpPr/>
          <p:nvPr/>
        </p:nvSpPr>
        <p:spPr>
          <a:xfrm>
            <a:off x="17001149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7001149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0/3/5</a:t>
            </a:r>
          </a:p>
        </p:txBody>
      </p:sp>
      <p:sp>
        <p:nvSpPr>
          <p:cNvPr id="164" name="cell|N: Weissberg - Proteomics (MED4)|COG2931|absent"/>
          <p:cNvSpPr/>
          <p:nvPr/>
        </p:nvSpPr>
        <p:spPr>
          <a:xfrm>
            <a:off x="17407053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cell|N: Weissberg - Proteomics (MED4)|COG0412|absent"/>
          <p:cNvSpPr/>
          <p:nvPr/>
        </p:nvSpPr>
        <p:spPr>
          <a:xfrm>
            <a:off x="17812958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cell|N: Weissberg - Proteomics (MED4)|COG4252|absent"/>
          <p:cNvSpPr/>
          <p:nvPr/>
        </p:nvSpPr>
        <p:spPr>
          <a:xfrm>
            <a:off x="18218862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cell|N: Weissberg - Proteomics (MED4)|COG2192|ns"/>
          <p:cNvSpPr/>
          <p:nvPr/>
        </p:nvSpPr>
        <p:spPr>
          <a:xfrm>
            <a:off x="18624766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8624766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69" name="cell|N: Weissberg - Proteomics (MED4)|COG2159|ns"/>
          <p:cNvSpPr/>
          <p:nvPr/>
        </p:nvSpPr>
        <p:spPr>
          <a:xfrm>
            <a:off x="19030671" y="26060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9030671" y="26060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71" name="cell|N: Weissberg - Proteomics (MED4)|COG5651|absent"/>
          <p:cNvSpPr/>
          <p:nvPr/>
        </p:nvSpPr>
        <p:spPr>
          <a:xfrm>
            <a:off x="19436575" y="26060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37160" y="2990088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Weissberg - RNA-seq (MED4)</a:t>
            </a:r>
          </a:p>
        </p:txBody>
      </p:sp>
      <p:sp>
        <p:nvSpPr>
          <p:cNvPr id="173" name="cell|N: Weissberg - RNA-seq (MED4)|COG0188|up"/>
          <p:cNvSpPr/>
          <p:nvPr/>
        </p:nvSpPr>
        <p:spPr>
          <a:xfrm>
            <a:off x="3200400" y="2990088"/>
            <a:ext cx="405904" cy="384048"/>
          </a:xfrm>
          <a:prstGeom prst="rect">
            <a:avLst/>
          </a:prstGeom>
          <a:solidFill>
            <a:srgbClr val="DF585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00400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5/6/6</a:t>
            </a:r>
          </a:p>
        </p:txBody>
      </p:sp>
      <p:sp>
        <p:nvSpPr>
          <p:cNvPr id="175" name="cell|N: Weissberg - RNA-seq (MED4)|COG1787|up"/>
          <p:cNvSpPr/>
          <p:nvPr/>
        </p:nvSpPr>
        <p:spPr>
          <a:xfrm>
            <a:off x="3606304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606304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77" name="cell|N: Weissberg - RNA-seq (MED4)|COG3727|absent"/>
          <p:cNvSpPr/>
          <p:nvPr/>
        </p:nvSpPr>
        <p:spPr>
          <a:xfrm>
            <a:off x="4012208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cell|N: Weissberg - RNA-seq (MED4)|COG1793|up"/>
          <p:cNvSpPr/>
          <p:nvPr/>
        </p:nvSpPr>
        <p:spPr>
          <a:xfrm>
            <a:off x="4418113" y="2990088"/>
            <a:ext cx="405904" cy="384048"/>
          </a:xfrm>
          <a:prstGeom prst="rect">
            <a:avLst/>
          </a:prstGeom>
          <a:solidFill>
            <a:srgbClr val="DB67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418113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2/3/3</a:t>
            </a:r>
          </a:p>
        </p:txBody>
      </p:sp>
      <p:sp>
        <p:nvSpPr>
          <p:cNvPr id="180" name="cell|N: Weissberg - RNA-seq (MED4)|COG0640|up"/>
          <p:cNvSpPr/>
          <p:nvPr/>
        </p:nvSpPr>
        <p:spPr>
          <a:xfrm>
            <a:off x="4824017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824017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82" name="cell|N: Weissberg - RNA-seq (MED4)|COG1403|up"/>
          <p:cNvSpPr/>
          <p:nvPr/>
        </p:nvSpPr>
        <p:spPr>
          <a:xfrm>
            <a:off x="5229921" y="29900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229921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184" name="cell|N: Weissberg - RNA-seq (MED4)|COG2214|up"/>
          <p:cNvSpPr/>
          <p:nvPr/>
        </p:nvSpPr>
        <p:spPr>
          <a:xfrm>
            <a:off x="5635826" y="2990088"/>
            <a:ext cx="405904" cy="384048"/>
          </a:xfrm>
          <a:prstGeom prst="rect">
            <a:avLst/>
          </a:prstGeom>
          <a:solidFill>
            <a:srgbClr val="D96D6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35826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3/5/5</a:t>
            </a:r>
          </a:p>
        </p:txBody>
      </p:sp>
      <p:sp>
        <p:nvSpPr>
          <p:cNvPr id="186" name="cell|N: Weissberg - RNA-seq (MED4)|COG0443|up"/>
          <p:cNvSpPr/>
          <p:nvPr/>
        </p:nvSpPr>
        <p:spPr>
          <a:xfrm>
            <a:off x="6041730" y="29900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041730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188" name="cell|N: Weissberg - RNA-seq (MED4)|COG0484|up"/>
          <p:cNvSpPr/>
          <p:nvPr/>
        </p:nvSpPr>
        <p:spPr>
          <a:xfrm>
            <a:off x="6447635" y="2990088"/>
            <a:ext cx="405904" cy="384048"/>
          </a:xfrm>
          <a:prstGeom prst="rect">
            <a:avLst/>
          </a:prstGeom>
          <a:solidFill>
            <a:srgbClr val="D57F7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47635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2/5/5</a:t>
            </a:r>
          </a:p>
        </p:txBody>
      </p:sp>
      <p:sp>
        <p:nvSpPr>
          <p:cNvPr id="190" name="cell|N: Weissberg - RNA-seq (MED4)|COG0330|ns"/>
          <p:cNvSpPr/>
          <p:nvPr/>
        </p:nvSpPr>
        <p:spPr>
          <a:xfrm>
            <a:off x="6853539" y="29900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853539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92" name="cell|N: Weissberg - RNA-seq (MED4)|COG1187|ns"/>
          <p:cNvSpPr/>
          <p:nvPr/>
        </p:nvSpPr>
        <p:spPr>
          <a:xfrm>
            <a:off x="7259443" y="29900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259443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94" name="cell|N: Weissberg - RNA-seq (MED4)|COG1454|absent"/>
          <p:cNvSpPr/>
          <p:nvPr/>
        </p:nvSpPr>
        <p:spPr>
          <a:xfrm>
            <a:off x="7665348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cell|N: Weissberg - RNA-seq (MED4)|COG2370|up"/>
          <p:cNvSpPr/>
          <p:nvPr/>
        </p:nvSpPr>
        <p:spPr>
          <a:xfrm>
            <a:off x="8071252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8071252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97" name="cell|N: Weissberg - RNA-seq (MED4)|COG0367|absent"/>
          <p:cNvSpPr/>
          <p:nvPr/>
        </p:nvSpPr>
        <p:spPr>
          <a:xfrm>
            <a:off x="8477157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cell|N: Weissberg - RNA-seq (MED4)|COG0082|up"/>
          <p:cNvSpPr/>
          <p:nvPr/>
        </p:nvSpPr>
        <p:spPr>
          <a:xfrm>
            <a:off x="8883061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883061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200" name="cell|N: Weissberg - RNA-seq (MED4)|COG2274|absent"/>
          <p:cNvSpPr/>
          <p:nvPr/>
        </p:nvSpPr>
        <p:spPr>
          <a:xfrm>
            <a:off x="9288965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cell|N: Weissberg - RNA-seq (MED4)|COG1989|absent"/>
          <p:cNvSpPr/>
          <p:nvPr/>
        </p:nvSpPr>
        <p:spPr>
          <a:xfrm>
            <a:off x="9694870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cell|N: Weissberg - RNA-seq (MED4)|COG0845|up"/>
          <p:cNvSpPr/>
          <p:nvPr/>
        </p:nvSpPr>
        <p:spPr>
          <a:xfrm>
            <a:off x="10100774" y="2990088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0100774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204" name="cell|N: Weissberg - RNA-seq (MED4)|COG0488|up"/>
          <p:cNvSpPr/>
          <p:nvPr/>
        </p:nvSpPr>
        <p:spPr>
          <a:xfrm>
            <a:off x="10506679" y="2990088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0506679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206" name="cell|N: Weissberg - RNA-seq (MED4)|COG0697|up"/>
          <p:cNvSpPr/>
          <p:nvPr/>
        </p:nvSpPr>
        <p:spPr>
          <a:xfrm>
            <a:off x="10912583" y="2990088"/>
            <a:ext cx="405904" cy="384048"/>
          </a:xfrm>
          <a:prstGeom prst="rect">
            <a:avLst/>
          </a:prstGeom>
          <a:solidFill>
            <a:srgbClr val="DE5D5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0912583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7/9/9</a:t>
            </a:r>
          </a:p>
        </p:txBody>
      </p:sp>
      <p:sp>
        <p:nvSpPr>
          <p:cNvPr id="208" name="cell|N: Weissberg - RNA-seq (MED4)|COG3839|absent"/>
          <p:cNvSpPr/>
          <p:nvPr/>
        </p:nvSpPr>
        <p:spPr>
          <a:xfrm>
            <a:off x="11318487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cell|N: Weissberg - RNA-seq (MED4)|COG1212|absent"/>
          <p:cNvSpPr/>
          <p:nvPr/>
        </p:nvSpPr>
        <p:spPr>
          <a:xfrm>
            <a:off x="11724392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cell|N: Weissberg - RNA-seq (MED4)|COG0477|down"/>
          <p:cNvSpPr/>
          <p:nvPr/>
        </p:nvSpPr>
        <p:spPr>
          <a:xfrm>
            <a:off x="12130296" y="2990088"/>
            <a:ext cx="405904" cy="384048"/>
          </a:xfrm>
          <a:prstGeom prst="rect">
            <a:avLst/>
          </a:prstGeom>
          <a:solidFill>
            <a:srgbClr val="739CC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2130296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9/25/25</a:t>
            </a:r>
          </a:p>
        </p:txBody>
      </p:sp>
      <p:sp>
        <p:nvSpPr>
          <p:cNvPr id="212" name="cell|N: Weissberg - RNA-seq (MED4)|COG1472|absent"/>
          <p:cNvSpPr/>
          <p:nvPr/>
        </p:nvSpPr>
        <p:spPr>
          <a:xfrm>
            <a:off x="12536200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ell|N: Weissberg - RNA-seq (MED4)|COG3754|absent"/>
          <p:cNvSpPr/>
          <p:nvPr/>
        </p:nvSpPr>
        <p:spPr>
          <a:xfrm>
            <a:off x="12942105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cell|N: Weissberg - RNA-seq (MED4)|COG0399|up"/>
          <p:cNvSpPr/>
          <p:nvPr/>
        </p:nvSpPr>
        <p:spPr>
          <a:xfrm>
            <a:off x="13348009" y="29900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3348009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216" name="cell|N: Weissberg - RNA-seq (MED4)|COG0673|down"/>
          <p:cNvSpPr/>
          <p:nvPr/>
        </p:nvSpPr>
        <p:spPr>
          <a:xfrm>
            <a:off x="13753914" y="2990088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3753914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218" name="cell|N: Weissberg - RNA-seq (MED4)|COG0810|absent"/>
          <p:cNvSpPr/>
          <p:nvPr/>
        </p:nvSpPr>
        <p:spPr>
          <a:xfrm>
            <a:off x="14159818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ell|N: Weissberg - RNA-seq (MED4)|COG3206|absent"/>
          <p:cNvSpPr/>
          <p:nvPr/>
        </p:nvSpPr>
        <p:spPr>
          <a:xfrm>
            <a:off x="14565722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cell|N: Weissberg - RNA-seq (MED4)|COG1596|up"/>
          <p:cNvSpPr/>
          <p:nvPr/>
        </p:nvSpPr>
        <p:spPr>
          <a:xfrm>
            <a:off x="14971627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4971627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2/2/2</a:t>
            </a:r>
          </a:p>
        </p:txBody>
      </p:sp>
      <p:sp>
        <p:nvSpPr>
          <p:cNvPr id="222" name="cell|N: Weissberg - RNA-seq (MED4)|COG1462|absent"/>
          <p:cNvSpPr/>
          <p:nvPr/>
        </p:nvSpPr>
        <p:spPr>
          <a:xfrm>
            <a:off x="15377531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cell|N: Weissberg - RNA-seq (MED4)|COG3210|up"/>
          <p:cNvSpPr/>
          <p:nvPr/>
        </p:nvSpPr>
        <p:spPr>
          <a:xfrm>
            <a:off x="15783436" y="29900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5783436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225" name="cell|N: Weissberg - RNA-seq (MED4)|COG2010|ns"/>
          <p:cNvSpPr/>
          <p:nvPr/>
        </p:nvSpPr>
        <p:spPr>
          <a:xfrm>
            <a:off x="16189340" y="29900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6189340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27" name="cell|N: Weissberg - RNA-seq (MED4)|COG2114|absent"/>
          <p:cNvSpPr/>
          <p:nvPr/>
        </p:nvSpPr>
        <p:spPr>
          <a:xfrm>
            <a:off x="16595244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cell|N: Weissberg - RNA-seq (MED4)|COG0454|up"/>
          <p:cNvSpPr/>
          <p:nvPr/>
        </p:nvSpPr>
        <p:spPr>
          <a:xfrm>
            <a:off x="17001149" y="2990088"/>
            <a:ext cx="405904" cy="384048"/>
          </a:xfrm>
          <a:prstGeom prst="rect">
            <a:avLst/>
          </a:prstGeom>
          <a:solidFill>
            <a:srgbClr val="D57F7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7001149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2/5/5</a:t>
            </a:r>
          </a:p>
        </p:txBody>
      </p:sp>
      <p:sp>
        <p:nvSpPr>
          <p:cNvPr id="230" name="cell|N: Weissberg - RNA-seq (MED4)|COG2931|absent"/>
          <p:cNvSpPr/>
          <p:nvPr/>
        </p:nvSpPr>
        <p:spPr>
          <a:xfrm>
            <a:off x="17407053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cell|N: Weissberg - RNA-seq (MED4)|COG0412|absent"/>
          <p:cNvSpPr/>
          <p:nvPr/>
        </p:nvSpPr>
        <p:spPr>
          <a:xfrm>
            <a:off x="17812958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cell|N: Weissberg - RNA-seq (MED4)|COG4252|absent"/>
          <p:cNvSpPr/>
          <p:nvPr/>
        </p:nvSpPr>
        <p:spPr>
          <a:xfrm>
            <a:off x="18218862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cell|N: Weissberg - RNA-seq (MED4)|COG2192|up"/>
          <p:cNvSpPr/>
          <p:nvPr/>
        </p:nvSpPr>
        <p:spPr>
          <a:xfrm>
            <a:off x="18624766" y="29900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8624766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235" name="cell|N: Weissberg - RNA-seq (MED4)|COG2159|ns"/>
          <p:cNvSpPr/>
          <p:nvPr/>
        </p:nvSpPr>
        <p:spPr>
          <a:xfrm>
            <a:off x="19030671" y="29900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9030671" y="29900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37" name="cell|N: Weissberg - RNA-seq (MED4)|COG5651|absent"/>
          <p:cNvSpPr/>
          <p:nvPr/>
        </p:nvSpPr>
        <p:spPr>
          <a:xfrm>
            <a:off x="19436575" y="29900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37160" y="3374136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Read - RNA-seq (MED4)</a:t>
            </a:r>
          </a:p>
        </p:txBody>
      </p:sp>
      <p:sp>
        <p:nvSpPr>
          <p:cNvPr id="239" name="cell|N: Read - RNA-seq (MED4)|COG0188|down"/>
          <p:cNvSpPr/>
          <p:nvPr/>
        </p:nvSpPr>
        <p:spPr>
          <a:xfrm>
            <a:off x="3200400" y="3374136"/>
            <a:ext cx="405904" cy="384048"/>
          </a:xfrm>
          <a:prstGeom prst="rect">
            <a:avLst/>
          </a:prstGeom>
          <a:solidFill>
            <a:srgbClr val="86A4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3200400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1/5/6</a:t>
            </a:r>
          </a:p>
        </p:txBody>
      </p:sp>
      <p:sp>
        <p:nvSpPr>
          <p:cNvPr id="241" name="cell|N: Read - RNA-seq (MED4)|COG1787|nodata"/>
          <p:cNvSpPr/>
          <p:nvPr/>
        </p:nvSpPr>
        <p:spPr>
          <a:xfrm>
            <a:off x="3606304" y="33741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cell|N: Read - RNA-seq (MED4)|COG3727|absent"/>
          <p:cNvSpPr/>
          <p:nvPr/>
        </p:nvSpPr>
        <p:spPr>
          <a:xfrm>
            <a:off x="4012208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cell|N: Read - RNA-seq (MED4)|COG1793|ns"/>
          <p:cNvSpPr/>
          <p:nvPr/>
        </p:nvSpPr>
        <p:spPr>
          <a:xfrm>
            <a:off x="4418113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4418113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45" name="cell|N: Read - RNA-seq (MED4)|COG0640|ns"/>
          <p:cNvSpPr/>
          <p:nvPr/>
        </p:nvSpPr>
        <p:spPr>
          <a:xfrm>
            <a:off x="4824017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4824017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47" name="cell|N: Read - RNA-seq (MED4)|COG1403|ns"/>
          <p:cNvSpPr/>
          <p:nvPr/>
        </p:nvSpPr>
        <p:spPr>
          <a:xfrm>
            <a:off x="5229921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5229921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249" name="cell|N: Read - RNA-seq (MED4)|COG2214|ns"/>
          <p:cNvSpPr/>
          <p:nvPr/>
        </p:nvSpPr>
        <p:spPr>
          <a:xfrm>
            <a:off x="5635826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5635826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0/2/5</a:t>
            </a:r>
          </a:p>
        </p:txBody>
      </p:sp>
      <p:sp>
        <p:nvSpPr>
          <p:cNvPr id="251" name="cell|N: Read - RNA-seq (MED4)|COG0443|ns"/>
          <p:cNvSpPr/>
          <p:nvPr/>
        </p:nvSpPr>
        <p:spPr>
          <a:xfrm>
            <a:off x="6041730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041730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253" name="cell|N: Read - RNA-seq (MED4)|COG0484|ns"/>
          <p:cNvSpPr/>
          <p:nvPr/>
        </p:nvSpPr>
        <p:spPr>
          <a:xfrm>
            <a:off x="6447635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47635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0/3/5</a:t>
            </a:r>
          </a:p>
        </p:txBody>
      </p:sp>
      <p:sp>
        <p:nvSpPr>
          <p:cNvPr id="255" name="cell|N: Read - RNA-seq (MED4)|COG0330|ns"/>
          <p:cNvSpPr/>
          <p:nvPr/>
        </p:nvSpPr>
        <p:spPr>
          <a:xfrm>
            <a:off x="6853539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853539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57" name="cell|N: Read - RNA-seq (MED4)|COG1187|ns"/>
          <p:cNvSpPr/>
          <p:nvPr/>
        </p:nvSpPr>
        <p:spPr>
          <a:xfrm>
            <a:off x="7259443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7259443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59" name="cell|N: Read - RNA-seq (MED4)|COG1454|absent"/>
          <p:cNvSpPr/>
          <p:nvPr/>
        </p:nvSpPr>
        <p:spPr>
          <a:xfrm>
            <a:off x="7665348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cell|N: Read - RNA-seq (MED4)|COG2370|ns"/>
          <p:cNvSpPr/>
          <p:nvPr/>
        </p:nvSpPr>
        <p:spPr>
          <a:xfrm>
            <a:off x="8071252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071252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62" name="cell|N: Read - RNA-seq (MED4)|COG0367|absent"/>
          <p:cNvSpPr/>
          <p:nvPr/>
        </p:nvSpPr>
        <p:spPr>
          <a:xfrm>
            <a:off x="8477157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cell|N: Read - RNA-seq (MED4)|COG0082|ns"/>
          <p:cNvSpPr/>
          <p:nvPr/>
        </p:nvSpPr>
        <p:spPr>
          <a:xfrm>
            <a:off x="8883061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883061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65" name="cell|N: Read - RNA-seq (MED4)|COG2274|absent"/>
          <p:cNvSpPr/>
          <p:nvPr/>
        </p:nvSpPr>
        <p:spPr>
          <a:xfrm>
            <a:off x="9288965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cell|N: Read - RNA-seq (MED4)|COG1989|absent"/>
          <p:cNvSpPr/>
          <p:nvPr/>
        </p:nvSpPr>
        <p:spPr>
          <a:xfrm>
            <a:off x="9694870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cell|N: Read - RNA-seq (MED4)|COG0845|ns"/>
          <p:cNvSpPr/>
          <p:nvPr/>
        </p:nvSpPr>
        <p:spPr>
          <a:xfrm>
            <a:off x="10100774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0100774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69" name="cell|N: Read - RNA-seq (MED4)|COG0488|ns"/>
          <p:cNvSpPr/>
          <p:nvPr/>
        </p:nvSpPr>
        <p:spPr>
          <a:xfrm>
            <a:off x="10506679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506679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71" name="cell|N: Read - RNA-seq (MED4)|COG0697|up"/>
          <p:cNvSpPr/>
          <p:nvPr/>
        </p:nvSpPr>
        <p:spPr>
          <a:xfrm>
            <a:off x="10912583" y="3374136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912583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2/6/9</a:t>
            </a:r>
          </a:p>
        </p:txBody>
      </p:sp>
      <p:sp>
        <p:nvSpPr>
          <p:cNvPr id="273" name="cell|N: Read - RNA-seq (MED4)|COG3839|absent"/>
          <p:cNvSpPr/>
          <p:nvPr/>
        </p:nvSpPr>
        <p:spPr>
          <a:xfrm>
            <a:off x="11318487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cell|N: Read - RNA-seq (MED4)|COG1212|absent"/>
          <p:cNvSpPr/>
          <p:nvPr/>
        </p:nvSpPr>
        <p:spPr>
          <a:xfrm>
            <a:off x="11724392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ell|N: Read - RNA-seq (MED4)|COG0477|down"/>
          <p:cNvSpPr/>
          <p:nvPr/>
        </p:nvSpPr>
        <p:spPr>
          <a:xfrm>
            <a:off x="12130296" y="3374136"/>
            <a:ext cx="405904" cy="384048"/>
          </a:xfrm>
          <a:prstGeom prst="rect">
            <a:avLst/>
          </a:prstGeom>
          <a:solidFill>
            <a:srgbClr val="799EC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2130296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5/16/25</a:t>
            </a:r>
          </a:p>
        </p:txBody>
      </p:sp>
      <p:sp>
        <p:nvSpPr>
          <p:cNvPr id="277" name="cell|N: Read - RNA-seq (MED4)|COG1472|absent"/>
          <p:cNvSpPr/>
          <p:nvPr/>
        </p:nvSpPr>
        <p:spPr>
          <a:xfrm>
            <a:off x="12536200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cell|N: Read - RNA-seq (MED4)|COG3754|absent"/>
          <p:cNvSpPr/>
          <p:nvPr/>
        </p:nvSpPr>
        <p:spPr>
          <a:xfrm>
            <a:off x="12942105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cell|N: Read - RNA-seq (MED4)|COG0399|up"/>
          <p:cNvSpPr/>
          <p:nvPr/>
        </p:nvSpPr>
        <p:spPr>
          <a:xfrm>
            <a:off x="13348009" y="3374136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13348009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281" name="cell|N: Read - RNA-seq (MED4)|COG0673|ns"/>
          <p:cNvSpPr/>
          <p:nvPr/>
        </p:nvSpPr>
        <p:spPr>
          <a:xfrm>
            <a:off x="13753914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3753914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83" name="cell|N: Read - RNA-seq (MED4)|COG0810|absent"/>
          <p:cNvSpPr/>
          <p:nvPr/>
        </p:nvSpPr>
        <p:spPr>
          <a:xfrm>
            <a:off x="14159818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ell|N: Read - RNA-seq (MED4)|COG3206|absent"/>
          <p:cNvSpPr/>
          <p:nvPr/>
        </p:nvSpPr>
        <p:spPr>
          <a:xfrm>
            <a:off x="14565722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cell|N: Read - RNA-seq (MED4)|COG1596|nodata"/>
          <p:cNvSpPr/>
          <p:nvPr/>
        </p:nvSpPr>
        <p:spPr>
          <a:xfrm>
            <a:off x="14971627" y="33741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cell|N: Read - RNA-seq (MED4)|COG1462|absent"/>
          <p:cNvSpPr/>
          <p:nvPr/>
        </p:nvSpPr>
        <p:spPr>
          <a:xfrm>
            <a:off x="15377531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cell|N: Read - RNA-seq (MED4)|COG3210|nodata"/>
          <p:cNvSpPr/>
          <p:nvPr/>
        </p:nvSpPr>
        <p:spPr>
          <a:xfrm>
            <a:off x="15783436" y="33741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cell|N: Read - RNA-seq (MED4)|COG2010|nodata"/>
          <p:cNvSpPr/>
          <p:nvPr/>
        </p:nvSpPr>
        <p:spPr>
          <a:xfrm>
            <a:off x="16189340" y="33741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cell|N: Read - RNA-seq (MED4)|COG2114|absent"/>
          <p:cNvSpPr/>
          <p:nvPr/>
        </p:nvSpPr>
        <p:spPr>
          <a:xfrm>
            <a:off x="16595244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cell|N: Read - RNA-seq (MED4)|COG0454|ns"/>
          <p:cNvSpPr/>
          <p:nvPr/>
        </p:nvSpPr>
        <p:spPr>
          <a:xfrm>
            <a:off x="17001149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7001149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0/2/5</a:t>
            </a:r>
          </a:p>
        </p:txBody>
      </p:sp>
      <p:sp>
        <p:nvSpPr>
          <p:cNvPr id="292" name="cell|N: Read - RNA-seq (MED4)|COG2931|absent"/>
          <p:cNvSpPr/>
          <p:nvPr/>
        </p:nvSpPr>
        <p:spPr>
          <a:xfrm>
            <a:off x="17407053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cell|N: Read - RNA-seq (MED4)|COG0412|absent"/>
          <p:cNvSpPr/>
          <p:nvPr/>
        </p:nvSpPr>
        <p:spPr>
          <a:xfrm>
            <a:off x="17812958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cell|N: Read - RNA-seq (MED4)|COG4252|absent"/>
          <p:cNvSpPr/>
          <p:nvPr/>
        </p:nvSpPr>
        <p:spPr>
          <a:xfrm>
            <a:off x="18218862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cell|N: Read - RNA-seq (MED4)|COG2192|ns"/>
          <p:cNvSpPr/>
          <p:nvPr/>
        </p:nvSpPr>
        <p:spPr>
          <a:xfrm>
            <a:off x="18624766" y="33741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624766" y="33741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97" name="cell|N: Read - RNA-seq (MED4)|COG2159|nodata"/>
          <p:cNvSpPr/>
          <p:nvPr/>
        </p:nvSpPr>
        <p:spPr>
          <a:xfrm>
            <a:off x="19030671" y="33741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cell|N: Read - RNA-seq (MED4)|COG5651|absent"/>
          <p:cNvSpPr/>
          <p:nvPr/>
        </p:nvSpPr>
        <p:spPr>
          <a:xfrm>
            <a:off x="19436575" y="33741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37160" y="3758184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Tolonen - Microarray (MED4)</a:t>
            </a:r>
          </a:p>
        </p:txBody>
      </p:sp>
      <p:sp>
        <p:nvSpPr>
          <p:cNvPr id="300" name="cell|N: Tolonen - Microarray (MED4)|COG0188|down"/>
          <p:cNvSpPr/>
          <p:nvPr/>
        </p:nvSpPr>
        <p:spPr>
          <a:xfrm>
            <a:off x="3200400" y="3758184"/>
            <a:ext cx="405904" cy="384048"/>
          </a:xfrm>
          <a:prstGeom prst="rect">
            <a:avLst/>
          </a:prstGeom>
          <a:solidFill>
            <a:srgbClr val="8AA6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200400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1/6/6</a:t>
            </a:r>
          </a:p>
        </p:txBody>
      </p:sp>
      <p:sp>
        <p:nvSpPr>
          <p:cNvPr id="302" name="cell|N: Tolonen - Microarray (MED4)|COG1787|ns"/>
          <p:cNvSpPr/>
          <p:nvPr/>
        </p:nvSpPr>
        <p:spPr>
          <a:xfrm>
            <a:off x="3606304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3606304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04" name="cell|N: Tolonen - Microarray (MED4)|COG3727|absent"/>
          <p:cNvSpPr/>
          <p:nvPr/>
        </p:nvSpPr>
        <p:spPr>
          <a:xfrm>
            <a:off x="4012208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ell|N: Tolonen - Microarray (MED4)|COG1793|ns"/>
          <p:cNvSpPr/>
          <p:nvPr/>
        </p:nvSpPr>
        <p:spPr>
          <a:xfrm>
            <a:off x="4418113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4418113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07" name="cell|N: Tolonen - Microarray (MED4)|COG0640|ns"/>
          <p:cNvSpPr/>
          <p:nvPr/>
        </p:nvSpPr>
        <p:spPr>
          <a:xfrm>
            <a:off x="4824017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4824017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09" name="cell|N: Tolonen - Microarray (MED4)|COG1403|ns"/>
          <p:cNvSpPr/>
          <p:nvPr/>
        </p:nvSpPr>
        <p:spPr>
          <a:xfrm>
            <a:off x="5229921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5229921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11" name="cell|N: Tolonen - Microarray (MED4)|COG2214|ns"/>
          <p:cNvSpPr/>
          <p:nvPr/>
        </p:nvSpPr>
        <p:spPr>
          <a:xfrm>
            <a:off x="5635826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635826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13" name="cell|N: Tolonen - Microarray (MED4)|COG0443|ns"/>
          <p:cNvSpPr/>
          <p:nvPr/>
        </p:nvSpPr>
        <p:spPr>
          <a:xfrm>
            <a:off x="6041730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041730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15" name="cell|N: Tolonen - Microarray (MED4)|COG0484|ns"/>
          <p:cNvSpPr/>
          <p:nvPr/>
        </p:nvSpPr>
        <p:spPr>
          <a:xfrm>
            <a:off x="6447635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7635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17" name="cell|N: Tolonen - Microarray (MED4)|COG0330|ns"/>
          <p:cNvSpPr/>
          <p:nvPr/>
        </p:nvSpPr>
        <p:spPr>
          <a:xfrm>
            <a:off x="6853539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853539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19" name="cell|N: Tolonen - Microarray (MED4)|COG1187|ns"/>
          <p:cNvSpPr/>
          <p:nvPr/>
        </p:nvSpPr>
        <p:spPr>
          <a:xfrm>
            <a:off x="7259443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259443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21" name="cell|N: Tolonen - Microarray (MED4)|COG1454|absent"/>
          <p:cNvSpPr/>
          <p:nvPr/>
        </p:nvSpPr>
        <p:spPr>
          <a:xfrm>
            <a:off x="7665348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cell|N: Tolonen - Microarray (MED4)|COG2370|ns"/>
          <p:cNvSpPr/>
          <p:nvPr/>
        </p:nvSpPr>
        <p:spPr>
          <a:xfrm>
            <a:off x="8071252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8071252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24" name="cell|N: Tolonen - Microarray (MED4)|COG0367|absent"/>
          <p:cNvSpPr/>
          <p:nvPr/>
        </p:nvSpPr>
        <p:spPr>
          <a:xfrm>
            <a:off x="8477157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cell|N: Tolonen - Microarray (MED4)|COG0082|ns"/>
          <p:cNvSpPr/>
          <p:nvPr/>
        </p:nvSpPr>
        <p:spPr>
          <a:xfrm>
            <a:off x="8883061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8883061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27" name="cell|N: Tolonen - Microarray (MED4)|COG2274|absent"/>
          <p:cNvSpPr/>
          <p:nvPr/>
        </p:nvSpPr>
        <p:spPr>
          <a:xfrm>
            <a:off x="9288965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cell|N: Tolonen - Microarray (MED4)|COG1989|absent"/>
          <p:cNvSpPr/>
          <p:nvPr/>
        </p:nvSpPr>
        <p:spPr>
          <a:xfrm>
            <a:off x="9694870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cell|N: Tolonen - Microarray (MED4)|COG0845|ns"/>
          <p:cNvSpPr/>
          <p:nvPr/>
        </p:nvSpPr>
        <p:spPr>
          <a:xfrm>
            <a:off x="10100774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0100774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31" name="cell|N: Tolonen - Microarray (MED4)|COG0488|ns"/>
          <p:cNvSpPr/>
          <p:nvPr/>
        </p:nvSpPr>
        <p:spPr>
          <a:xfrm>
            <a:off x="10506679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0506679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33" name="cell|N: Tolonen - Microarray (MED4)|COG0697|ns"/>
          <p:cNvSpPr/>
          <p:nvPr/>
        </p:nvSpPr>
        <p:spPr>
          <a:xfrm>
            <a:off x="10912583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10912583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0/9/9</a:t>
            </a:r>
          </a:p>
        </p:txBody>
      </p:sp>
      <p:sp>
        <p:nvSpPr>
          <p:cNvPr id="335" name="cell|N: Tolonen - Microarray (MED4)|COG3839|absent"/>
          <p:cNvSpPr/>
          <p:nvPr/>
        </p:nvSpPr>
        <p:spPr>
          <a:xfrm>
            <a:off x="11318487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cell|N: Tolonen - Microarray (MED4)|COG1212|absent"/>
          <p:cNvSpPr/>
          <p:nvPr/>
        </p:nvSpPr>
        <p:spPr>
          <a:xfrm>
            <a:off x="11724392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cell|N: Tolonen - Microarray (MED4)|COG0477|down"/>
          <p:cNvSpPr/>
          <p:nvPr/>
        </p:nvSpPr>
        <p:spPr>
          <a:xfrm>
            <a:off x="12130296" y="3758184"/>
            <a:ext cx="405904" cy="384048"/>
          </a:xfrm>
          <a:prstGeom prst="rect">
            <a:avLst/>
          </a:prstGeom>
          <a:solidFill>
            <a:srgbClr val="86A4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12130296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5/25/25</a:t>
            </a:r>
          </a:p>
        </p:txBody>
      </p:sp>
      <p:sp>
        <p:nvSpPr>
          <p:cNvPr id="339" name="cell|N: Tolonen - Microarray (MED4)|COG1472|absent"/>
          <p:cNvSpPr/>
          <p:nvPr/>
        </p:nvSpPr>
        <p:spPr>
          <a:xfrm>
            <a:off x="12536200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cell|N: Tolonen - Microarray (MED4)|COG3754|absent"/>
          <p:cNvSpPr/>
          <p:nvPr/>
        </p:nvSpPr>
        <p:spPr>
          <a:xfrm>
            <a:off x="12942105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cell|N: Tolonen - Microarray (MED4)|COG0399|ns"/>
          <p:cNvSpPr/>
          <p:nvPr/>
        </p:nvSpPr>
        <p:spPr>
          <a:xfrm>
            <a:off x="13348009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3348009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43" name="cell|N: Tolonen - Microarray (MED4)|COG0673|down"/>
          <p:cNvSpPr/>
          <p:nvPr/>
        </p:nvSpPr>
        <p:spPr>
          <a:xfrm>
            <a:off x="13753914" y="3758184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3753914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345" name="cell|N: Tolonen - Microarray (MED4)|COG0810|absent"/>
          <p:cNvSpPr/>
          <p:nvPr/>
        </p:nvSpPr>
        <p:spPr>
          <a:xfrm>
            <a:off x="14159818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cell|N: Tolonen - Microarray (MED4)|COG3206|absent"/>
          <p:cNvSpPr/>
          <p:nvPr/>
        </p:nvSpPr>
        <p:spPr>
          <a:xfrm>
            <a:off x="14565722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cell|N: Tolonen - Microarray (MED4)|COG1596|ns"/>
          <p:cNvSpPr/>
          <p:nvPr/>
        </p:nvSpPr>
        <p:spPr>
          <a:xfrm>
            <a:off x="14971627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14971627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49" name="cell|N: Tolonen - Microarray (MED4)|COG1462|absent"/>
          <p:cNvSpPr/>
          <p:nvPr/>
        </p:nvSpPr>
        <p:spPr>
          <a:xfrm>
            <a:off x="15377531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cell|N: Tolonen - Microarray (MED4)|COG3210|ns"/>
          <p:cNvSpPr/>
          <p:nvPr/>
        </p:nvSpPr>
        <p:spPr>
          <a:xfrm>
            <a:off x="15783436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5783436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52" name="cell|N: Tolonen - Microarray (MED4)|COG2010|ns"/>
          <p:cNvSpPr/>
          <p:nvPr/>
        </p:nvSpPr>
        <p:spPr>
          <a:xfrm>
            <a:off x="16189340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16189340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54" name="cell|N: Tolonen - Microarray (MED4)|COG2114|absent"/>
          <p:cNvSpPr/>
          <p:nvPr/>
        </p:nvSpPr>
        <p:spPr>
          <a:xfrm>
            <a:off x="16595244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cell|N: Tolonen - Microarray (MED4)|COG0454|ns"/>
          <p:cNvSpPr/>
          <p:nvPr/>
        </p:nvSpPr>
        <p:spPr>
          <a:xfrm>
            <a:off x="17001149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7001149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57" name="cell|N: Tolonen - Microarray (MED4)|COG2931|absent"/>
          <p:cNvSpPr/>
          <p:nvPr/>
        </p:nvSpPr>
        <p:spPr>
          <a:xfrm>
            <a:off x="17407053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cell|N: Tolonen - Microarray (MED4)|COG0412|absent"/>
          <p:cNvSpPr/>
          <p:nvPr/>
        </p:nvSpPr>
        <p:spPr>
          <a:xfrm>
            <a:off x="17812958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cell|N: Tolonen - Microarray (MED4)|COG4252|absent"/>
          <p:cNvSpPr/>
          <p:nvPr/>
        </p:nvSpPr>
        <p:spPr>
          <a:xfrm>
            <a:off x="18218862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cell|N: Tolonen - Microarray (MED4)|COG2192|down"/>
          <p:cNvSpPr/>
          <p:nvPr/>
        </p:nvSpPr>
        <p:spPr>
          <a:xfrm>
            <a:off x="18624766" y="3758184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18624766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362" name="cell|N: Tolonen - Microarray (MED4)|COG2159|ns"/>
          <p:cNvSpPr/>
          <p:nvPr/>
        </p:nvSpPr>
        <p:spPr>
          <a:xfrm>
            <a:off x="19030671" y="37581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9030671" y="37581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64" name="cell|N: Tolonen - Microarray (MED4)|COG5651|absent"/>
          <p:cNvSpPr/>
          <p:nvPr/>
        </p:nvSpPr>
        <p:spPr>
          <a:xfrm>
            <a:off x="19436575" y="37581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137160" y="4142232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Tolonen - Microarray (MIT9313)</a:t>
            </a:r>
          </a:p>
        </p:txBody>
      </p:sp>
      <p:sp>
        <p:nvSpPr>
          <p:cNvPr id="366" name="cell|N: Tolonen - Microarray (MIT9313)|COG0188|ns"/>
          <p:cNvSpPr/>
          <p:nvPr/>
        </p:nvSpPr>
        <p:spPr>
          <a:xfrm>
            <a:off x="3200400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3200400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0/4/5</a:t>
            </a:r>
          </a:p>
        </p:txBody>
      </p:sp>
      <p:sp>
        <p:nvSpPr>
          <p:cNvPr id="368" name="cell|N: Tolonen - Microarray (MIT9313)|COG1787|absent"/>
          <p:cNvSpPr/>
          <p:nvPr/>
        </p:nvSpPr>
        <p:spPr>
          <a:xfrm>
            <a:off x="3606304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cell|N: Tolonen - Microarray (MIT9313)|COG3727|absent"/>
          <p:cNvSpPr/>
          <p:nvPr/>
        </p:nvSpPr>
        <p:spPr>
          <a:xfrm>
            <a:off x="4012208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cell|N: Tolonen - Microarray (MIT9313)|COG1793|ns"/>
          <p:cNvSpPr/>
          <p:nvPr/>
        </p:nvSpPr>
        <p:spPr>
          <a:xfrm>
            <a:off x="4418113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4418113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72" name="cell|N: Tolonen - Microarray (MIT9313)|COG0640|ns"/>
          <p:cNvSpPr/>
          <p:nvPr/>
        </p:nvSpPr>
        <p:spPr>
          <a:xfrm>
            <a:off x="4824017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4824017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74" name="cell|N: Tolonen - Microarray (MIT9313)|COG1403|ns"/>
          <p:cNvSpPr/>
          <p:nvPr/>
        </p:nvSpPr>
        <p:spPr>
          <a:xfrm>
            <a:off x="5229921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5229921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76" name="cell|N: Tolonen - Microarray (MIT9313)|COG2214|ns"/>
          <p:cNvSpPr/>
          <p:nvPr/>
        </p:nvSpPr>
        <p:spPr>
          <a:xfrm>
            <a:off x="5635826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5635826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0/6/7</a:t>
            </a:r>
          </a:p>
        </p:txBody>
      </p:sp>
      <p:sp>
        <p:nvSpPr>
          <p:cNvPr id="378" name="cell|N: Tolonen - Microarray (MIT9313)|COG0443|ns"/>
          <p:cNvSpPr/>
          <p:nvPr/>
        </p:nvSpPr>
        <p:spPr>
          <a:xfrm>
            <a:off x="6041730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6041730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80" name="cell|N: Tolonen - Microarray (MIT9313)|COG0484|ns"/>
          <p:cNvSpPr/>
          <p:nvPr/>
        </p:nvSpPr>
        <p:spPr>
          <a:xfrm>
            <a:off x="6447635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6447635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382" name="cell|N: Tolonen - Microarray (MIT9313)|COG0330|up"/>
          <p:cNvSpPr/>
          <p:nvPr/>
        </p:nvSpPr>
        <p:spPr>
          <a:xfrm>
            <a:off x="6853539" y="4142232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6853539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384" name="cell|N: Tolonen - Microarray (MIT9313)|COG1187|ns"/>
          <p:cNvSpPr/>
          <p:nvPr/>
        </p:nvSpPr>
        <p:spPr>
          <a:xfrm>
            <a:off x="7259443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7259443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86" name="cell|N: Tolonen - Microarray (MIT9313)|COG1454|nodata"/>
          <p:cNvSpPr/>
          <p:nvPr/>
        </p:nvSpPr>
        <p:spPr>
          <a:xfrm>
            <a:off x="7665348" y="4142232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cell|N: Tolonen - Microarray (MIT9313)|COG2370|ns"/>
          <p:cNvSpPr/>
          <p:nvPr/>
        </p:nvSpPr>
        <p:spPr>
          <a:xfrm>
            <a:off x="8071252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8071252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89" name="cell|N: Tolonen - Microarray (MIT9313)|COG0367|absent"/>
          <p:cNvSpPr/>
          <p:nvPr/>
        </p:nvSpPr>
        <p:spPr>
          <a:xfrm>
            <a:off x="8477157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cell|N: Tolonen - Microarray (MIT9313)|COG0082|ns"/>
          <p:cNvSpPr/>
          <p:nvPr/>
        </p:nvSpPr>
        <p:spPr>
          <a:xfrm>
            <a:off x="8883061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8883061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92" name="cell|N: Tolonen - Microarray (MIT9313)|COG2274|ns"/>
          <p:cNvSpPr/>
          <p:nvPr/>
        </p:nvSpPr>
        <p:spPr>
          <a:xfrm>
            <a:off x="9288965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9288965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394" name="cell|N: Tolonen - Microarray (MIT9313)|COG1989|ns"/>
          <p:cNvSpPr/>
          <p:nvPr/>
        </p:nvSpPr>
        <p:spPr>
          <a:xfrm>
            <a:off x="9694870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9694870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96" name="cell|N: Tolonen - Microarray (MIT9313)|COG0845|down"/>
          <p:cNvSpPr/>
          <p:nvPr/>
        </p:nvSpPr>
        <p:spPr>
          <a:xfrm>
            <a:off x="10100774" y="4142232"/>
            <a:ext cx="405904" cy="384048"/>
          </a:xfrm>
          <a:prstGeom prst="rect">
            <a:avLst/>
          </a:prstGeom>
          <a:solidFill>
            <a:srgbClr val="91AAC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10100774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1/10/11</a:t>
            </a:r>
          </a:p>
        </p:txBody>
      </p:sp>
      <p:sp>
        <p:nvSpPr>
          <p:cNvPr id="398" name="cell|N: Tolonen - Microarray (MIT9313)|COG0488|ns"/>
          <p:cNvSpPr/>
          <p:nvPr/>
        </p:nvSpPr>
        <p:spPr>
          <a:xfrm>
            <a:off x="10506679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0506679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400" name="cell|N: Tolonen - Microarray (MIT9313)|COG0697|ns"/>
          <p:cNvSpPr/>
          <p:nvPr/>
        </p:nvSpPr>
        <p:spPr>
          <a:xfrm>
            <a:off x="10912583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912583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0/10/11</a:t>
            </a:r>
          </a:p>
        </p:txBody>
      </p:sp>
      <p:sp>
        <p:nvSpPr>
          <p:cNvPr id="402" name="cell|N: Tolonen - Microarray (MIT9313)|COG3839|ns"/>
          <p:cNvSpPr/>
          <p:nvPr/>
        </p:nvSpPr>
        <p:spPr>
          <a:xfrm>
            <a:off x="11318487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11318487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404" name="cell|N: Tolonen - Microarray (MIT9313)|COG1212|ns"/>
          <p:cNvSpPr/>
          <p:nvPr/>
        </p:nvSpPr>
        <p:spPr>
          <a:xfrm>
            <a:off x="11724392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11724392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06" name="cell|N: Tolonen - Microarray (MIT9313)|COG0477|down"/>
          <p:cNvSpPr/>
          <p:nvPr/>
        </p:nvSpPr>
        <p:spPr>
          <a:xfrm>
            <a:off x="12130296" y="4142232"/>
            <a:ext cx="405904" cy="384048"/>
          </a:xfrm>
          <a:prstGeom prst="rect">
            <a:avLst/>
          </a:prstGeom>
          <a:solidFill>
            <a:srgbClr val="99AEB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12130296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1/33/34</a:t>
            </a:r>
          </a:p>
        </p:txBody>
      </p:sp>
      <p:sp>
        <p:nvSpPr>
          <p:cNvPr id="408" name="cell|N: Tolonen - Microarray (MIT9313)|COG1472|ns"/>
          <p:cNvSpPr/>
          <p:nvPr/>
        </p:nvSpPr>
        <p:spPr>
          <a:xfrm>
            <a:off x="12536200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2536200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410" name="cell|N: Tolonen - Microarray (MIT9313)|COG3754|ns"/>
          <p:cNvSpPr/>
          <p:nvPr/>
        </p:nvSpPr>
        <p:spPr>
          <a:xfrm>
            <a:off x="12942105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2942105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12" name="cell|N: Tolonen - Microarray (MIT9313)|COG0399|ns"/>
          <p:cNvSpPr/>
          <p:nvPr/>
        </p:nvSpPr>
        <p:spPr>
          <a:xfrm>
            <a:off x="13348009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13348009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14" name="cell|N: Tolonen - Microarray (MIT9313)|COG0673|ns"/>
          <p:cNvSpPr/>
          <p:nvPr/>
        </p:nvSpPr>
        <p:spPr>
          <a:xfrm>
            <a:off x="13753914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13753914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416" name="cell|N: Tolonen - Microarray (MIT9313)|COG0810|ns"/>
          <p:cNvSpPr/>
          <p:nvPr/>
        </p:nvSpPr>
        <p:spPr>
          <a:xfrm>
            <a:off x="14159818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14159818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418" name="cell|N: Tolonen - Microarray (MIT9313)|COG3206|absent"/>
          <p:cNvSpPr/>
          <p:nvPr/>
        </p:nvSpPr>
        <p:spPr>
          <a:xfrm>
            <a:off x="14565722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cell|N: Tolonen - Microarray (MIT9313)|COG1596|absent"/>
          <p:cNvSpPr/>
          <p:nvPr/>
        </p:nvSpPr>
        <p:spPr>
          <a:xfrm>
            <a:off x="14971627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cell|N: Tolonen - Microarray (MIT9313)|COG1462|ns"/>
          <p:cNvSpPr/>
          <p:nvPr/>
        </p:nvSpPr>
        <p:spPr>
          <a:xfrm>
            <a:off x="15377531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15377531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22" name="cell|N: Tolonen - Microarray (MIT9313)|COG3210|ns"/>
          <p:cNvSpPr/>
          <p:nvPr/>
        </p:nvSpPr>
        <p:spPr>
          <a:xfrm>
            <a:off x="15783436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5783436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424" name="cell|N: Tolonen - Microarray (MIT9313)|COG2010|ns"/>
          <p:cNvSpPr/>
          <p:nvPr/>
        </p:nvSpPr>
        <p:spPr>
          <a:xfrm>
            <a:off x="16189340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16189340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426" name="cell|N: Tolonen - Microarray (MIT9313)|COG2114|ns"/>
          <p:cNvSpPr/>
          <p:nvPr/>
        </p:nvSpPr>
        <p:spPr>
          <a:xfrm>
            <a:off x="16595244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16595244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28" name="cell|N: Tolonen - Microarray (MIT9313)|COG0454|ns"/>
          <p:cNvSpPr/>
          <p:nvPr/>
        </p:nvSpPr>
        <p:spPr>
          <a:xfrm>
            <a:off x="17001149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17001149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0/7/8</a:t>
            </a:r>
          </a:p>
        </p:txBody>
      </p:sp>
      <p:sp>
        <p:nvSpPr>
          <p:cNvPr id="430" name="cell|N: Tolonen - Microarray (MIT9313)|COG2931|ns"/>
          <p:cNvSpPr/>
          <p:nvPr/>
        </p:nvSpPr>
        <p:spPr>
          <a:xfrm>
            <a:off x="17407053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7407053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432" name="cell|N: Tolonen - Microarray (MIT9313)|COG0412|ns"/>
          <p:cNvSpPr/>
          <p:nvPr/>
        </p:nvSpPr>
        <p:spPr>
          <a:xfrm>
            <a:off x="17812958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17812958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34" name="cell|N: Tolonen - Microarray (MIT9313)|COG4252|ns"/>
          <p:cNvSpPr/>
          <p:nvPr/>
        </p:nvSpPr>
        <p:spPr>
          <a:xfrm>
            <a:off x="18218862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18218862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36" name="cell|N: Tolonen - Microarray (MIT9313)|COG2192|absent"/>
          <p:cNvSpPr/>
          <p:nvPr/>
        </p:nvSpPr>
        <p:spPr>
          <a:xfrm>
            <a:off x="18624766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cell|N: Tolonen - Microarray (MIT9313)|COG2159|absent"/>
          <p:cNvSpPr/>
          <p:nvPr/>
        </p:nvSpPr>
        <p:spPr>
          <a:xfrm>
            <a:off x="19030671" y="41422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cell|N: Tolonen - Microarray (MIT9313)|COG5651|ns"/>
          <p:cNvSpPr/>
          <p:nvPr/>
        </p:nvSpPr>
        <p:spPr>
          <a:xfrm>
            <a:off x="19436575" y="41422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19436575" y="41422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37160" y="4526280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Lin - RNA-seq (NATL2A), 59h</a:t>
            </a:r>
          </a:p>
        </p:txBody>
      </p:sp>
      <p:sp>
        <p:nvSpPr>
          <p:cNvPr id="441" name="cell|P: Lin - RNA-seq (NATL2A), 59h|COG0188|nodata"/>
          <p:cNvSpPr/>
          <p:nvPr/>
        </p:nvSpPr>
        <p:spPr>
          <a:xfrm>
            <a:off x="3200400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cell|P: Lin - RNA-seq (NATL2A), 59h|COG1787|absent"/>
          <p:cNvSpPr/>
          <p:nvPr/>
        </p:nvSpPr>
        <p:spPr>
          <a:xfrm>
            <a:off x="3606304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cell|P: Lin - RNA-seq (NATL2A), 59h|COG3727|absent"/>
          <p:cNvSpPr/>
          <p:nvPr/>
        </p:nvSpPr>
        <p:spPr>
          <a:xfrm>
            <a:off x="4012208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cell|P: Lin - RNA-seq (NATL2A), 59h|COG1793|nodata"/>
          <p:cNvSpPr/>
          <p:nvPr/>
        </p:nvSpPr>
        <p:spPr>
          <a:xfrm>
            <a:off x="4418113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cell|P: Lin - RNA-seq (NATL2A), 59h|COG0640|nodata"/>
          <p:cNvSpPr/>
          <p:nvPr/>
        </p:nvSpPr>
        <p:spPr>
          <a:xfrm>
            <a:off x="4824017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cell|P: Lin - RNA-seq (NATL2A), 59h|COG1403|nodata"/>
          <p:cNvSpPr/>
          <p:nvPr/>
        </p:nvSpPr>
        <p:spPr>
          <a:xfrm>
            <a:off x="5229921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cell|P: Lin - RNA-seq (NATL2A), 59h|COG2214|nodata"/>
          <p:cNvSpPr/>
          <p:nvPr/>
        </p:nvSpPr>
        <p:spPr>
          <a:xfrm>
            <a:off x="5635826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cell|P: Lin - RNA-seq (NATL2A), 59h|COG0443|nodata"/>
          <p:cNvSpPr/>
          <p:nvPr/>
        </p:nvSpPr>
        <p:spPr>
          <a:xfrm>
            <a:off x="6041730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cell|P: Lin - RNA-seq (NATL2A), 59h|COG0484|nodata"/>
          <p:cNvSpPr/>
          <p:nvPr/>
        </p:nvSpPr>
        <p:spPr>
          <a:xfrm>
            <a:off x="6447635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cell|P: Lin - RNA-seq (NATL2A), 59h|COG0330|nodata"/>
          <p:cNvSpPr/>
          <p:nvPr/>
        </p:nvSpPr>
        <p:spPr>
          <a:xfrm>
            <a:off x="6853539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cell|P: Lin - RNA-seq (NATL2A), 59h|COG1187|nodata"/>
          <p:cNvSpPr/>
          <p:nvPr/>
        </p:nvSpPr>
        <p:spPr>
          <a:xfrm>
            <a:off x="7259443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cell|P: Lin - RNA-seq (NATL2A), 59h|COG1454|nodata"/>
          <p:cNvSpPr/>
          <p:nvPr/>
        </p:nvSpPr>
        <p:spPr>
          <a:xfrm>
            <a:off x="7665348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cell|P: Lin - RNA-seq (NATL2A), 59h|COG2370|nodata"/>
          <p:cNvSpPr/>
          <p:nvPr/>
        </p:nvSpPr>
        <p:spPr>
          <a:xfrm>
            <a:off x="8071252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cell|P: Lin - RNA-seq (NATL2A), 59h|COG0367|absent"/>
          <p:cNvSpPr/>
          <p:nvPr/>
        </p:nvSpPr>
        <p:spPr>
          <a:xfrm>
            <a:off x="8477157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cell|P: Lin - RNA-seq (NATL2A), 59h|COG0082|nodata"/>
          <p:cNvSpPr/>
          <p:nvPr/>
        </p:nvSpPr>
        <p:spPr>
          <a:xfrm>
            <a:off x="8883061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cell|P: Lin - RNA-seq (NATL2A), 59h|COG2274|nodata"/>
          <p:cNvSpPr/>
          <p:nvPr/>
        </p:nvSpPr>
        <p:spPr>
          <a:xfrm>
            <a:off x="9288965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cell|P: Lin - RNA-seq (NATL2A), 59h|COG1989|nodata"/>
          <p:cNvSpPr/>
          <p:nvPr/>
        </p:nvSpPr>
        <p:spPr>
          <a:xfrm>
            <a:off x="9694870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cell|P: Lin - RNA-seq (NATL2A), 59h|COG0845|nodata"/>
          <p:cNvSpPr/>
          <p:nvPr/>
        </p:nvSpPr>
        <p:spPr>
          <a:xfrm>
            <a:off x="10100774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cell|P: Lin - RNA-seq (NATL2A), 59h|COG0488|nodata"/>
          <p:cNvSpPr/>
          <p:nvPr/>
        </p:nvSpPr>
        <p:spPr>
          <a:xfrm>
            <a:off x="10506679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cell|P: Lin - RNA-seq (NATL2A), 59h|COG0697|nodata"/>
          <p:cNvSpPr/>
          <p:nvPr/>
        </p:nvSpPr>
        <p:spPr>
          <a:xfrm>
            <a:off x="10912583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cell|P: Lin - RNA-seq (NATL2A), 59h|COG3839|nodata"/>
          <p:cNvSpPr/>
          <p:nvPr/>
        </p:nvSpPr>
        <p:spPr>
          <a:xfrm>
            <a:off x="11318487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cell|P: Lin - RNA-seq (NATL2A), 59h|COG1212|absent"/>
          <p:cNvSpPr/>
          <p:nvPr/>
        </p:nvSpPr>
        <p:spPr>
          <a:xfrm>
            <a:off x="11724392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cell|P: Lin - RNA-seq (NATL2A), 59h|COG0477|up"/>
          <p:cNvSpPr/>
          <p:nvPr/>
        </p:nvSpPr>
        <p:spPr>
          <a:xfrm>
            <a:off x="12130296" y="4526280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12130296" y="452628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1/2/28</a:t>
            </a:r>
          </a:p>
        </p:txBody>
      </p:sp>
      <p:sp>
        <p:nvSpPr>
          <p:cNvPr id="465" name="cell|P: Lin - RNA-seq (NATL2A), 59h|COG1472|nodata"/>
          <p:cNvSpPr/>
          <p:nvPr/>
        </p:nvSpPr>
        <p:spPr>
          <a:xfrm>
            <a:off x="12536200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cell|P: Lin - RNA-seq (NATL2A), 59h|COG3754|absent"/>
          <p:cNvSpPr/>
          <p:nvPr/>
        </p:nvSpPr>
        <p:spPr>
          <a:xfrm>
            <a:off x="12942105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cell|P: Lin - RNA-seq (NATL2A), 59h|COG0399|nodata"/>
          <p:cNvSpPr/>
          <p:nvPr/>
        </p:nvSpPr>
        <p:spPr>
          <a:xfrm>
            <a:off x="13348009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cell|P: Lin - RNA-seq (NATL2A), 59h|COG0673|nodata"/>
          <p:cNvSpPr/>
          <p:nvPr/>
        </p:nvSpPr>
        <p:spPr>
          <a:xfrm>
            <a:off x="13753914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cell|P: Lin - RNA-seq (NATL2A), 59h|COG0810|nodata"/>
          <p:cNvSpPr/>
          <p:nvPr/>
        </p:nvSpPr>
        <p:spPr>
          <a:xfrm>
            <a:off x="14159818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cell|P: Lin - RNA-seq (NATL2A), 59h|COG3206|absent"/>
          <p:cNvSpPr/>
          <p:nvPr/>
        </p:nvSpPr>
        <p:spPr>
          <a:xfrm>
            <a:off x="14565722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cell|P: Lin - RNA-seq (NATL2A), 59h|COG1596|absent"/>
          <p:cNvSpPr/>
          <p:nvPr/>
        </p:nvSpPr>
        <p:spPr>
          <a:xfrm>
            <a:off x="14971627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cell|P: Lin - RNA-seq (NATL2A), 59h|COG1462|absent"/>
          <p:cNvSpPr/>
          <p:nvPr/>
        </p:nvSpPr>
        <p:spPr>
          <a:xfrm>
            <a:off x="15377531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cell|P: Lin - RNA-seq (NATL2A), 59h|COG3210|nodata"/>
          <p:cNvSpPr/>
          <p:nvPr/>
        </p:nvSpPr>
        <p:spPr>
          <a:xfrm>
            <a:off x="15783436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cell|P: Lin - RNA-seq (NATL2A), 59h|COG2010|nodata"/>
          <p:cNvSpPr/>
          <p:nvPr/>
        </p:nvSpPr>
        <p:spPr>
          <a:xfrm>
            <a:off x="16189340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cell|P: Lin - RNA-seq (NATL2A), 59h|COG2114|absent"/>
          <p:cNvSpPr/>
          <p:nvPr/>
        </p:nvSpPr>
        <p:spPr>
          <a:xfrm>
            <a:off x="16595244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cell|P: Lin - RNA-seq (NATL2A), 59h|COG0454|nodata"/>
          <p:cNvSpPr/>
          <p:nvPr/>
        </p:nvSpPr>
        <p:spPr>
          <a:xfrm>
            <a:off x="17001149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cell|P: Lin - RNA-seq (NATL2A), 59h|COG2931|nodata"/>
          <p:cNvSpPr/>
          <p:nvPr/>
        </p:nvSpPr>
        <p:spPr>
          <a:xfrm>
            <a:off x="17407053" y="45262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cell|P: Lin - RNA-seq (NATL2A), 59h|COG0412|absent"/>
          <p:cNvSpPr/>
          <p:nvPr/>
        </p:nvSpPr>
        <p:spPr>
          <a:xfrm>
            <a:off x="17812958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cell|P: Lin - RNA-seq (NATL2A), 59h|COG4252|absent"/>
          <p:cNvSpPr/>
          <p:nvPr/>
        </p:nvSpPr>
        <p:spPr>
          <a:xfrm>
            <a:off x="18218862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cell|P: Lin - RNA-seq (NATL2A), 59h|COG2192|absent"/>
          <p:cNvSpPr/>
          <p:nvPr/>
        </p:nvSpPr>
        <p:spPr>
          <a:xfrm>
            <a:off x="18624766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cell|P: Lin - RNA-seq (NATL2A), 59h|COG2159|absent"/>
          <p:cNvSpPr/>
          <p:nvPr/>
        </p:nvSpPr>
        <p:spPr>
          <a:xfrm>
            <a:off x="19030671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cell|P: Lin - RNA-seq (NATL2A), 59h|COG5651|absent"/>
          <p:cNvSpPr/>
          <p:nvPr/>
        </p:nvSpPr>
        <p:spPr>
          <a:xfrm>
            <a:off x="19436575" y="45262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TextBox 482"/>
          <p:cNvSpPr txBox="1"/>
          <p:nvPr/>
        </p:nvSpPr>
        <p:spPr>
          <a:xfrm>
            <a:off x="137160" y="4910328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Fuszard - Proteomics (MIT9312)</a:t>
            </a:r>
          </a:p>
        </p:txBody>
      </p:sp>
      <p:sp>
        <p:nvSpPr>
          <p:cNvPr id="484" name="cell|P: Fuszard - Proteomics (MIT9312)|COG0188|ns"/>
          <p:cNvSpPr/>
          <p:nvPr/>
        </p:nvSpPr>
        <p:spPr>
          <a:xfrm>
            <a:off x="3200400" y="49103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TextBox 484"/>
          <p:cNvSpPr txBox="1"/>
          <p:nvPr/>
        </p:nvSpPr>
        <p:spPr>
          <a:xfrm>
            <a:off x="3200400" y="49103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0/1/6</a:t>
            </a:r>
          </a:p>
        </p:txBody>
      </p:sp>
      <p:sp>
        <p:nvSpPr>
          <p:cNvPr id="486" name="cell|P: Fuszard - Proteomics (MIT9312)|COG1787|nodata"/>
          <p:cNvSpPr/>
          <p:nvPr/>
        </p:nvSpPr>
        <p:spPr>
          <a:xfrm>
            <a:off x="3606304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cell|P: Fuszard - Proteomics (MIT9312)|COG3727|nodata"/>
          <p:cNvSpPr/>
          <p:nvPr/>
        </p:nvSpPr>
        <p:spPr>
          <a:xfrm>
            <a:off x="4012208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cell|P: Fuszard - Proteomics (MIT9312)|COG1793|nodata"/>
          <p:cNvSpPr/>
          <p:nvPr/>
        </p:nvSpPr>
        <p:spPr>
          <a:xfrm>
            <a:off x="4418113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cell|P: Fuszard - Proteomics (MIT9312)|COG0640|nodata"/>
          <p:cNvSpPr/>
          <p:nvPr/>
        </p:nvSpPr>
        <p:spPr>
          <a:xfrm>
            <a:off x="4824017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cell|P: Fuszard - Proteomics (MIT9312)|COG1403|nodata"/>
          <p:cNvSpPr/>
          <p:nvPr/>
        </p:nvSpPr>
        <p:spPr>
          <a:xfrm>
            <a:off x="5229921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cell|P: Fuszard - Proteomics (MIT9312)|COG2214|ns"/>
          <p:cNvSpPr/>
          <p:nvPr/>
        </p:nvSpPr>
        <p:spPr>
          <a:xfrm>
            <a:off x="5635826" y="49103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TextBox 491"/>
          <p:cNvSpPr txBox="1"/>
          <p:nvPr/>
        </p:nvSpPr>
        <p:spPr>
          <a:xfrm>
            <a:off x="5635826" y="49103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0/1/5</a:t>
            </a:r>
          </a:p>
        </p:txBody>
      </p:sp>
      <p:sp>
        <p:nvSpPr>
          <p:cNvPr id="493" name="cell|P: Fuszard - Proteomics (MIT9312)|COG0443|nodata"/>
          <p:cNvSpPr/>
          <p:nvPr/>
        </p:nvSpPr>
        <p:spPr>
          <a:xfrm>
            <a:off x="6041730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cell|P: Fuszard - Proteomics (MIT9312)|COG0484|ns"/>
          <p:cNvSpPr/>
          <p:nvPr/>
        </p:nvSpPr>
        <p:spPr>
          <a:xfrm>
            <a:off x="6447635" y="49103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TextBox 494"/>
          <p:cNvSpPr txBox="1"/>
          <p:nvPr/>
        </p:nvSpPr>
        <p:spPr>
          <a:xfrm>
            <a:off x="6447635" y="49103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0/1/5</a:t>
            </a:r>
          </a:p>
        </p:txBody>
      </p:sp>
      <p:sp>
        <p:nvSpPr>
          <p:cNvPr id="496" name="cell|P: Fuszard - Proteomics (MIT9312)|COG0330|ns"/>
          <p:cNvSpPr/>
          <p:nvPr/>
        </p:nvSpPr>
        <p:spPr>
          <a:xfrm>
            <a:off x="6853539" y="49103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6853539" y="49103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98" name="cell|P: Fuszard - Proteomics (MIT9312)|COG1187|nodata"/>
          <p:cNvSpPr/>
          <p:nvPr/>
        </p:nvSpPr>
        <p:spPr>
          <a:xfrm>
            <a:off x="7259443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cell|P: Fuszard - Proteomics (MIT9312)|COG1454|absent"/>
          <p:cNvSpPr/>
          <p:nvPr/>
        </p:nvSpPr>
        <p:spPr>
          <a:xfrm>
            <a:off x="7665348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cell|P: Fuszard - Proteomics (MIT9312)|COG2370|absent"/>
          <p:cNvSpPr/>
          <p:nvPr/>
        </p:nvSpPr>
        <p:spPr>
          <a:xfrm>
            <a:off x="8071252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cell|P: Fuszard - Proteomics (MIT9312)|COG0367|nodata"/>
          <p:cNvSpPr/>
          <p:nvPr/>
        </p:nvSpPr>
        <p:spPr>
          <a:xfrm>
            <a:off x="8477157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cell|P: Fuszard - Proteomics (MIT9312)|COG0082|nodata"/>
          <p:cNvSpPr/>
          <p:nvPr/>
        </p:nvSpPr>
        <p:spPr>
          <a:xfrm>
            <a:off x="8883061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cell|P: Fuszard - Proteomics (MIT9312)|COG2274|nodata"/>
          <p:cNvSpPr/>
          <p:nvPr/>
        </p:nvSpPr>
        <p:spPr>
          <a:xfrm>
            <a:off x="9288965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cell|P: Fuszard - Proteomics (MIT9312)|COG1989|nodata"/>
          <p:cNvSpPr/>
          <p:nvPr/>
        </p:nvSpPr>
        <p:spPr>
          <a:xfrm>
            <a:off x="9694870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cell|P: Fuszard - Proteomics (MIT9312)|COG0845|nodata"/>
          <p:cNvSpPr/>
          <p:nvPr/>
        </p:nvSpPr>
        <p:spPr>
          <a:xfrm>
            <a:off x="10100774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cell|P: Fuszard - Proteomics (MIT9312)|COG0488|nodata"/>
          <p:cNvSpPr/>
          <p:nvPr/>
        </p:nvSpPr>
        <p:spPr>
          <a:xfrm>
            <a:off x="10506679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cell|P: Fuszard - Proteomics (MIT9312)|COG0697|nodata"/>
          <p:cNvSpPr/>
          <p:nvPr/>
        </p:nvSpPr>
        <p:spPr>
          <a:xfrm>
            <a:off x="10912583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cell|P: Fuszard - Proteomics (MIT9312)|COG3839|absent"/>
          <p:cNvSpPr/>
          <p:nvPr/>
        </p:nvSpPr>
        <p:spPr>
          <a:xfrm>
            <a:off x="11318487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cell|P: Fuszard - Proteomics (MIT9312)|COG1212|absent"/>
          <p:cNvSpPr/>
          <p:nvPr/>
        </p:nvSpPr>
        <p:spPr>
          <a:xfrm>
            <a:off x="11724392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cell|P: Fuszard - Proteomics (MIT9312)|COG0477|up"/>
          <p:cNvSpPr/>
          <p:nvPr/>
        </p:nvSpPr>
        <p:spPr>
          <a:xfrm>
            <a:off x="12130296" y="491032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TextBox 510"/>
          <p:cNvSpPr txBox="1"/>
          <p:nvPr/>
        </p:nvSpPr>
        <p:spPr>
          <a:xfrm>
            <a:off x="12130296" y="49103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1/2/25</a:t>
            </a:r>
          </a:p>
        </p:txBody>
      </p:sp>
      <p:sp>
        <p:nvSpPr>
          <p:cNvPr id="512" name="cell|P: Fuszard - Proteomics (MIT9312)|COG1472|absent"/>
          <p:cNvSpPr/>
          <p:nvPr/>
        </p:nvSpPr>
        <p:spPr>
          <a:xfrm>
            <a:off x="12536200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cell|P: Fuszard - Proteomics (MIT9312)|COG3754|absent"/>
          <p:cNvSpPr/>
          <p:nvPr/>
        </p:nvSpPr>
        <p:spPr>
          <a:xfrm>
            <a:off x="12942105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cell|P: Fuszard - Proteomics (MIT9312)|COG0399|nodata"/>
          <p:cNvSpPr/>
          <p:nvPr/>
        </p:nvSpPr>
        <p:spPr>
          <a:xfrm>
            <a:off x="13348009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cell|P: Fuszard - Proteomics (MIT9312)|COG0673|nodata"/>
          <p:cNvSpPr/>
          <p:nvPr/>
        </p:nvSpPr>
        <p:spPr>
          <a:xfrm>
            <a:off x="13753914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cell|P: Fuszard - Proteomics (MIT9312)|COG0810|absent"/>
          <p:cNvSpPr/>
          <p:nvPr/>
        </p:nvSpPr>
        <p:spPr>
          <a:xfrm>
            <a:off x="14159818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cell|P: Fuszard - Proteomics (MIT9312)|COG3206|nodata"/>
          <p:cNvSpPr/>
          <p:nvPr/>
        </p:nvSpPr>
        <p:spPr>
          <a:xfrm>
            <a:off x="14565722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cell|P: Fuszard - Proteomics (MIT9312)|COG1596|nodata"/>
          <p:cNvSpPr/>
          <p:nvPr/>
        </p:nvSpPr>
        <p:spPr>
          <a:xfrm>
            <a:off x="14971627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cell|P: Fuszard - Proteomics (MIT9312)|COG1462|absent"/>
          <p:cNvSpPr/>
          <p:nvPr/>
        </p:nvSpPr>
        <p:spPr>
          <a:xfrm>
            <a:off x="15377531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cell|P: Fuszard - Proteomics (MIT9312)|COG3210|absent"/>
          <p:cNvSpPr/>
          <p:nvPr/>
        </p:nvSpPr>
        <p:spPr>
          <a:xfrm>
            <a:off x="15783436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cell|P: Fuszard - Proteomics (MIT9312)|COG2010|nodata"/>
          <p:cNvSpPr/>
          <p:nvPr/>
        </p:nvSpPr>
        <p:spPr>
          <a:xfrm>
            <a:off x="16189340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cell|P: Fuszard - Proteomics (MIT9312)|COG2114|absent"/>
          <p:cNvSpPr/>
          <p:nvPr/>
        </p:nvSpPr>
        <p:spPr>
          <a:xfrm>
            <a:off x="16595244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cell|P: Fuszard - Proteomics (MIT9312)|COG0454|nodata"/>
          <p:cNvSpPr/>
          <p:nvPr/>
        </p:nvSpPr>
        <p:spPr>
          <a:xfrm>
            <a:off x="17001149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cell|P: Fuszard - Proteomics (MIT9312)|COG2931|absent"/>
          <p:cNvSpPr/>
          <p:nvPr/>
        </p:nvSpPr>
        <p:spPr>
          <a:xfrm>
            <a:off x="17407053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cell|P: Fuszard - Proteomics (MIT9312)|COG0412|nodata"/>
          <p:cNvSpPr/>
          <p:nvPr/>
        </p:nvSpPr>
        <p:spPr>
          <a:xfrm>
            <a:off x="17812958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cell|P: Fuszard - Proteomics (MIT9312)|COG4252|absent"/>
          <p:cNvSpPr/>
          <p:nvPr/>
        </p:nvSpPr>
        <p:spPr>
          <a:xfrm>
            <a:off x="18218862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cell|P: Fuszard - Proteomics (MIT9312)|COG2192|nodata"/>
          <p:cNvSpPr/>
          <p:nvPr/>
        </p:nvSpPr>
        <p:spPr>
          <a:xfrm>
            <a:off x="18624766" y="49103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cell|P: Fuszard - Proteomics (MIT9312)|COG2159|absent"/>
          <p:cNvSpPr/>
          <p:nvPr/>
        </p:nvSpPr>
        <p:spPr>
          <a:xfrm>
            <a:off x="19030671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cell|P: Fuszard - Proteomics (MIT9312)|COG5651|absent"/>
          <p:cNvSpPr/>
          <p:nvPr/>
        </p:nvSpPr>
        <p:spPr>
          <a:xfrm>
            <a:off x="19436575" y="49103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137160" y="5294376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Fuszard - Proteomics (NATL2A)</a:t>
            </a:r>
          </a:p>
        </p:txBody>
      </p:sp>
      <p:sp>
        <p:nvSpPr>
          <p:cNvPr id="531" name="cell|P: Fuszard - Proteomics (NATL2A)|COG0188|nodata"/>
          <p:cNvSpPr/>
          <p:nvPr/>
        </p:nvSpPr>
        <p:spPr>
          <a:xfrm>
            <a:off x="3200400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cell|P: Fuszard - Proteomics (NATL2A)|COG1787|absent"/>
          <p:cNvSpPr/>
          <p:nvPr/>
        </p:nvSpPr>
        <p:spPr>
          <a:xfrm>
            <a:off x="3606304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cell|P: Fuszard - Proteomics (NATL2A)|COG3727|absent"/>
          <p:cNvSpPr/>
          <p:nvPr/>
        </p:nvSpPr>
        <p:spPr>
          <a:xfrm>
            <a:off x="4012208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cell|P: Fuszard - Proteomics (NATL2A)|COG1793|nodata"/>
          <p:cNvSpPr/>
          <p:nvPr/>
        </p:nvSpPr>
        <p:spPr>
          <a:xfrm>
            <a:off x="4418113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cell|P: Fuszard - Proteomics (NATL2A)|COG0640|nodata"/>
          <p:cNvSpPr/>
          <p:nvPr/>
        </p:nvSpPr>
        <p:spPr>
          <a:xfrm>
            <a:off x="4824017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cell|P: Fuszard - Proteomics (NATL2A)|COG1403|nodata"/>
          <p:cNvSpPr/>
          <p:nvPr/>
        </p:nvSpPr>
        <p:spPr>
          <a:xfrm>
            <a:off x="5229921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cell|P: Fuszard - Proteomics (NATL2A)|COG2214|nodata"/>
          <p:cNvSpPr/>
          <p:nvPr/>
        </p:nvSpPr>
        <p:spPr>
          <a:xfrm>
            <a:off x="5635826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cell|P: Fuszard - Proteomics (NATL2A)|COG0443|down"/>
          <p:cNvSpPr/>
          <p:nvPr/>
        </p:nvSpPr>
        <p:spPr>
          <a:xfrm>
            <a:off x="6041730" y="5294376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6041730" y="529437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2/2/4</a:t>
            </a:r>
          </a:p>
        </p:txBody>
      </p:sp>
      <p:sp>
        <p:nvSpPr>
          <p:cNvPr id="540" name="cell|P: Fuszard - Proteomics (NATL2A)|COG0484|nodata"/>
          <p:cNvSpPr/>
          <p:nvPr/>
        </p:nvSpPr>
        <p:spPr>
          <a:xfrm>
            <a:off x="6447635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cell|P: Fuszard - Proteomics (NATL2A)|COG0330|nodata"/>
          <p:cNvSpPr/>
          <p:nvPr/>
        </p:nvSpPr>
        <p:spPr>
          <a:xfrm>
            <a:off x="6853539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cell|P: Fuszard - Proteomics (NATL2A)|COG1187|nodata"/>
          <p:cNvSpPr/>
          <p:nvPr/>
        </p:nvSpPr>
        <p:spPr>
          <a:xfrm>
            <a:off x="7259443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cell|P: Fuszard - Proteomics (NATL2A)|COG1454|nodata"/>
          <p:cNvSpPr/>
          <p:nvPr/>
        </p:nvSpPr>
        <p:spPr>
          <a:xfrm>
            <a:off x="7665348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cell|P: Fuszard - Proteomics (NATL2A)|COG2370|nodata"/>
          <p:cNvSpPr/>
          <p:nvPr/>
        </p:nvSpPr>
        <p:spPr>
          <a:xfrm>
            <a:off x="8071252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cell|P: Fuszard - Proteomics (NATL2A)|COG0367|absent"/>
          <p:cNvSpPr/>
          <p:nvPr/>
        </p:nvSpPr>
        <p:spPr>
          <a:xfrm>
            <a:off x="8477157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cell|P: Fuszard - Proteomics (NATL2A)|COG0082|nodata"/>
          <p:cNvSpPr/>
          <p:nvPr/>
        </p:nvSpPr>
        <p:spPr>
          <a:xfrm>
            <a:off x="8883061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cell|P: Fuszard - Proteomics (NATL2A)|COG2274|nodata"/>
          <p:cNvSpPr/>
          <p:nvPr/>
        </p:nvSpPr>
        <p:spPr>
          <a:xfrm>
            <a:off x="9288965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cell|P: Fuszard - Proteomics (NATL2A)|COG1989|nodata"/>
          <p:cNvSpPr/>
          <p:nvPr/>
        </p:nvSpPr>
        <p:spPr>
          <a:xfrm>
            <a:off x="9694870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cell|P: Fuszard - Proteomics (NATL2A)|COG0845|nodata"/>
          <p:cNvSpPr/>
          <p:nvPr/>
        </p:nvSpPr>
        <p:spPr>
          <a:xfrm>
            <a:off x="10100774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cell|P: Fuszard - Proteomics (NATL2A)|COG0488|nodata"/>
          <p:cNvSpPr/>
          <p:nvPr/>
        </p:nvSpPr>
        <p:spPr>
          <a:xfrm>
            <a:off x="10506679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cell|P: Fuszard - Proteomics (NATL2A)|COG0697|nodata"/>
          <p:cNvSpPr/>
          <p:nvPr/>
        </p:nvSpPr>
        <p:spPr>
          <a:xfrm>
            <a:off x="10912583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cell|P: Fuszard - Proteomics (NATL2A)|COG3839|nodata"/>
          <p:cNvSpPr/>
          <p:nvPr/>
        </p:nvSpPr>
        <p:spPr>
          <a:xfrm>
            <a:off x="11318487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cell|P: Fuszard - Proteomics (NATL2A)|COG1212|absent"/>
          <p:cNvSpPr/>
          <p:nvPr/>
        </p:nvSpPr>
        <p:spPr>
          <a:xfrm>
            <a:off x="11724392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cell|P: Fuszard - Proteomics (NATL2A)|COG0477|ns"/>
          <p:cNvSpPr/>
          <p:nvPr/>
        </p:nvSpPr>
        <p:spPr>
          <a:xfrm>
            <a:off x="12130296" y="529437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2130296" y="529437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0/1/28</a:t>
            </a:r>
          </a:p>
        </p:txBody>
      </p:sp>
      <p:sp>
        <p:nvSpPr>
          <p:cNvPr id="556" name="cell|P: Fuszard - Proteomics (NATL2A)|COG1472|nodata"/>
          <p:cNvSpPr/>
          <p:nvPr/>
        </p:nvSpPr>
        <p:spPr>
          <a:xfrm>
            <a:off x="12536200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cell|P: Fuszard - Proteomics (NATL2A)|COG3754|absent"/>
          <p:cNvSpPr/>
          <p:nvPr/>
        </p:nvSpPr>
        <p:spPr>
          <a:xfrm>
            <a:off x="12942105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cell|P: Fuszard - Proteomics (NATL2A)|COG0399|nodata"/>
          <p:cNvSpPr/>
          <p:nvPr/>
        </p:nvSpPr>
        <p:spPr>
          <a:xfrm>
            <a:off x="13348009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cell|P: Fuszard - Proteomics (NATL2A)|COG0673|nodata"/>
          <p:cNvSpPr/>
          <p:nvPr/>
        </p:nvSpPr>
        <p:spPr>
          <a:xfrm>
            <a:off x="13753914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cell|P: Fuszard - Proteomics (NATL2A)|COG0810|nodata"/>
          <p:cNvSpPr/>
          <p:nvPr/>
        </p:nvSpPr>
        <p:spPr>
          <a:xfrm>
            <a:off x="14159818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cell|P: Fuszard - Proteomics (NATL2A)|COG3206|absent"/>
          <p:cNvSpPr/>
          <p:nvPr/>
        </p:nvSpPr>
        <p:spPr>
          <a:xfrm>
            <a:off x="14565722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cell|P: Fuszard - Proteomics (NATL2A)|COG1596|absent"/>
          <p:cNvSpPr/>
          <p:nvPr/>
        </p:nvSpPr>
        <p:spPr>
          <a:xfrm>
            <a:off x="14971627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cell|P: Fuszard - Proteomics (NATL2A)|COG1462|absent"/>
          <p:cNvSpPr/>
          <p:nvPr/>
        </p:nvSpPr>
        <p:spPr>
          <a:xfrm>
            <a:off x="15377531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cell|P: Fuszard - Proteomics (NATL2A)|COG3210|nodata"/>
          <p:cNvSpPr/>
          <p:nvPr/>
        </p:nvSpPr>
        <p:spPr>
          <a:xfrm>
            <a:off x="15783436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cell|P: Fuszard - Proteomics (NATL2A)|COG2010|nodata"/>
          <p:cNvSpPr/>
          <p:nvPr/>
        </p:nvSpPr>
        <p:spPr>
          <a:xfrm>
            <a:off x="16189340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cell|P: Fuszard - Proteomics (NATL2A)|COG2114|absent"/>
          <p:cNvSpPr/>
          <p:nvPr/>
        </p:nvSpPr>
        <p:spPr>
          <a:xfrm>
            <a:off x="16595244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cell|P: Fuszard - Proteomics (NATL2A)|COG0454|nodata"/>
          <p:cNvSpPr/>
          <p:nvPr/>
        </p:nvSpPr>
        <p:spPr>
          <a:xfrm>
            <a:off x="17001149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cell|P: Fuszard - Proteomics (NATL2A)|COG2931|nodata"/>
          <p:cNvSpPr/>
          <p:nvPr/>
        </p:nvSpPr>
        <p:spPr>
          <a:xfrm>
            <a:off x="17407053" y="52943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cell|P: Fuszard - Proteomics (NATL2A)|COG0412|absent"/>
          <p:cNvSpPr/>
          <p:nvPr/>
        </p:nvSpPr>
        <p:spPr>
          <a:xfrm>
            <a:off x="17812958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cell|P: Fuszard - Proteomics (NATL2A)|COG4252|absent"/>
          <p:cNvSpPr/>
          <p:nvPr/>
        </p:nvSpPr>
        <p:spPr>
          <a:xfrm>
            <a:off x="18218862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cell|P: Fuszard - Proteomics (NATL2A)|COG2192|absent"/>
          <p:cNvSpPr/>
          <p:nvPr/>
        </p:nvSpPr>
        <p:spPr>
          <a:xfrm>
            <a:off x="18624766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cell|P: Fuszard - Proteomics (NATL2A)|COG2159|absent"/>
          <p:cNvSpPr/>
          <p:nvPr/>
        </p:nvSpPr>
        <p:spPr>
          <a:xfrm>
            <a:off x="19030671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cell|P: Fuszard - Proteomics (NATL2A)|COG5651|absent"/>
          <p:cNvSpPr/>
          <p:nvPr/>
        </p:nvSpPr>
        <p:spPr>
          <a:xfrm>
            <a:off x="19436575" y="52943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TextBox 573"/>
          <p:cNvSpPr txBox="1"/>
          <p:nvPr/>
        </p:nvSpPr>
        <p:spPr>
          <a:xfrm>
            <a:off x="137160" y="5678424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Martiny - Microarray (MED4)</a:t>
            </a:r>
          </a:p>
        </p:txBody>
      </p:sp>
      <p:sp>
        <p:nvSpPr>
          <p:cNvPr id="575" name="cell|P: Martiny - Microarray (MED4)|COG0188|up"/>
          <p:cNvSpPr/>
          <p:nvPr/>
        </p:nvSpPr>
        <p:spPr>
          <a:xfrm>
            <a:off x="3200400" y="5678424"/>
            <a:ext cx="405904" cy="384048"/>
          </a:xfrm>
          <a:prstGeom prst="rect">
            <a:avLst/>
          </a:prstGeom>
          <a:solidFill>
            <a:srgbClr val="CF958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TextBox 575"/>
          <p:cNvSpPr txBox="1"/>
          <p:nvPr/>
        </p:nvSpPr>
        <p:spPr>
          <a:xfrm>
            <a:off x="3200400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1/6/6</a:t>
            </a:r>
          </a:p>
        </p:txBody>
      </p:sp>
      <p:sp>
        <p:nvSpPr>
          <p:cNvPr id="577" name="cell|P: Martiny - Microarray (MED4)|COG1787|ns"/>
          <p:cNvSpPr/>
          <p:nvPr/>
        </p:nvSpPr>
        <p:spPr>
          <a:xfrm>
            <a:off x="3606304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TextBox 577"/>
          <p:cNvSpPr txBox="1"/>
          <p:nvPr/>
        </p:nvSpPr>
        <p:spPr>
          <a:xfrm>
            <a:off x="3606304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79" name="cell|P: Martiny - Microarray (MED4)|COG3727|absent"/>
          <p:cNvSpPr/>
          <p:nvPr/>
        </p:nvSpPr>
        <p:spPr>
          <a:xfrm>
            <a:off x="4012208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cell|P: Martiny - Microarray (MED4)|COG1793|ns"/>
          <p:cNvSpPr/>
          <p:nvPr/>
        </p:nvSpPr>
        <p:spPr>
          <a:xfrm>
            <a:off x="4418113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TextBox 580"/>
          <p:cNvSpPr txBox="1"/>
          <p:nvPr/>
        </p:nvSpPr>
        <p:spPr>
          <a:xfrm>
            <a:off x="4418113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582" name="cell|P: Martiny - Microarray (MED4)|COG0640|ns"/>
          <p:cNvSpPr/>
          <p:nvPr/>
        </p:nvSpPr>
        <p:spPr>
          <a:xfrm>
            <a:off x="4824017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TextBox 582"/>
          <p:cNvSpPr txBox="1"/>
          <p:nvPr/>
        </p:nvSpPr>
        <p:spPr>
          <a:xfrm>
            <a:off x="4824017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84" name="cell|P: Martiny - Microarray (MED4)|COG1403|up"/>
          <p:cNvSpPr/>
          <p:nvPr/>
        </p:nvSpPr>
        <p:spPr>
          <a:xfrm>
            <a:off x="5229921" y="5678424"/>
            <a:ext cx="405904" cy="384048"/>
          </a:xfrm>
          <a:prstGeom prst="rect">
            <a:avLst/>
          </a:prstGeom>
          <a:solidFill>
            <a:srgbClr val="D18D8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5229921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1/4/4</a:t>
            </a:r>
          </a:p>
        </p:txBody>
      </p:sp>
      <p:sp>
        <p:nvSpPr>
          <p:cNvPr id="586" name="cell|P: Martiny - Microarray (MED4)|COG2214|ns"/>
          <p:cNvSpPr/>
          <p:nvPr/>
        </p:nvSpPr>
        <p:spPr>
          <a:xfrm>
            <a:off x="5635826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TextBox 586"/>
          <p:cNvSpPr txBox="1"/>
          <p:nvPr/>
        </p:nvSpPr>
        <p:spPr>
          <a:xfrm>
            <a:off x="5635826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588" name="cell|P: Martiny - Microarray (MED4)|COG0443|ns"/>
          <p:cNvSpPr/>
          <p:nvPr/>
        </p:nvSpPr>
        <p:spPr>
          <a:xfrm>
            <a:off x="6041730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6041730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590" name="cell|P: Martiny - Microarray (MED4)|COG0484|ns"/>
          <p:cNvSpPr/>
          <p:nvPr/>
        </p:nvSpPr>
        <p:spPr>
          <a:xfrm>
            <a:off x="6447635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TextBox 590"/>
          <p:cNvSpPr txBox="1"/>
          <p:nvPr/>
        </p:nvSpPr>
        <p:spPr>
          <a:xfrm>
            <a:off x="6447635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592" name="cell|P: Martiny - Microarray (MED4)|COG0330|ns"/>
          <p:cNvSpPr/>
          <p:nvPr/>
        </p:nvSpPr>
        <p:spPr>
          <a:xfrm>
            <a:off x="6853539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TextBox 592"/>
          <p:cNvSpPr txBox="1"/>
          <p:nvPr/>
        </p:nvSpPr>
        <p:spPr>
          <a:xfrm>
            <a:off x="6853539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94" name="cell|P: Martiny - Microarray (MED4)|COG1187|ns"/>
          <p:cNvSpPr/>
          <p:nvPr/>
        </p:nvSpPr>
        <p:spPr>
          <a:xfrm>
            <a:off x="7259443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7259443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596" name="cell|P: Martiny - Microarray (MED4)|COG1454|absent"/>
          <p:cNvSpPr/>
          <p:nvPr/>
        </p:nvSpPr>
        <p:spPr>
          <a:xfrm>
            <a:off x="7665348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cell|P: Martiny - Microarray (MED4)|COG2370|ns"/>
          <p:cNvSpPr/>
          <p:nvPr/>
        </p:nvSpPr>
        <p:spPr>
          <a:xfrm>
            <a:off x="8071252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8071252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99" name="cell|P: Martiny - Microarray (MED4)|COG0367|absent"/>
          <p:cNvSpPr/>
          <p:nvPr/>
        </p:nvSpPr>
        <p:spPr>
          <a:xfrm>
            <a:off x="8477157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cell|P: Martiny - Microarray (MED4)|COG0082|ns"/>
          <p:cNvSpPr/>
          <p:nvPr/>
        </p:nvSpPr>
        <p:spPr>
          <a:xfrm>
            <a:off x="8883061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8883061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02" name="cell|P: Martiny - Microarray (MED4)|COG2274|absent"/>
          <p:cNvSpPr/>
          <p:nvPr/>
        </p:nvSpPr>
        <p:spPr>
          <a:xfrm>
            <a:off x="9288965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cell|P: Martiny - Microarray (MED4)|COG1989|absent"/>
          <p:cNvSpPr/>
          <p:nvPr/>
        </p:nvSpPr>
        <p:spPr>
          <a:xfrm>
            <a:off x="9694870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cell|P: Martiny - Microarray (MED4)|COG0845|ns"/>
          <p:cNvSpPr/>
          <p:nvPr/>
        </p:nvSpPr>
        <p:spPr>
          <a:xfrm>
            <a:off x="10100774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10100774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06" name="cell|P: Martiny - Microarray (MED4)|COG0488|ns"/>
          <p:cNvSpPr/>
          <p:nvPr/>
        </p:nvSpPr>
        <p:spPr>
          <a:xfrm>
            <a:off x="10506679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10506679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08" name="cell|P: Martiny - Microarray (MED4)|COG0697|ns"/>
          <p:cNvSpPr/>
          <p:nvPr/>
        </p:nvSpPr>
        <p:spPr>
          <a:xfrm>
            <a:off x="10912583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10912583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0/9/9</a:t>
            </a:r>
          </a:p>
        </p:txBody>
      </p:sp>
      <p:sp>
        <p:nvSpPr>
          <p:cNvPr id="610" name="cell|P: Martiny - Microarray (MED4)|COG3839|absent"/>
          <p:cNvSpPr/>
          <p:nvPr/>
        </p:nvSpPr>
        <p:spPr>
          <a:xfrm>
            <a:off x="11318487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cell|P: Martiny - Microarray (MED4)|COG1212|absent"/>
          <p:cNvSpPr/>
          <p:nvPr/>
        </p:nvSpPr>
        <p:spPr>
          <a:xfrm>
            <a:off x="11724392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cell|P: Martiny - Microarray (MED4)|COG0477|up"/>
          <p:cNvSpPr/>
          <p:nvPr/>
        </p:nvSpPr>
        <p:spPr>
          <a:xfrm>
            <a:off x="12130296" y="5678424"/>
            <a:ext cx="405904" cy="384048"/>
          </a:xfrm>
          <a:prstGeom prst="rect">
            <a:avLst/>
          </a:prstGeom>
          <a:solidFill>
            <a:srgbClr val="CD9C9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12130296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2/25/25</a:t>
            </a:r>
          </a:p>
        </p:txBody>
      </p:sp>
      <p:sp>
        <p:nvSpPr>
          <p:cNvPr id="614" name="cell|P: Martiny - Microarray (MED4)|COG1472|absent"/>
          <p:cNvSpPr/>
          <p:nvPr/>
        </p:nvSpPr>
        <p:spPr>
          <a:xfrm>
            <a:off x="12536200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cell|P: Martiny - Microarray (MED4)|COG3754|absent"/>
          <p:cNvSpPr/>
          <p:nvPr/>
        </p:nvSpPr>
        <p:spPr>
          <a:xfrm>
            <a:off x="12942105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cell|P: Martiny - Microarray (MED4)|COG0399|ns"/>
          <p:cNvSpPr/>
          <p:nvPr/>
        </p:nvSpPr>
        <p:spPr>
          <a:xfrm>
            <a:off x="13348009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TextBox 616"/>
          <p:cNvSpPr txBox="1"/>
          <p:nvPr/>
        </p:nvSpPr>
        <p:spPr>
          <a:xfrm>
            <a:off x="13348009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618" name="cell|P: Martiny - Microarray (MED4)|COG0673|ns"/>
          <p:cNvSpPr/>
          <p:nvPr/>
        </p:nvSpPr>
        <p:spPr>
          <a:xfrm>
            <a:off x="13753914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13753914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20" name="cell|P: Martiny - Microarray (MED4)|COG0810|absent"/>
          <p:cNvSpPr/>
          <p:nvPr/>
        </p:nvSpPr>
        <p:spPr>
          <a:xfrm>
            <a:off x="14159818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cell|P: Martiny - Microarray (MED4)|COG3206|absent"/>
          <p:cNvSpPr/>
          <p:nvPr/>
        </p:nvSpPr>
        <p:spPr>
          <a:xfrm>
            <a:off x="14565722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cell|P: Martiny - Microarray (MED4)|COG1596|ns"/>
          <p:cNvSpPr/>
          <p:nvPr/>
        </p:nvSpPr>
        <p:spPr>
          <a:xfrm>
            <a:off x="14971627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TextBox 622"/>
          <p:cNvSpPr txBox="1"/>
          <p:nvPr/>
        </p:nvSpPr>
        <p:spPr>
          <a:xfrm>
            <a:off x="14971627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24" name="cell|P: Martiny - Microarray (MED4)|COG1462|absent"/>
          <p:cNvSpPr/>
          <p:nvPr/>
        </p:nvSpPr>
        <p:spPr>
          <a:xfrm>
            <a:off x="15377531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cell|P: Martiny - Microarray (MED4)|COG3210|ns"/>
          <p:cNvSpPr/>
          <p:nvPr/>
        </p:nvSpPr>
        <p:spPr>
          <a:xfrm>
            <a:off x="15783436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15783436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27" name="cell|P: Martiny - Microarray (MED4)|COG2010|ns"/>
          <p:cNvSpPr/>
          <p:nvPr/>
        </p:nvSpPr>
        <p:spPr>
          <a:xfrm>
            <a:off x="16189340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16189340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29" name="cell|P: Martiny - Microarray (MED4)|COG2114|absent"/>
          <p:cNvSpPr/>
          <p:nvPr/>
        </p:nvSpPr>
        <p:spPr>
          <a:xfrm>
            <a:off x="16595244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cell|P: Martiny - Microarray (MED4)|COG0454|ns"/>
          <p:cNvSpPr/>
          <p:nvPr/>
        </p:nvSpPr>
        <p:spPr>
          <a:xfrm>
            <a:off x="17001149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17001149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632" name="cell|P: Martiny - Microarray (MED4)|COG2931|absent"/>
          <p:cNvSpPr/>
          <p:nvPr/>
        </p:nvSpPr>
        <p:spPr>
          <a:xfrm>
            <a:off x="17407053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cell|P: Martiny - Microarray (MED4)|COG0412|absent"/>
          <p:cNvSpPr/>
          <p:nvPr/>
        </p:nvSpPr>
        <p:spPr>
          <a:xfrm>
            <a:off x="17812958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cell|P: Martiny - Microarray (MED4)|COG4252|absent"/>
          <p:cNvSpPr/>
          <p:nvPr/>
        </p:nvSpPr>
        <p:spPr>
          <a:xfrm>
            <a:off x="18218862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cell|P: Martiny - Microarray (MED4)|COG2192|ns"/>
          <p:cNvSpPr/>
          <p:nvPr/>
        </p:nvSpPr>
        <p:spPr>
          <a:xfrm>
            <a:off x="18624766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18624766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37" name="cell|P: Martiny - Microarray (MED4)|COG2159|ns"/>
          <p:cNvSpPr/>
          <p:nvPr/>
        </p:nvSpPr>
        <p:spPr>
          <a:xfrm>
            <a:off x="19030671" y="56784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TextBox 637"/>
          <p:cNvSpPr txBox="1"/>
          <p:nvPr/>
        </p:nvSpPr>
        <p:spPr>
          <a:xfrm>
            <a:off x="19030671" y="56784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39" name="cell|P: Martiny - Microarray (MED4)|COG5651|absent"/>
          <p:cNvSpPr/>
          <p:nvPr/>
        </p:nvSpPr>
        <p:spPr>
          <a:xfrm>
            <a:off x="19436575" y="56784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137160" y="6062472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Martiny - Microarray (MIT9313)*</a:t>
            </a:r>
          </a:p>
        </p:txBody>
      </p:sp>
      <p:sp>
        <p:nvSpPr>
          <p:cNvPr id="641" name="cell|P: Martiny - Microarray (MIT9313)*|COG0188|ns"/>
          <p:cNvSpPr/>
          <p:nvPr/>
        </p:nvSpPr>
        <p:spPr>
          <a:xfrm>
            <a:off x="3200400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3200400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643" name="cell|P: Martiny - Microarray (MIT9313)*|COG1787|absent"/>
          <p:cNvSpPr/>
          <p:nvPr/>
        </p:nvSpPr>
        <p:spPr>
          <a:xfrm>
            <a:off x="3606304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cell|P: Martiny - Microarray (MIT9313)*|COG3727|absent"/>
          <p:cNvSpPr/>
          <p:nvPr/>
        </p:nvSpPr>
        <p:spPr>
          <a:xfrm>
            <a:off x="4012208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cell|P: Martiny - Microarray (MIT9313)*|COG1793|ns"/>
          <p:cNvSpPr/>
          <p:nvPr/>
        </p:nvSpPr>
        <p:spPr>
          <a:xfrm>
            <a:off x="4418113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TextBox 645"/>
          <p:cNvSpPr txBox="1"/>
          <p:nvPr/>
        </p:nvSpPr>
        <p:spPr>
          <a:xfrm>
            <a:off x="4418113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47" name="cell|P: Martiny - Microarray (MIT9313)*|COG0640|ns"/>
          <p:cNvSpPr/>
          <p:nvPr/>
        </p:nvSpPr>
        <p:spPr>
          <a:xfrm>
            <a:off x="4824017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TextBox 647"/>
          <p:cNvSpPr txBox="1"/>
          <p:nvPr/>
        </p:nvSpPr>
        <p:spPr>
          <a:xfrm>
            <a:off x="4824017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49" name="cell|P: Martiny - Microarray (MIT9313)*|COG1403|ns"/>
          <p:cNvSpPr/>
          <p:nvPr/>
        </p:nvSpPr>
        <p:spPr>
          <a:xfrm>
            <a:off x="5229921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TextBox 649"/>
          <p:cNvSpPr txBox="1"/>
          <p:nvPr/>
        </p:nvSpPr>
        <p:spPr>
          <a:xfrm>
            <a:off x="5229921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51" name="cell|P: Martiny - Microarray (MIT9313)*|COG2214|ns"/>
          <p:cNvSpPr/>
          <p:nvPr/>
        </p:nvSpPr>
        <p:spPr>
          <a:xfrm>
            <a:off x="5635826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TextBox 651"/>
          <p:cNvSpPr txBox="1"/>
          <p:nvPr/>
        </p:nvSpPr>
        <p:spPr>
          <a:xfrm>
            <a:off x="5635826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0/7/7</a:t>
            </a:r>
          </a:p>
        </p:txBody>
      </p:sp>
      <p:sp>
        <p:nvSpPr>
          <p:cNvPr id="653" name="cell|P: Martiny - Microarray (MIT9313)*|COG0443|ns"/>
          <p:cNvSpPr/>
          <p:nvPr/>
        </p:nvSpPr>
        <p:spPr>
          <a:xfrm>
            <a:off x="6041730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TextBox 653"/>
          <p:cNvSpPr txBox="1"/>
          <p:nvPr/>
        </p:nvSpPr>
        <p:spPr>
          <a:xfrm>
            <a:off x="6041730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655" name="cell|P: Martiny - Microarray (MIT9313)*|COG0484|ns"/>
          <p:cNvSpPr/>
          <p:nvPr/>
        </p:nvSpPr>
        <p:spPr>
          <a:xfrm>
            <a:off x="6447635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TextBox 655"/>
          <p:cNvSpPr txBox="1"/>
          <p:nvPr/>
        </p:nvSpPr>
        <p:spPr>
          <a:xfrm>
            <a:off x="6447635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57" name="cell|P: Martiny - Microarray (MIT9313)*|COG0330|ns"/>
          <p:cNvSpPr/>
          <p:nvPr/>
        </p:nvSpPr>
        <p:spPr>
          <a:xfrm>
            <a:off x="6853539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TextBox 657"/>
          <p:cNvSpPr txBox="1"/>
          <p:nvPr/>
        </p:nvSpPr>
        <p:spPr>
          <a:xfrm>
            <a:off x="6853539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59" name="cell|P: Martiny - Microarray (MIT9313)*|COG1187|ns"/>
          <p:cNvSpPr/>
          <p:nvPr/>
        </p:nvSpPr>
        <p:spPr>
          <a:xfrm>
            <a:off x="7259443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TextBox 659"/>
          <p:cNvSpPr txBox="1"/>
          <p:nvPr/>
        </p:nvSpPr>
        <p:spPr>
          <a:xfrm>
            <a:off x="7259443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661" name="cell|P: Martiny - Microarray (MIT9313)*|COG1454|ns"/>
          <p:cNvSpPr/>
          <p:nvPr/>
        </p:nvSpPr>
        <p:spPr>
          <a:xfrm>
            <a:off x="7665348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TextBox 661"/>
          <p:cNvSpPr txBox="1"/>
          <p:nvPr/>
        </p:nvSpPr>
        <p:spPr>
          <a:xfrm>
            <a:off x="7665348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63" name="cell|P: Martiny - Microarray (MIT9313)*|COG2370|down"/>
          <p:cNvSpPr/>
          <p:nvPr/>
        </p:nvSpPr>
        <p:spPr>
          <a:xfrm>
            <a:off x="8071252" y="6062472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TextBox 663"/>
          <p:cNvSpPr txBox="1"/>
          <p:nvPr/>
        </p:nvSpPr>
        <p:spPr>
          <a:xfrm>
            <a:off x="8071252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665" name="cell|P: Martiny - Microarray (MIT9313)*|COG0367|absent"/>
          <p:cNvSpPr/>
          <p:nvPr/>
        </p:nvSpPr>
        <p:spPr>
          <a:xfrm>
            <a:off x="8477157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cell|P: Martiny - Microarray (MIT9313)*|COG0082|ns"/>
          <p:cNvSpPr/>
          <p:nvPr/>
        </p:nvSpPr>
        <p:spPr>
          <a:xfrm>
            <a:off x="8883061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TextBox 666"/>
          <p:cNvSpPr txBox="1"/>
          <p:nvPr/>
        </p:nvSpPr>
        <p:spPr>
          <a:xfrm>
            <a:off x="8883061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68" name="cell|P: Martiny - Microarray (MIT9313)*|COG2274|ns"/>
          <p:cNvSpPr/>
          <p:nvPr/>
        </p:nvSpPr>
        <p:spPr>
          <a:xfrm>
            <a:off x="9288965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TextBox 668"/>
          <p:cNvSpPr txBox="1"/>
          <p:nvPr/>
        </p:nvSpPr>
        <p:spPr>
          <a:xfrm>
            <a:off x="9288965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70" name="cell|P: Martiny - Microarray (MIT9313)*|COG1989|ns"/>
          <p:cNvSpPr/>
          <p:nvPr/>
        </p:nvSpPr>
        <p:spPr>
          <a:xfrm>
            <a:off x="9694870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9694870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72" name="cell|P: Martiny - Microarray (MIT9313)*|COG0845|ns"/>
          <p:cNvSpPr/>
          <p:nvPr/>
        </p:nvSpPr>
        <p:spPr>
          <a:xfrm>
            <a:off x="10100774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TextBox 672"/>
          <p:cNvSpPr txBox="1"/>
          <p:nvPr/>
        </p:nvSpPr>
        <p:spPr>
          <a:xfrm>
            <a:off x="10100774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0/11/11</a:t>
            </a:r>
          </a:p>
        </p:txBody>
      </p:sp>
      <p:sp>
        <p:nvSpPr>
          <p:cNvPr id="674" name="cell|P: Martiny - Microarray (MIT9313)*|COG0488|ns"/>
          <p:cNvSpPr/>
          <p:nvPr/>
        </p:nvSpPr>
        <p:spPr>
          <a:xfrm>
            <a:off x="10506679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10506679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76" name="cell|P: Martiny - Microarray (MIT9313)*|COG0697|down"/>
          <p:cNvSpPr/>
          <p:nvPr/>
        </p:nvSpPr>
        <p:spPr>
          <a:xfrm>
            <a:off x="10912583" y="6062472"/>
            <a:ext cx="405904" cy="384048"/>
          </a:xfrm>
          <a:prstGeom prst="rect">
            <a:avLst/>
          </a:prstGeom>
          <a:solidFill>
            <a:srgbClr val="92AAC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10912583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1/11/11</a:t>
            </a:r>
          </a:p>
        </p:txBody>
      </p:sp>
      <p:sp>
        <p:nvSpPr>
          <p:cNvPr id="678" name="cell|P: Martiny - Microarray (MIT9313)*|COG3839|up"/>
          <p:cNvSpPr/>
          <p:nvPr/>
        </p:nvSpPr>
        <p:spPr>
          <a:xfrm>
            <a:off x="11318487" y="6062472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11318487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680" name="cell|P: Martiny - Microarray (MIT9313)*|COG1212|ns"/>
          <p:cNvSpPr/>
          <p:nvPr/>
        </p:nvSpPr>
        <p:spPr>
          <a:xfrm>
            <a:off x="11724392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11724392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82" name="cell|P: Martiny - Microarray (MIT9313)*|COG0477|up"/>
          <p:cNvSpPr/>
          <p:nvPr/>
        </p:nvSpPr>
        <p:spPr>
          <a:xfrm>
            <a:off x="12130296" y="6062472"/>
            <a:ext cx="405904" cy="384048"/>
          </a:xfrm>
          <a:prstGeom prst="rect">
            <a:avLst/>
          </a:prstGeom>
          <a:solidFill>
            <a:srgbClr val="CCA19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12130296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1/34/34</a:t>
            </a:r>
          </a:p>
        </p:txBody>
      </p:sp>
      <p:sp>
        <p:nvSpPr>
          <p:cNvPr id="684" name="cell|P: Martiny - Microarray (MIT9313)*|COG1472|ns"/>
          <p:cNvSpPr/>
          <p:nvPr/>
        </p:nvSpPr>
        <p:spPr>
          <a:xfrm>
            <a:off x="12536200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12536200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86" name="cell|P: Martiny - Microarray (MIT9313)*|COG3754|ns"/>
          <p:cNvSpPr/>
          <p:nvPr/>
        </p:nvSpPr>
        <p:spPr>
          <a:xfrm>
            <a:off x="12942105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12942105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88" name="cell|P: Martiny - Microarray (MIT9313)*|COG0399|ns"/>
          <p:cNvSpPr/>
          <p:nvPr/>
        </p:nvSpPr>
        <p:spPr>
          <a:xfrm>
            <a:off x="13348009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13348009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90" name="cell|P: Martiny - Microarray (MIT9313)*|COG0673|ns"/>
          <p:cNvSpPr/>
          <p:nvPr/>
        </p:nvSpPr>
        <p:spPr>
          <a:xfrm>
            <a:off x="13753914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TextBox 690"/>
          <p:cNvSpPr txBox="1"/>
          <p:nvPr/>
        </p:nvSpPr>
        <p:spPr>
          <a:xfrm>
            <a:off x="13753914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92" name="cell|P: Martiny - Microarray (MIT9313)*|COG0810|ns"/>
          <p:cNvSpPr/>
          <p:nvPr/>
        </p:nvSpPr>
        <p:spPr>
          <a:xfrm>
            <a:off x="14159818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14159818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94" name="cell|P: Martiny - Microarray (MIT9313)*|COG3206|absent"/>
          <p:cNvSpPr/>
          <p:nvPr/>
        </p:nvSpPr>
        <p:spPr>
          <a:xfrm>
            <a:off x="14565722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cell|P: Martiny - Microarray (MIT9313)*|COG1596|absent"/>
          <p:cNvSpPr/>
          <p:nvPr/>
        </p:nvSpPr>
        <p:spPr>
          <a:xfrm>
            <a:off x="14971627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cell|P: Martiny - Microarray (MIT9313)*|COG1462|down"/>
          <p:cNvSpPr/>
          <p:nvPr/>
        </p:nvSpPr>
        <p:spPr>
          <a:xfrm>
            <a:off x="15377531" y="6062472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TextBox 696"/>
          <p:cNvSpPr txBox="1"/>
          <p:nvPr/>
        </p:nvSpPr>
        <p:spPr>
          <a:xfrm>
            <a:off x="15377531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698" name="cell|P: Martiny - Microarray (MIT9313)*|COG3210|ns"/>
          <p:cNvSpPr/>
          <p:nvPr/>
        </p:nvSpPr>
        <p:spPr>
          <a:xfrm>
            <a:off x="15783436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TextBox 698"/>
          <p:cNvSpPr txBox="1"/>
          <p:nvPr/>
        </p:nvSpPr>
        <p:spPr>
          <a:xfrm>
            <a:off x="15783436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700" name="cell|P: Martiny - Microarray (MIT9313)*|COG2010|ns"/>
          <p:cNvSpPr/>
          <p:nvPr/>
        </p:nvSpPr>
        <p:spPr>
          <a:xfrm>
            <a:off x="16189340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16189340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702" name="cell|P: Martiny - Microarray (MIT9313)*|COG2114|ns"/>
          <p:cNvSpPr/>
          <p:nvPr/>
        </p:nvSpPr>
        <p:spPr>
          <a:xfrm>
            <a:off x="16595244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TextBox 702"/>
          <p:cNvSpPr txBox="1"/>
          <p:nvPr/>
        </p:nvSpPr>
        <p:spPr>
          <a:xfrm>
            <a:off x="16595244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704" name="cell|P: Martiny - Microarray (MIT9313)*|COG0454|ns"/>
          <p:cNvSpPr/>
          <p:nvPr/>
        </p:nvSpPr>
        <p:spPr>
          <a:xfrm>
            <a:off x="17001149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TextBox 704"/>
          <p:cNvSpPr txBox="1"/>
          <p:nvPr/>
        </p:nvSpPr>
        <p:spPr>
          <a:xfrm>
            <a:off x="17001149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0/8/8</a:t>
            </a:r>
          </a:p>
        </p:txBody>
      </p:sp>
      <p:sp>
        <p:nvSpPr>
          <p:cNvPr id="706" name="cell|P: Martiny - Microarray (MIT9313)*|COG2931|ns"/>
          <p:cNvSpPr/>
          <p:nvPr/>
        </p:nvSpPr>
        <p:spPr>
          <a:xfrm>
            <a:off x="17407053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17407053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708" name="cell|P: Martiny - Microarray (MIT9313)*|COG0412|ns"/>
          <p:cNvSpPr/>
          <p:nvPr/>
        </p:nvSpPr>
        <p:spPr>
          <a:xfrm>
            <a:off x="17812958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TextBox 708"/>
          <p:cNvSpPr txBox="1"/>
          <p:nvPr/>
        </p:nvSpPr>
        <p:spPr>
          <a:xfrm>
            <a:off x="17812958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710" name="cell|P: Martiny - Microarray (MIT9313)*|COG4252|ns"/>
          <p:cNvSpPr/>
          <p:nvPr/>
        </p:nvSpPr>
        <p:spPr>
          <a:xfrm>
            <a:off x="18218862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TextBox 710"/>
          <p:cNvSpPr txBox="1"/>
          <p:nvPr/>
        </p:nvSpPr>
        <p:spPr>
          <a:xfrm>
            <a:off x="18218862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712" name="cell|P: Martiny - Microarray (MIT9313)*|COG2192|absent"/>
          <p:cNvSpPr/>
          <p:nvPr/>
        </p:nvSpPr>
        <p:spPr>
          <a:xfrm>
            <a:off x="18624766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cell|P: Martiny - Microarray (MIT9313)*|COG2159|absent"/>
          <p:cNvSpPr/>
          <p:nvPr/>
        </p:nvSpPr>
        <p:spPr>
          <a:xfrm>
            <a:off x="19030671" y="60624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cell|P: Martiny - Microarray (MIT9313)*|COG5651|ns"/>
          <p:cNvSpPr/>
          <p:nvPr/>
        </p:nvSpPr>
        <p:spPr>
          <a:xfrm>
            <a:off x="19436575" y="60624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TextBox 714"/>
          <p:cNvSpPr txBox="1"/>
          <p:nvPr/>
        </p:nvSpPr>
        <p:spPr>
          <a:xfrm>
            <a:off x="19436575" y="60624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716" name="Rectangle 715"/>
          <p:cNvSpPr/>
          <p:nvPr/>
        </p:nvSpPr>
        <p:spPr>
          <a:xfrm>
            <a:off x="3200400" y="4515307"/>
            <a:ext cx="16642080" cy="25603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5624853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7654375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11713419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14148845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14554750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15366558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16178367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16584272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7396080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7801985" y="26060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3200400" y="8001000"/>
            <a:ext cx="256032" cy="256032"/>
          </a:xfrm>
          <a:prstGeom prst="rect">
            <a:avLst/>
          </a:prstGeom>
          <a:solidFill>
            <a:srgbClr val="E34948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TextBox 727"/>
          <p:cNvSpPr txBox="1"/>
          <p:nvPr/>
        </p:nvSpPr>
        <p:spPr>
          <a:xfrm>
            <a:off x="3529584" y="79827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Upregulated (most of COG's genes)</a:t>
            </a:r>
          </a:p>
        </p:txBody>
      </p:sp>
      <p:sp>
        <p:nvSpPr>
          <p:cNvPr id="729" name="Rectangle 728"/>
          <p:cNvSpPr/>
          <p:nvPr/>
        </p:nvSpPr>
        <p:spPr>
          <a:xfrm>
            <a:off x="5828385" y="8001000"/>
            <a:ext cx="256032" cy="256032"/>
          </a:xfrm>
          <a:prstGeom prst="rect">
            <a:avLst/>
          </a:prstGeom>
          <a:solidFill>
            <a:srgbClr val="2A78D6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TextBox 729"/>
          <p:cNvSpPr txBox="1"/>
          <p:nvPr/>
        </p:nvSpPr>
        <p:spPr>
          <a:xfrm>
            <a:off x="6157569" y="79827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Downregulated</a:t>
            </a:r>
          </a:p>
        </p:txBody>
      </p:sp>
      <p:sp>
        <p:nvSpPr>
          <p:cNvPr id="731" name="Rectangle 730"/>
          <p:cNvSpPr/>
          <p:nvPr/>
        </p:nvSpPr>
        <p:spPr>
          <a:xfrm>
            <a:off x="7395667" y="8001000"/>
            <a:ext cx="256032" cy="256032"/>
          </a:xfrm>
          <a:prstGeom prst="rect">
            <a:avLst/>
          </a:prstGeom>
          <a:solidFill>
            <a:srgbClr val="C3C2B7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TextBox 731"/>
          <p:cNvSpPr txBox="1"/>
          <p:nvPr/>
        </p:nvSpPr>
        <p:spPr>
          <a:xfrm>
            <a:off x="7724851" y="79827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Tested, no gene significant</a:t>
            </a:r>
          </a:p>
        </p:txBody>
      </p:sp>
      <p:sp>
        <p:nvSpPr>
          <p:cNvPr id="733" name="Rectangle 732"/>
          <p:cNvSpPr/>
          <p:nvPr/>
        </p:nvSpPr>
        <p:spPr>
          <a:xfrm>
            <a:off x="9705441" y="8001000"/>
            <a:ext cx="256032" cy="256032"/>
          </a:xfrm>
          <a:prstGeom prst="rect">
            <a:avLst/>
          </a:prstGeom>
          <a:solidFill>
            <a:srgbClr val="F4F3EF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TextBox 733"/>
          <p:cNvSpPr txBox="1"/>
          <p:nvPr/>
        </p:nvSpPr>
        <p:spPr>
          <a:xfrm>
            <a:off x="10034625" y="79827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No data (COG present, not in table)</a:t>
            </a:r>
          </a:p>
        </p:txBody>
      </p:sp>
      <p:sp>
        <p:nvSpPr>
          <p:cNvPr id="735" name="Rectangle 734"/>
          <p:cNvSpPr/>
          <p:nvPr/>
        </p:nvSpPr>
        <p:spPr>
          <a:xfrm>
            <a:off x="12439497" y="8001000"/>
            <a:ext cx="256032" cy="256032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TextBox 735"/>
          <p:cNvSpPr txBox="1"/>
          <p:nvPr/>
        </p:nvSpPr>
        <p:spPr>
          <a:xfrm>
            <a:off x="12768681" y="79827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COG absent from strain genome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
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8892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0" cy="100584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15768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0B0B0B"/>
                </a:solidFill>
                <a:latin typeface="Arial"/>
              </a:rPr>
              <a:t>41 candidate starvation-sensitivity COGs vs. nutrient-starvation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271576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98781"/>
                </a:solidFill>
                <a:latin typeface="Arial"/>
              </a:rPr>
              <a:t>cell text k / n / m = significant / measured in this experiment / copies in that strain's genome  ·  fill = dominant direction, blended toward grey by k/n  ·  orange = the COG's genes split direction (k shown as up/down arrows)  ·  columns grouped by functional category, N / mixed strip = that COG's Direction tag  ·  * Martiny MIT9313 at 24h (no 48h row); table-absent COGs = not significant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3752" y="2286000"/>
            <a:ext cx="3277120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645919"/>
            <a:ext cx="4429264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Quality control - DNA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5736" y="2286000"/>
            <a:ext cx="2721789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9664" y="1645919"/>
            <a:ext cx="3873933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Quality control - Protein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82390" y="2286000"/>
            <a:ext cx="5498443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06318" y="1645919"/>
            <a:ext cx="6650587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Amino acid &amp; mixotrophy biosynthesis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535697" y="2286000"/>
            <a:ext cx="3277120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59625" y="1645919"/>
            <a:ext cx="4429264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LPS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67681" y="2286000"/>
            <a:ext cx="50046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91609" y="1645919"/>
            <a:ext cx="165261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Membrane linker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23012" y="2286000"/>
            <a:ext cx="1055797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6940" y="1645919"/>
            <a:ext cx="2207941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Exopolysaccharide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33673" y="2286000"/>
            <a:ext cx="1055797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7601" y="1645919"/>
            <a:ext cx="2207941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Biofilm / Attachment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44335" y="2286000"/>
            <a:ext cx="50046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68263" y="1645919"/>
            <a:ext cx="165261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Energy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99666" y="2286000"/>
            <a:ext cx="1055797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23594" y="1645919"/>
            <a:ext cx="2207941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Translation, transcription &amp; signalling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310327" y="2286000"/>
            <a:ext cx="500466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34255" y="1645919"/>
            <a:ext cx="1652610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RTX toxins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65658" y="2286000"/>
            <a:ext cx="2721789" cy="20116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89586" y="1645919"/>
            <a:ext cx="3873933" cy="5029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1650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6981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2312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7642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2973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8304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3635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8965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4296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9627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54958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10288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65619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20950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76280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31611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86942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42273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97603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952934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508265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63596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18926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74257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29588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84919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40249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395580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950911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06241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061572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616903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172234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27564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82895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38226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393557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948887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504218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059549" y="2459736"/>
            <a:ext cx="55533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mixed</a:t>
            </a:r>
          </a:p>
        </p:txBody>
      </p:sp>
      <p:sp>
        <p:nvSpPr>
          <p:cNvPr id="68" name="TextBox 67"/>
          <p:cNvSpPr txBox="1"/>
          <p:nvPr/>
        </p:nvSpPr>
        <p:spPr>
          <a:xfrm rot="18000000">
            <a:off x="420958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GyrA  COG0188</a:t>
            </a:r>
          </a:p>
        </p:txBody>
      </p:sp>
      <p:sp>
        <p:nvSpPr>
          <p:cNvPr id="69" name="TextBox 68"/>
          <p:cNvSpPr txBox="1"/>
          <p:nvPr/>
        </p:nvSpPr>
        <p:spPr>
          <a:xfrm rot="18000000">
            <a:off x="476491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Mrr  COG1787</a:t>
            </a:r>
          </a:p>
        </p:txBody>
      </p:sp>
      <p:sp>
        <p:nvSpPr>
          <p:cNvPr id="70" name="TextBox 69"/>
          <p:cNvSpPr txBox="1"/>
          <p:nvPr/>
        </p:nvSpPr>
        <p:spPr>
          <a:xfrm rot="18000000">
            <a:off x="532024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Vsr  COG3727</a:t>
            </a:r>
          </a:p>
        </p:txBody>
      </p:sp>
      <p:sp>
        <p:nvSpPr>
          <p:cNvPr id="71" name="TextBox 70"/>
          <p:cNvSpPr txBox="1"/>
          <p:nvPr/>
        </p:nvSpPr>
        <p:spPr>
          <a:xfrm rot="18000000">
            <a:off x="587557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CDC9  COG1793</a:t>
            </a:r>
          </a:p>
        </p:txBody>
      </p:sp>
      <p:sp>
        <p:nvSpPr>
          <p:cNvPr id="72" name="TextBox 71"/>
          <p:cNvSpPr txBox="1"/>
          <p:nvPr/>
        </p:nvSpPr>
        <p:spPr>
          <a:xfrm rot="18000000">
            <a:off x="643090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smtB/ArsR  COG0640</a:t>
            </a:r>
          </a:p>
        </p:txBody>
      </p:sp>
      <p:sp>
        <p:nvSpPr>
          <p:cNvPr id="73" name="TextBox 72"/>
          <p:cNvSpPr txBox="1"/>
          <p:nvPr/>
        </p:nvSpPr>
        <p:spPr>
          <a:xfrm rot="18000000">
            <a:off x="698623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McrA  COG1403</a:t>
            </a:r>
          </a:p>
        </p:txBody>
      </p:sp>
      <p:sp>
        <p:nvSpPr>
          <p:cNvPr id="74" name="TextBox 73"/>
          <p:cNvSpPr txBox="1"/>
          <p:nvPr/>
        </p:nvSpPr>
        <p:spPr>
          <a:xfrm rot="18000000">
            <a:off x="754156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CbpA  COG2214</a:t>
            </a:r>
          </a:p>
        </p:txBody>
      </p:sp>
      <p:sp>
        <p:nvSpPr>
          <p:cNvPr id="75" name="TextBox 74"/>
          <p:cNvSpPr txBox="1"/>
          <p:nvPr/>
        </p:nvSpPr>
        <p:spPr>
          <a:xfrm rot="18000000">
            <a:off x="809690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DnaK  COG0443</a:t>
            </a:r>
          </a:p>
        </p:txBody>
      </p:sp>
      <p:sp>
        <p:nvSpPr>
          <p:cNvPr id="76" name="TextBox 75"/>
          <p:cNvSpPr txBox="1"/>
          <p:nvPr/>
        </p:nvSpPr>
        <p:spPr>
          <a:xfrm rot="18000000">
            <a:off x="865223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DnaJ  COG0484</a:t>
            </a:r>
          </a:p>
        </p:txBody>
      </p:sp>
      <p:sp>
        <p:nvSpPr>
          <p:cNvPr id="77" name="TextBox 76"/>
          <p:cNvSpPr txBox="1"/>
          <p:nvPr/>
        </p:nvSpPr>
        <p:spPr>
          <a:xfrm rot="18000000">
            <a:off x="920756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HflC  COG0330</a:t>
            </a:r>
          </a:p>
        </p:txBody>
      </p:sp>
      <p:sp>
        <p:nvSpPr>
          <p:cNvPr id="78" name="TextBox 77"/>
          <p:cNvSpPr txBox="1"/>
          <p:nvPr/>
        </p:nvSpPr>
        <p:spPr>
          <a:xfrm rot="18000000">
            <a:off x="976289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RsuA  COG1187</a:t>
            </a:r>
          </a:p>
        </p:txBody>
      </p:sp>
      <p:sp>
        <p:nvSpPr>
          <p:cNvPr id="79" name="TextBox 78"/>
          <p:cNvSpPr txBox="1"/>
          <p:nvPr/>
        </p:nvSpPr>
        <p:spPr>
          <a:xfrm rot="18000000">
            <a:off x="1031822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EutG  COG1454</a:t>
            </a:r>
          </a:p>
        </p:txBody>
      </p:sp>
      <p:sp>
        <p:nvSpPr>
          <p:cNvPr id="80" name="TextBox 79"/>
          <p:cNvSpPr txBox="1"/>
          <p:nvPr/>
        </p:nvSpPr>
        <p:spPr>
          <a:xfrm rot="18000000">
            <a:off x="1087355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HupE  COG2370</a:t>
            </a:r>
          </a:p>
        </p:txBody>
      </p:sp>
      <p:sp>
        <p:nvSpPr>
          <p:cNvPr id="81" name="TextBox 80"/>
          <p:cNvSpPr txBox="1"/>
          <p:nvPr/>
        </p:nvSpPr>
        <p:spPr>
          <a:xfrm rot="18000000">
            <a:off x="1142888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AsnB  COG0367</a:t>
            </a:r>
          </a:p>
        </p:txBody>
      </p:sp>
      <p:sp>
        <p:nvSpPr>
          <p:cNvPr id="82" name="TextBox 81"/>
          <p:cNvSpPr txBox="1"/>
          <p:nvPr/>
        </p:nvSpPr>
        <p:spPr>
          <a:xfrm rot="18000000">
            <a:off x="1198421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AroC  COG0082</a:t>
            </a:r>
          </a:p>
        </p:txBody>
      </p:sp>
      <p:sp>
        <p:nvSpPr>
          <p:cNvPr id="83" name="TextBox 82"/>
          <p:cNvSpPr txBox="1"/>
          <p:nvPr/>
        </p:nvSpPr>
        <p:spPr>
          <a:xfrm rot="18000000">
            <a:off x="1253954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SunT  COG2274</a:t>
            </a:r>
          </a:p>
        </p:txBody>
      </p:sp>
      <p:sp>
        <p:nvSpPr>
          <p:cNvPr id="84" name="TextBox 83"/>
          <p:cNvSpPr txBox="1"/>
          <p:nvPr/>
        </p:nvSpPr>
        <p:spPr>
          <a:xfrm rot="18000000">
            <a:off x="1309487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PulO  COG1989</a:t>
            </a:r>
          </a:p>
        </p:txBody>
      </p:sp>
      <p:sp>
        <p:nvSpPr>
          <p:cNvPr id="85" name="TextBox 84"/>
          <p:cNvSpPr txBox="1"/>
          <p:nvPr/>
        </p:nvSpPr>
        <p:spPr>
          <a:xfrm rot="18000000">
            <a:off x="1365020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AcrA  COG0845</a:t>
            </a:r>
          </a:p>
        </p:txBody>
      </p:sp>
      <p:sp>
        <p:nvSpPr>
          <p:cNvPr id="86" name="TextBox 85"/>
          <p:cNvSpPr txBox="1"/>
          <p:nvPr/>
        </p:nvSpPr>
        <p:spPr>
          <a:xfrm rot="18000000">
            <a:off x="1420553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Uup  COG0488</a:t>
            </a:r>
          </a:p>
        </p:txBody>
      </p:sp>
      <p:sp>
        <p:nvSpPr>
          <p:cNvPr id="87" name="TextBox 86"/>
          <p:cNvSpPr txBox="1"/>
          <p:nvPr/>
        </p:nvSpPr>
        <p:spPr>
          <a:xfrm rot="18000000">
            <a:off x="1476086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RhaT  COG0697</a:t>
            </a:r>
          </a:p>
        </p:txBody>
      </p:sp>
      <p:sp>
        <p:nvSpPr>
          <p:cNvPr id="88" name="TextBox 87"/>
          <p:cNvSpPr txBox="1"/>
          <p:nvPr/>
        </p:nvSpPr>
        <p:spPr>
          <a:xfrm rot="18000000">
            <a:off x="1531620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MalK  COG3839</a:t>
            </a:r>
          </a:p>
        </p:txBody>
      </p:sp>
      <p:sp>
        <p:nvSpPr>
          <p:cNvPr id="89" name="TextBox 88"/>
          <p:cNvSpPr txBox="1"/>
          <p:nvPr/>
        </p:nvSpPr>
        <p:spPr>
          <a:xfrm rot="18000000">
            <a:off x="1587153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kdsB  COG1212</a:t>
            </a:r>
          </a:p>
        </p:txBody>
      </p:sp>
      <p:sp>
        <p:nvSpPr>
          <p:cNvPr id="90" name="TextBox 89"/>
          <p:cNvSpPr txBox="1"/>
          <p:nvPr/>
        </p:nvSpPr>
        <p:spPr>
          <a:xfrm rot="18000000">
            <a:off x="1642686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prop  COG0477</a:t>
            </a:r>
          </a:p>
        </p:txBody>
      </p:sp>
      <p:sp>
        <p:nvSpPr>
          <p:cNvPr id="91" name="TextBox 90"/>
          <p:cNvSpPr txBox="1"/>
          <p:nvPr/>
        </p:nvSpPr>
        <p:spPr>
          <a:xfrm rot="18000000">
            <a:off x="1698219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BglX  COG1472</a:t>
            </a:r>
          </a:p>
        </p:txBody>
      </p:sp>
      <p:sp>
        <p:nvSpPr>
          <p:cNvPr id="92" name="TextBox 91"/>
          <p:cNvSpPr txBox="1"/>
          <p:nvPr/>
        </p:nvSpPr>
        <p:spPr>
          <a:xfrm rot="18000000">
            <a:off x="1753752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RgpF  COG3754</a:t>
            </a:r>
          </a:p>
        </p:txBody>
      </p:sp>
      <p:sp>
        <p:nvSpPr>
          <p:cNvPr id="93" name="TextBox 92"/>
          <p:cNvSpPr txBox="1"/>
          <p:nvPr/>
        </p:nvSpPr>
        <p:spPr>
          <a:xfrm rot="18000000">
            <a:off x="1809285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WecE  COG0399</a:t>
            </a:r>
          </a:p>
        </p:txBody>
      </p:sp>
      <p:sp>
        <p:nvSpPr>
          <p:cNvPr id="94" name="TextBox 93"/>
          <p:cNvSpPr txBox="1"/>
          <p:nvPr/>
        </p:nvSpPr>
        <p:spPr>
          <a:xfrm rot="18000000">
            <a:off x="1864818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MviM  COG0673</a:t>
            </a:r>
          </a:p>
        </p:txBody>
      </p:sp>
      <p:sp>
        <p:nvSpPr>
          <p:cNvPr id="95" name="TextBox 94"/>
          <p:cNvSpPr txBox="1"/>
          <p:nvPr/>
        </p:nvSpPr>
        <p:spPr>
          <a:xfrm rot="18000000">
            <a:off x="1920351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TonB  COG0810</a:t>
            </a:r>
          </a:p>
        </p:txBody>
      </p:sp>
      <p:sp>
        <p:nvSpPr>
          <p:cNvPr id="96" name="TextBox 95"/>
          <p:cNvSpPr txBox="1"/>
          <p:nvPr/>
        </p:nvSpPr>
        <p:spPr>
          <a:xfrm rot="18000000">
            <a:off x="19758845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GumC  COG3206</a:t>
            </a:r>
          </a:p>
        </p:txBody>
      </p:sp>
      <p:sp>
        <p:nvSpPr>
          <p:cNvPr id="97" name="TextBox 96"/>
          <p:cNvSpPr txBox="1"/>
          <p:nvPr/>
        </p:nvSpPr>
        <p:spPr>
          <a:xfrm rot="18000000">
            <a:off x="20314176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Wza  COG1596</a:t>
            </a:r>
          </a:p>
        </p:txBody>
      </p:sp>
      <p:sp>
        <p:nvSpPr>
          <p:cNvPr id="98" name="TextBox 97"/>
          <p:cNvSpPr txBox="1"/>
          <p:nvPr/>
        </p:nvSpPr>
        <p:spPr>
          <a:xfrm rot="18000000">
            <a:off x="20869507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CsgG  COG1462</a:t>
            </a:r>
          </a:p>
        </p:txBody>
      </p:sp>
      <p:sp>
        <p:nvSpPr>
          <p:cNvPr id="99" name="TextBox 98"/>
          <p:cNvSpPr txBox="1"/>
          <p:nvPr/>
        </p:nvSpPr>
        <p:spPr>
          <a:xfrm rot="18000000">
            <a:off x="2142483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FhaB  COG3210</a:t>
            </a:r>
          </a:p>
        </p:txBody>
      </p:sp>
      <p:sp>
        <p:nvSpPr>
          <p:cNvPr id="100" name="TextBox 99"/>
          <p:cNvSpPr txBox="1"/>
          <p:nvPr/>
        </p:nvSpPr>
        <p:spPr>
          <a:xfrm rot="18000000">
            <a:off x="21980168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CccA  COG2010</a:t>
            </a:r>
          </a:p>
        </p:txBody>
      </p:sp>
      <p:sp>
        <p:nvSpPr>
          <p:cNvPr id="101" name="TextBox 100"/>
          <p:cNvSpPr txBox="1"/>
          <p:nvPr/>
        </p:nvSpPr>
        <p:spPr>
          <a:xfrm rot="18000000">
            <a:off x="22535499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AcyC  COG2114</a:t>
            </a:r>
          </a:p>
        </p:txBody>
      </p:sp>
      <p:sp>
        <p:nvSpPr>
          <p:cNvPr id="102" name="TextBox 101"/>
          <p:cNvSpPr txBox="1"/>
          <p:nvPr/>
        </p:nvSpPr>
        <p:spPr>
          <a:xfrm rot="18000000">
            <a:off x="2309083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PhnO  COG0454</a:t>
            </a:r>
          </a:p>
        </p:txBody>
      </p:sp>
      <p:sp>
        <p:nvSpPr>
          <p:cNvPr id="103" name="TextBox 102"/>
          <p:cNvSpPr txBox="1"/>
          <p:nvPr/>
        </p:nvSpPr>
        <p:spPr>
          <a:xfrm rot="18000000">
            <a:off x="23646160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COG2931  COG2931</a:t>
            </a:r>
          </a:p>
        </p:txBody>
      </p:sp>
      <p:sp>
        <p:nvSpPr>
          <p:cNvPr id="104" name="TextBox 103"/>
          <p:cNvSpPr txBox="1"/>
          <p:nvPr/>
        </p:nvSpPr>
        <p:spPr>
          <a:xfrm rot="18000000">
            <a:off x="24201491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DLH  COG0412</a:t>
            </a:r>
          </a:p>
        </p:txBody>
      </p:sp>
      <p:sp>
        <p:nvSpPr>
          <p:cNvPr id="105" name="TextBox 104"/>
          <p:cNvSpPr txBox="1"/>
          <p:nvPr/>
        </p:nvSpPr>
        <p:spPr>
          <a:xfrm rot="18000000">
            <a:off x="24756822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CHASE2  COG4252</a:t>
            </a:r>
          </a:p>
        </p:txBody>
      </p:sp>
      <p:sp>
        <p:nvSpPr>
          <p:cNvPr id="106" name="TextBox 105"/>
          <p:cNvSpPr txBox="1"/>
          <p:nvPr/>
        </p:nvSpPr>
        <p:spPr>
          <a:xfrm rot="18000000">
            <a:off x="2531215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COG2192  COG2192</a:t>
            </a:r>
          </a:p>
        </p:txBody>
      </p:sp>
      <p:sp>
        <p:nvSpPr>
          <p:cNvPr id="107" name="TextBox 106"/>
          <p:cNvSpPr txBox="1"/>
          <p:nvPr/>
        </p:nvSpPr>
        <p:spPr>
          <a:xfrm rot="18000000">
            <a:off x="25867483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LigW  COG2159</a:t>
            </a:r>
          </a:p>
        </p:txBody>
      </p:sp>
      <p:sp>
        <p:nvSpPr>
          <p:cNvPr id="108" name="TextBox 107"/>
          <p:cNvSpPr txBox="1"/>
          <p:nvPr/>
        </p:nvSpPr>
        <p:spPr>
          <a:xfrm rot="18000000">
            <a:off x="26422814" y="8595360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B0B0B"/>
                </a:solidFill>
                <a:latin typeface="Arial"/>
              </a:rPr>
              <a:t>PPE  COG5651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2788920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Proteomics - MED4</a:t>
            </a:r>
          </a:p>
        </p:txBody>
      </p:sp>
      <p:sp>
        <p:nvSpPr>
          <p:cNvPr id="110" name="cell|Weissberg et al., 2025 - Proteomics - MED4|COG0188|ns"/>
          <p:cNvSpPr/>
          <p:nvPr/>
        </p:nvSpPr>
        <p:spPr>
          <a:xfrm>
            <a:off x="4846320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46320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0/5/6</a:t>
            </a:r>
          </a:p>
        </p:txBody>
      </p:sp>
      <p:sp>
        <p:nvSpPr>
          <p:cNvPr id="112" name="cell|Weissberg et al., 2025 - Proteomics - MED4|COG1787|ns"/>
          <p:cNvSpPr/>
          <p:nvPr/>
        </p:nvSpPr>
        <p:spPr>
          <a:xfrm>
            <a:off x="5401650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01650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4" name="cell|Weissberg et al., 2025 - Proteomics - MED4|COG3727|absent"/>
          <p:cNvSpPr/>
          <p:nvPr/>
        </p:nvSpPr>
        <p:spPr>
          <a:xfrm>
            <a:off x="5956981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5956981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956981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234646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ell|Weissberg et al., 2025 - Proteomics - MED4|COG1793|ns"/>
          <p:cNvSpPr/>
          <p:nvPr/>
        </p:nvSpPr>
        <p:spPr>
          <a:xfrm>
            <a:off x="6512312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512312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120" name="cell|Weissberg et al., 2025 - Proteomics - MED4|COG0640|nodata"/>
          <p:cNvSpPr/>
          <p:nvPr/>
        </p:nvSpPr>
        <p:spPr>
          <a:xfrm>
            <a:off x="7067642" y="2788920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cell|Weissberg et al., 2025 - Proteomics - MED4|COG1403|ns"/>
          <p:cNvSpPr/>
          <p:nvPr/>
        </p:nvSpPr>
        <p:spPr>
          <a:xfrm>
            <a:off x="7622973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22973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0/2/4</a:t>
            </a:r>
          </a:p>
        </p:txBody>
      </p:sp>
      <p:sp>
        <p:nvSpPr>
          <p:cNvPr id="123" name="cell|Weissberg et al., 2025 - Proteomics - MED4|COG2214|ns"/>
          <p:cNvSpPr/>
          <p:nvPr/>
        </p:nvSpPr>
        <p:spPr>
          <a:xfrm>
            <a:off x="8178304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78304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25" name="cell|Weissberg et al., 2025 - Proteomics - MED4|COG0443|ns"/>
          <p:cNvSpPr/>
          <p:nvPr/>
        </p:nvSpPr>
        <p:spPr>
          <a:xfrm>
            <a:off x="8733635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733635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27" name="cell|Weissberg et al., 2025 - Proteomics - MED4|COG0484|ns"/>
          <p:cNvSpPr/>
          <p:nvPr/>
        </p:nvSpPr>
        <p:spPr>
          <a:xfrm>
            <a:off x="9288965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288965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29" name="cell|Weissberg et al., 2025 - Proteomics - MED4|COG0330|ns"/>
          <p:cNvSpPr/>
          <p:nvPr/>
        </p:nvSpPr>
        <p:spPr>
          <a:xfrm>
            <a:off x="9844296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844296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31" name="cell|Weissberg et al., 2025 - Proteomics - MED4|COG1187|ns"/>
          <p:cNvSpPr/>
          <p:nvPr/>
        </p:nvSpPr>
        <p:spPr>
          <a:xfrm>
            <a:off x="10399627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399627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33" name="cell|Weissberg et al., 2025 - Proteomics - MED4|COG1454|absent"/>
          <p:cNvSpPr/>
          <p:nvPr/>
        </p:nvSpPr>
        <p:spPr>
          <a:xfrm>
            <a:off x="10954958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 flipV="1">
            <a:off x="10954958" y="278892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954958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1232623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cell|Weissberg et al., 2025 - Proteomics - MED4|COG2370|nodata"/>
          <p:cNvSpPr/>
          <p:nvPr/>
        </p:nvSpPr>
        <p:spPr>
          <a:xfrm>
            <a:off x="11510288" y="2788920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cell|Weissberg et al., 2025 - Proteomics - MED4|COG0367|absent"/>
          <p:cNvSpPr/>
          <p:nvPr/>
        </p:nvSpPr>
        <p:spPr>
          <a:xfrm>
            <a:off x="12065619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12065619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2065619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2343284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ell|Weissberg et al., 2025 - Proteomics - MED4|COG0082|ns"/>
          <p:cNvSpPr/>
          <p:nvPr/>
        </p:nvSpPr>
        <p:spPr>
          <a:xfrm>
            <a:off x="12620950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620950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44" name="cell|Weissberg et al., 2025 - Proteomics - MED4|COG2274|absent"/>
          <p:cNvSpPr/>
          <p:nvPr/>
        </p:nvSpPr>
        <p:spPr>
          <a:xfrm>
            <a:off x="13176280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13176280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3176280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3453946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ell|Weissberg et al., 2025 - Proteomics - MED4|COG1989|absent"/>
          <p:cNvSpPr/>
          <p:nvPr/>
        </p:nvSpPr>
        <p:spPr>
          <a:xfrm>
            <a:off x="13731611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13731611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3731611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4009277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ell|Weissberg et al., 2025 - Proteomics - MED4|COG0845|ns"/>
          <p:cNvSpPr/>
          <p:nvPr/>
        </p:nvSpPr>
        <p:spPr>
          <a:xfrm>
            <a:off x="14286942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286942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54" name="cell|Weissberg et al., 2025 - Proteomics - MED4|COG0488|ns"/>
          <p:cNvSpPr/>
          <p:nvPr/>
        </p:nvSpPr>
        <p:spPr>
          <a:xfrm>
            <a:off x="14842273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4842273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56" name="cell|Weissberg et al., 2025 - Proteomics - MED4|COG0697|ns"/>
          <p:cNvSpPr/>
          <p:nvPr/>
        </p:nvSpPr>
        <p:spPr>
          <a:xfrm>
            <a:off x="15397603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5397603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0/3/9</a:t>
            </a:r>
          </a:p>
        </p:txBody>
      </p:sp>
      <p:sp>
        <p:nvSpPr>
          <p:cNvPr id="158" name="cell|Weissberg et al., 2025 - Proteomics - MED4|COG3839|absent"/>
          <p:cNvSpPr/>
          <p:nvPr/>
        </p:nvSpPr>
        <p:spPr>
          <a:xfrm>
            <a:off x="15952934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15952934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5952934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6230600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cell|Weissberg et al., 2025 - Proteomics - MED4|COG1212|absent"/>
          <p:cNvSpPr/>
          <p:nvPr/>
        </p:nvSpPr>
        <p:spPr>
          <a:xfrm>
            <a:off x="16508265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 flipV="1">
            <a:off x="16508265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6508265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6785930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ell|Weissberg et al., 2025 - Proteomics - MED4|COG0477|ns"/>
          <p:cNvSpPr/>
          <p:nvPr/>
        </p:nvSpPr>
        <p:spPr>
          <a:xfrm>
            <a:off x="17063596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7063596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0/15/25</a:t>
            </a:r>
          </a:p>
        </p:txBody>
      </p:sp>
      <p:sp>
        <p:nvSpPr>
          <p:cNvPr id="168" name="cell|Weissberg et al., 2025 - Proteomics - MED4|COG1472|absent"/>
          <p:cNvSpPr/>
          <p:nvPr/>
        </p:nvSpPr>
        <p:spPr>
          <a:xfrm>
            <a:off x="17618926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V="1">
            <a:off x="17618926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7618926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7896592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cell|Weissberg et al., 2025 - Proteomics - MED4|COG3754|absent"/>
          <p:cNvSpPr/>
          <p:nvPr/>
        </p:nvSpPr>
        <p:spPr>
          <a:xfrm>
            <a:off x="18174257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 flipV="1">
            <a:off x="18174257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8174257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8451922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cell|Weissberg et al., 2025 - Proteomics - MED4|COG0399|ns"/>
          <p:cNvSpPr/>
          <p:nvPr/>
        </p:nvSpPr>
        <p:spPr>
          <a:xfrm>
            <a:off x="18729588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8729588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78" name="cell|Weissberg et al., 2025 - Proteomics - MED4|COG0673|ns"/>
          <p:cNvSpPr/>
          <p:nvPr/>
        </p:nvSpPr>
        <p:spPr>
          <a:xfrm>
            <a:off x="19284919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9284919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80" name="cell|Weissberg et al., 2025 - Proteomics - MED4|COG0810|absent"/>
          <p:cNvSpPr/>
          <p:nvPr/>
        </p:nvSpPr>
        <p:spPr>
          <a:xfrm>
            <a:off x="19840249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V="1">
            <a:off x="19840249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9840249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20117915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cell|Weissberg et al., 2025 - Proteomics - MED4|COG3206|absent"/>
          <p:cNvSpPr/>
          <p:nvPr/>
        </p:nvSpPr>
        <p:spPr>
          <a:xfrm>
            <a:off x="20395580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20395580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20395580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0673245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ell|Weissberg et al., 2025 - Proteomics - MED4|COG1596|ns"/>
          <p:cNvSpPr/>
          <p:nvPr/>
        </p:nvSpPr>
        <p:spPr>
          <a:xfrm>
            <a:off x="20950911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0950911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190" name="cell|Weissberg et al., 2025 - Proteomics - MED4|COG1462|absent"/>
          <p:cNvSpPr/>
          <p:nvPr/>
        </p:nvSpPr>
        <p:spPr>
          <a:xfrm>
            <a:off x="21506241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21506241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1506241" y="278892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1783907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cell|Weissberg et al., 2025 - Proteomics - MED4|COG3210|nodata"/>
          <p:cNvSpPr/>
          <p:nvPr/>
        </p:nvSpPr>
        <p:spPr>
          <a:xfrm>
            <a:off x="22061572" y="2788920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ell|Weissberg et al., 2025 - Proteomics - MED4|COG2010|ns"/>
          <p:cNvSpPr/>
          <p:nvPr/>
        </p:nvSpPr>
        <p:spPr>
          <a:xfrm>
            <a:off x="22616903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2616903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97" name="cell|Weissberg et al., 2025 - Proteomics - MED4|COG2114|absent"/>
          <p:cNvSpPr/>
          <p:nvPr/>
        </p:nvSpPr>
        <p:spPr>
          <a:xfrm>
            <a:off x="23172234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 flipV="1">
            <a:off x="23172234" y="278892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3172234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3449899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cell|Weissberg et al., 2025 - Proteomics - MED4|COG0454|ns"/>
          <p:cNvSpPr/>
          <p:nvPr/>
        </p:nvSpPr>
        <p:spPr>
          <a:xfrm>
            <a:off x="23727564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3727564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0/3/5</a:t>
            </a:r>
          </a:p>
        </p:txBody>
      </p:sp>
      <p:sp>
        <p:nvSpPr>
          <p:cNvPr id="203" name="cell|Weissberg et al., 2025 - Proteomics - MED4|COG2931|absent"/>
          <p:cNvSpPr/>
          <p:nvPr/>
        </p:nvSpPr>
        <p:spPr>
          <a:xfrm>
            <a:off x="24282895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 flipV="1">
            <a:off x="24282895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24282895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24560560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ell|Weissberg et al., 2025 - Proteomics - MED4|COG0412|absent"/>
          <p:cNvSpPr/>
          <p:nvPr/>
        </p:nvSpPr>
        <p:spPr>
          <a:xfrm>
            <a:off x="24838226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V="1">
            <a:off x="24838226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24838226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25115891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cell|Weissberg et al., 2025 - Proteomics - MED4|COG4252|absent"/>
          <p:cNvSpPr/>
          <p:nvPr/>
        </p:nvSpPr>
        <p:spPr>
          <a:xfrm>
            <a:off x="25393557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2" name="Connector 211"/>
          <p:cNvCxnSpPr/>
          <p:nvPr/>
        </p:nvCxnSpPr>
        <p:spPr>
          <a:xfrm flipV="1">
            <a:off x="25393557" y="278892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25393557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25671222" y="307238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cell|Weissberg et al., 2025 - Proteomics - MED4|COG2192|ns"/>
          <p:cNvSpPr/>
          <p:nvPr/>
        </p:nvSpPr>
        <p:spPr>
          <a:xfrm>
            <a:off x="25948887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5948887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217" name="cell|Weissberg et al., 2025 - Proteomics - MED4|COG2159|ns"/>
          <p:cNvSpPr/>
          <p:nvPr/>
        </p:nvSpPr>
        <p:spPr>
          <a:xfrm>
            <a:off x="26504218" y="278892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504218" y="278892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219" name="cell|Weissberg et al., 2025 - Proteomics - MED4|COG5651|absent"/>
          <p:cNvSpPr/>
          <p:nvPr/>
        </p:nvSpPr>
        <p:spPr>
          <a:xfrm>
            <a:off x="27059549" y="278892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 flipV="1">
            <a:off x="27059549" y="278892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27059549" y="278892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27337214" y="307238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914400" y="3355848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Weissberg et al., 2025 - RNA-seq - MED4</a:t>
            </a:r>
          </a:p>
        </p:txBody>
      </p:sp>
      <p:sp>
        <p:nvSpPr>
          <p:cNvPr id="224" name="cell|Weissberg et al., 2025 - RNA-seq - MED4|COG0188|both"/>
          <p:cNvSpPr/>
          <p:nvPr/>
        </p:nvSpPr>
        <p:spPr>
          <a:xfrm>
            <a:off x="4846320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846320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↑3↓2/6/6</a:t>
            </a:r>
          </a:p>
        </p:txBody>
      </p:sp>
      <p:sp>
        <p:nvSpPr>
          <p:cNvPr id="226" name="cell|Weissberg et al., 2025 - RNA-seq - MED4|COG1787|up"/>
          <p:cNvSpPr/>
          <p:nvPr/>
        </p:nvSpPr>
        <p:spPr>
          <a:xfrm>
            <a:off x="5401650" y="3355848"/>
            <a:ext cx="555330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401650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28" name="cell|Weissberg et al., 2025 - RNA-seq - MED4|COG3727|absent"/>
          <p:cNvSpPr/>
          <p:nvPr/>
        </p:nvSpPr>
        <p:spPr>
          <a:xfrm>
            <a:off x="5956981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 flipV="1">
            <a:off x="5956981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5956981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234646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cell|Weissberg et al., 2025 - RNA-seq - MED4|COG1793|both"/>
          <p:cNvSpPr/>
          <p:nvPr/>
        </p:nvSpPr>
        <p:spPr>
          <a:xfrm>
            <a:off x="6512312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512312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↑1↓1/3/3</a:t>
            </a:r>
          </a:p>
        </p:txBody>
      </p:sp>
      <p:sp>
        <p:nvSpPr>
          <p:cNvPr id="234" name="cell|Weissberg et al., 2025 - RNA-seq - MED4|COG0640|up"/>
          <p:cNvSpPr/>
          <p:nvPr/>
        </p:nvSpPr>
        <p:spPr>
          <a:xfrm>
            <a:off x="7067642" y="3355848"/>
            <a:ext cx="555330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067642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36" name="cell|Weissberg et al., 2025 - RNA-seq - MED4|COG1403|up"/>
          <p:cNvSpPr/>
          <p:nvPr/>
        </p:nvSpPr>
        <p:spPr>
          <a:xfrm>
            <a:off x="7622973" y="3355848"/>
            <a:ext cx="555330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622973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2/4/4</a:t>
            </a:r>
          </a:p>
        </p:txBody>
      </p:sp>
      <p:sp>
        <p:nvSpPr>
          <p:cNvPr id="238" name="cell|Weissberg et al., 2025 - RNA-seq - MED4|COG2214|up"/>
          <p:cNvSpPr/>
          <p:nvPr/>
        </p:nvSpPr>
        <p:spPr>
          <a:xfrm>
            <a:off x="8178304" y="3355848"/>
            <a:ext cx="555330" cy="566928"/>
          </a:xfrm>
          <a:prstGeom prst="rect">
            <a:avLst/>
          </a:prstGeom>
          <a:solidFill>
            <a:srgbClr val="D1656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178304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3/5/5</a:t>
            </a:r>
          </a:p>
        </p:txBody>
      </p:sp>
      <p:sp>
        <p:nvSpPr>
          <p:cNvPr id="240" name="cell|Weissberg et al., 2025 - RNA-seq - MED4|COG0443|both"/>
          <p:cNvSpPr/>
          <p:nvPr/>
        </p:nvSpPr>
        <p:spPr>
          <a:xfrm>
            <a:off x="8733635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733635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242" name="cell|Weissberg et al., 2025 - RNA-seq - MED4|COG0484|up"/>
          <p:cNvSpPr/>
          <p:nvPr/>
        </p:nvSpPr>
        <p:spPr>
          <a:xfrm>
            <a:off x="9288965" y="3355848"/>
            <a:ext cx="555330" cy="566928"/>
          </a:xfrm>
          <a:prstGeom prst="rect">
            <a:avLst/>
          </a:prstGeom>
          <a:solidFill>
            <a:srgbClr val="C8736D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288965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2/5/5</a:t>
            </a:r>
          </a:p>
        </p:txBody>
      </p:sp>
      <p:sp>
        <p:nvSpPr>
          <p:cNvPr id="244" name="cell|Weissberg et al., 2025 - RNA-seq - MED4|COG0330|ns"/>
          <p:cNvSpPr/>
          <p:nvPr/>
        </p:nvSpPr>
        <p:spPr>
          <a:xfrm>
            <a:off x="9844296" y="335584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844296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246" name="cell|Weissberg et al., 2025 - RNA-seq - MED4|COG1187|ns"/>
          <p:cNvSpPr/>
          <p:nvPr/>
        </p:nvSpPr>
        <p:spPr>
          <a:xfrm>
            <a:off x="10399627" y="335584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399627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248" name="cell|Weissberg et al., 2025 - RNA-seq - MED4|COG1454|absent"/>
          <p:cNvSpPr/>
          <p:nvPr/>
        </p:nvSpPr>
        <p:spPr>
          <a:xfrm>
            <a:off x="10954958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 flipV="1">
            <a:off x="10954958" y="335584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0954958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1232623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cell|Weissberg et al., 2025 - RNA-seq - MED4|COG2370|up"/>
          <p:cNvSpPr/>
          <p:nvPr/>
        </p:nvSpPr>
        <p:spPr>
          <a:xfrm>
            <a:off x="11510288" y="3355848"/>
            <a:ext cx="555330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510288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54" name="cell|Weissberg et al., 2025 - RNA-seq - MED4|COG0367|absent"/>
          <p:cNvSpPr/>
          <p:nvPr/>
        </p:nvSpPr>
        <p:spPr>
          <a:xfrm>
            <a:off x="12065619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 flipV="1">
            <a:off x="12065619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2065619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2343284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cell|Weissberg et al., 2025 - RNA-seq - MED4|COG0082|up"/>
          <p:cNvSpPr/>
          <p:nvPr/>
        </p:nvSpPr>
        <p:spPr>
          <a:xfrm>
            <a:off x="12620950" y="3355848"/>
            <a:ext cx="555330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2620950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260" name="cell|Weissberg et al., 2025 - RNA-seq - MED4|COG2274|absent"/>
          <p:cNvSpPr/>
          <p:nvPr/>
        </p:nvSpPr>
        <p:spPr>
          <a:xfrm>
            <a:off x="13176280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 flipV="1">
            <a:off x="13176280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3176280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3453946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cell|Weissberg et al., 2025 - RNA-seq - MED4|COG1989|absent"/>
          <p:cNvSpPr/>
          <p:nvPr/>
        </p:nvSpPr>
        <p:spPr>
          <a:xfrm>
            <a:off x="13731611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13731611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3731611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4009277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cell|Weissberg et al., 2025 - RNA-seq - MED4|COG0845|up"/>
          <p:cNvSpPr/>
          <p:nvPr/>
        </p:nvSpPr>
        <p:spPr>
          <a:xfrm>
            <a:off x="14286942" y="3355848"/>
            <a:ext cx="555330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4286942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270" name="cell|Weissberg et al., 2025 - RNA-seq - MED4|COG0488|up"/>
          <p:cNvSpPr/>
          <p:nvPr/>
        </p:nvSpPr>
        <p:spPr>
          <a:xfrm>
            <a:off x="14842273" y="3355848"/>
            <a:ext cx="555330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4842273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272" name="cell|Weissberg et al., 2025 - RNA-seq - MED4|COG0697|both"/>
          <p:cNvSpPr/>
          <p:nvPr/>
        </p:nvSpPr>
        <p:spPr>
          <a:xfrm>
            <a:off x="15397603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5397603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↑4↓3/9/9</a:t>
            </a:r>
          </a:p>
        </p:txBody>
      </p:sp>
      <p:sp>
        <p:nvSpPr>
          <p:cNvPr id="274" name="cell|Weissberg et al., 2025 - RNA-seq - MED4|COG3839|absent"/>
          <p:cNvSpPr/>
          <p:nvPr/>
        </p:nvSpPr>
        <p:spPr>
          <a:xfrm>
            <a:off x="15952934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 flipV="1">
            <a:off x="15952934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5952934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6230600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cell|Weissberg et al., 2025 - RNA-seq - MED4|COG1212|absent"/>
          <p:cNvSpPr/>
          <p:nvPr/>
        </p:nvSpPr>
        <p:spPr>
          <a:xfrm>
            <a:off x="16508265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6508265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6508265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6785930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cell|Weissberg et al., 2025 - RNA-seq - MED4|COG0477|both"/>
          <p:cNvSpPr/>
          <p:nvPr/>
        </p:nvSpPr>
        <p:spPr>
          <a:xfrm>
            <a:off x="17063596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7063596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↑3↓6/25/25</a:t>
            </a:r>
          </a:p>
        </p:txBody>
      </p:sp>
      <p:sp>
        <p:nvSpPr>
          <p:cNvPr id="284" name="cell|Weissberg et al., 2025 - RNA-seq - MED4|COG1472|absent"/>
          <p:cNvSpPr/>
          <p:nvPr/>
        </p:nvSpPr>
        <p:spPr>
          <a:xfrm>
            <a:off x="17618926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 flipV="1">
            <a:off x="17618926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7618926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7896592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ell|Weissberg et al., 2025 - RNA-seq - MED4|COG3754|absent"/>
          <p:cNvSpPr/>
          <p:nvPr/>
        </p:nvSpPr>
        <p:spPr>
          <a:xfrm>
            <a:off x="18174257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V="1">
            <a:off x="18174257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8174257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8451922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ell|Weissberg et al., 2025 - RNA-seq - MED4|COG0399|both"/>
          <p:cNvSpPr/>
          <p:nvPr/>
        </p:nvSpPr>
        <p:spPr>
          <a:xfrm>
            <a:off x="18729588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8729588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294" name="cell|Weissberg et al., 2025 - RNA-seq - MED4|COG0673|down"/>
          <p:cNvSpPr/>
          <p:nvPr/>
        </p:nvSpPr>
        <p:spPr>
          <a:xfrm>
            <a:off x="19284919" y="3355848"/>
            <a:ext cx="555330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9284919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296" name="cell|Weissberg et al., 2025 - RNA-seq - MED4|COG0810|absent"/>
          <p:cNvSpPr/>
          <p:nvPr/>
        </p:nvSpPr>
        <p:spPr>
          <a:xfrm>
            <a:off x="19840249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 flipV="1">
            <a:off x="19840249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9840249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20117915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cell|Weissberg et al., 2025 - RNA-seq - MED4|COG3206|absent"/>
          <p:cNvSpPr/>
          <p:nvPr/>
        </p:nvSpPr>
        <p:spPr>
          <a:xfrm>
            <a:off x="20395580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 flipV="1">
            <a:off x="20395580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20395580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20673245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cell|Weissberg et al., 2025 - RNA-seq - MED4|COG1596|both"/>
          <p:cNvSpPr/>
          <p:nvPr/>
        </p:nvSpPr>
        <p:spPr>
          <a:xfrm>
            <a:off x="20950911" y="3355848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20950911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↑1↓1/2/2</a:t>
            </a:r>
          </a:p>
        </p:txBody>
      </p:sp>
      <p:sp>
        <p:nvSpPr>
          <p:cNvPr id="306" name="cell|Weissberg et al., 2025 - RNA-seq - MED4|COG1462|absent"/>
          <p:cNvSpPr/>
          <p:nvPr/>
        </p:nvSpPr>
        <p:spPr>
          <a:xfrm>
            <a:off x="21506241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 flipV="1">
            <a:off x="21506241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21506241" y="335584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21783907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cell|Weissberg et al., 2025 - RNA-seq - MED4|COG3210|up"/>
          <p:cNvSpPr/>
          <p:nvPr/>
        </p:nvSpPr>
        <p:spPr>
          <a:xfrm>
            <a:off x="22061572" y="3355848"/>
            <a:ext cx="555330" cy="566928"/>
          </a:xfrm>
          <a:prstGeom prst="rect">
            <a:avLst/>
          </a:prstGeom>
          <a:solidFill>
            <a:srgbClr val="E3494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22061572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312" name="cell|Weissberg et al., 2025 - RNA-seq - MED4|COG2010|ns"/>
          <p:cNvSpPr/>
          <p:nvPr/>
        </p:nvSpPr>
        <p:spPr>
          <a:xfrm>
            <a:off x="22616903" y="335584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22616903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14" name="cell|Weissberg et al., 2025 - RNA-seq - MED4|COG2114|absent"/>
          <p:cNvSpPr/>
          <p:nvPr/>
        </p:nvSpPr>
        <p:spPr>
          <a:xfrm>
            <a:off x="23172234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23172234" y="335584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23172234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23449899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cell|Weissberg et al., 2025 - RNA-seq - MED4|COG0454|up"/>
          <p:cNvSpPr/>
          <p:nvPr/>
        </p:nvSpPr>
        <p:spPr>
          <a:xfrm>
            <a:off x="23727564" y="3355848"/>
            <a:ext cx="555330" cy="566928"/>
          </a:xfrm>
          <a:prstGeom prst="rect">
            <a:avLst/>
          </a:prstGeom>
          <a:solidFill>
            <a:srgbClr val="C8736D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23727564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2/5/5</a:t>
            </a:r>
          </a:p>
        </p:txBody>
      </p:sp>
      <p:sp>
        <p:nvSpPr>
          <p:cNvPr id="320" name="cell|Weissberg et al., 2025 - RNA-seq - MED4|COG2931|absent"/>
          <p:cNvSpPr/>
          <p:nvPr/>
        </p:nvSpPr>
        <p:spPr>
          <a:xfrm>
            <a:off x="24282895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 flipV="1">
            <a:off x="24282895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24282895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24560560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cell|Weissberg et al., 2025 - RNA-seq - MED4|COG0412|absent"/>
          <p:cNvSpPr/>
          <p:nvPr/>
        </p:nvSpPr>
        <p:spPr>
          <a:xfrm>
            <a:off x="24838226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 flipV="1">
            <a:off x="24838226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24838226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25115891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cell|Weissberg et al., 2025 - RNA-seq - MED4|COG4252|absent"/>
          <p:cNvSpPr/>
          <p:nvPr/>
        </p:nvSpPr>
        <p:spPr>
          <a:xfrm>
            <a:off x="25393557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9" name="Connector 328"/>
          <p:cNvCxnSpPr/>
          <p:nvPr/>
        </p:nvCxnSpPr>
        <p:spPr>
          <a:xfrm flipV="1">
            <a:off x="25393557" y="335584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25393557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25671222" y="3639312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cell|Weissberg et al., 2025 - RNA-seq - MED4|COG2192|up"/>
          <p:cNvSpPr/>
          <p:nvPr/>
        </p:nvSpPr>
        <p:spPr>
          <a:xfrm>
            <a:off x="25948887" y="3355848"/>
            <a:ext cx="555330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25948887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334" name="cell|Weissberg et al., 2025 - RNA-seq - MED4|COG2159|ns"/>
          <p:cNvSpPr/>
          <p:nvPr/>
        </p:nvSpPr>
        <p:spPr>
          <a:xfrm>
            <a:off x="26504218" y="335584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26504218" y="335584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36" name="cell|Weissberg et al., 2025 - RNA-seq - MED4|COG5651|absent"/>
          <p:cNvSpPr/>
          <p:nvPr/>
        </p:nvSpPr>
        <p:spPr>
          <a:xfrm>
            <a:off x="27059549" y="335584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 flipV="1">
            <a:off x="27059549" y="335584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27059549" y="335584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27337214" y="3639312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914400" y="3922776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Read et al., 2017 - RNA-seq - MED4</a:t>
            </a:r>
          </a:p>
        </p:txBody>
      </p:sp>
      <p:sp>
        <p:nvSpPr>
          <p:cNvPr id="341" name="cell|Read et al., 2017 - RNA-seq - MED4|COG0188|down"/>
          <p:cNvSpPr/>
          <p:nvPr/>
        </p:nvSpPr>
        <p:spPr>
          <a:xfrm>
            <a:off x="4846320" y="3922776"/>
            <a:ext cx="555330" cy="566928"/>
          </a:xfrm>
          <a:prstGeom prst="rect">
            <a:avLst/>
          </a:prstGeom>
          <a:solidFill>
            <a:srgbClr val="7694B3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4846320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1/5/6</a:t>
            </a:r>
          </a:p>
        </p:txBody>
      </p:sp>
      <p:sp>
        <p:nvSpPr>
          <p:cNvPr id="343" name="cell|Read et al., 2017 - RNA-seq - MED4|COG1787|nodata"/>
          <p:cNvSpPr/>
          <p:nvPr/>
        </p:nvSpPr>
        <p:spPr>
          <a:xfrm>
            <a:off x="5401650" y="392277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cell|Read et al., 2017 - RNA-seq - MED4|COG3727|absent"/>
          <p:cNvSpPr/>
          <p:nvPr/>
        </p:nvSpPr>
        <p:spPr>
          <a:xfrm>
            <a:off x="5956981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 flipV="1">
            <a:off x="5956981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5956981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6234646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cell|Read et al., 2017 - RNA-seq - MED4|COG1793|ns"/>
          <p:cNvSpPr/>
          <p:nvPr/>
        </p:nvSpPr>
        <p:spPr>
          <a:xfrm>
            <a:off x="6512312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512312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50" name="cell|Read et al., 2017 - RNA-seq - MED4|COG0640|ns"/>
          <p:cNvSpPr/>
          <p:nvPr/>
        </p:nvSpPr>
        <p:spPr>
          <a:xfrm>
            <a:off x="7067642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7067642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52" name="cell|Read et al., 2017 - RNA-seq - MED4|COG1403|ns"/>
          <p:cNvSpPr/>
          <p:nvPr/>
        </p:nvSpPr>
        <p:spPr>
          <a:xfrm>
            <a:off x="7622973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622973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354" name="cell|Read et al., 2017 - RNA-seq - MED4|COG2214|ns"/>
          <p:cNvSpPr/>
          <p:nvPr/>
        </p:nvSpPr>
        <p:spPr>
          <a:xfrm>
            <a:off x="8178304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8178304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0/2/5</a:t>
            </a:r>
          </a:p>
        </p:txBody>
      </p:sp>
      <p:sp>
        <p:nvSpPr>
          <p:cNvPr id="356" name="cell|Read et al., 2017 - RNA-seq - MED4|COG0443|ns"/>
          <p:cNvSpPr/>
          <p:nvPr/>
        </p:nvSpPr>
        <p:spPr>
          <a:xfrm>
            <a:off x="8733635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733635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358" name="cell|Read et al., 2017 - RNA-seq - MED4|COG0484|ns"/>
          <p:cNvSpPr/>
          <p:nvPr/>
        </p:nvSpPr>
        <p:spPr>
          <a:xfrm>
            <a:off x="9288965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9288965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0/3/5</a:t>
            </a:r>
          </a:p>
        </p:txBody>
      </p:sp>
      <p:sp>
        <p:nvSpPr>
          <p:cNvPr id="360" name="cell|Read et al., 2017 - RNA-seq - MED4|COG0330|ns"/>
          <p:cNvSpPr/>
          <p:nvPr/>
        </p:nvSpPr>
        <p:spPr>
          <a:xfrm>
            <a:off x="9844296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844296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62" name="cell|Read et al., 2017 - RNA-seq - MED4|COG1187|ns"/>
          <p:cNvSpPr/>
          <p:nvPr/>
        </p:nvSpPr>
        <p:spPr>
          <a:xfrm>
            <a:off x="10399627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399627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364" name="cell|Read et al., 2017 - RNA-seq - MED4|COG1454|absent"/>
          <p:cNvSpPr/>
          <p:nvPr/>
        </p:nvSpPr>
        <p:spPr>
          <a:xfrm>
            <a:off x="10954958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 flipV="1">
            <a:off x="10954958" y="392277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0954958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1232623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cell|Read et al., 2017 - RNA-seq - MED4|COG2370|ns"/>
          <p:cNvSpPr/>
          <p:nvPr/>
        </p:nvSpPr>
        <p:spPr>
          <a:xfrm>
            <a:off x="11510288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11510288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70" name="cell|Read et al., 2017 - RNA-seq - MED4|COG0367|absent"/>
          <p:cNvSpPr/>
          <p:nvPr/>
        </p:nvSpPr>
        <p:spPr>
          <a:xfrm>
            <a:off x="12065619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12065619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12065619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2343284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cell|Read et al., 2017 - RNA-seq - MED4|COG0082|ns"/>
          <p:cNvSpPr/>
          <p:nvPr/>
        </p:nvSpPr>
        <p:spPr>
          <a:xfrm>
            <a:off x="12620950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2620950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376" name="cell|Read et al., 2017 - RNA-seq - MED4|COG2274|absent"/>
          <p:cNvSpPr/>
          <p:nvPr/>
        </p:nvSpPr>
        <p:spPr>
          <a:xfrm>
            <a:off x="13176280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 flipV="1">
            <a:off x="13176280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3176280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3453946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cell|Read et al., 2017 - RNA-seq - MED4|COG1989|absent"/>
          <p:cNvSpPr/>
          <p:nvPr/>
        </p:nvSpPr>
        <p:spPr>
          <a:xfrm>
            <a:off x="13731611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 flipV="1">
            <a:off x="13731611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13731611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14009277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cell|Read et al., 2017 - RNA-seq - MED4|COG0845|ns"/>
          <p:cNvSpPr/>
          <p:nvPr/>
        </p:nvSpPr>
        <p:spPr>
          <a:xfrm>
            <a:off x="14286942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4286942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86" name="cell|Read et al., 2017 - RNA-seq - MED4|COG0488|ns"/>
          <p:cNvSpPr/>
          <p:nvPr/>
        </p:nvSpPr>
        <p:spPr>
          <a:xfrm>
            <a:off x="14842273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14842273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0/1/3</a:t>
            </a:r>
          </a:p>
        </p:txBody>
      </p:sp>
      <p:sp>
        <p:nvSpPr>
          <p:cNvPr id="388" name="cell|Read et al., 2017 - RNA-seq - MED4|COG0697|both"/>
          <p:cNvSpPr/>
          <p:nvPr/>
        </p:nvSpPr>
        <p:spPr>
          <a:xfrm>
            <a:off x="15397603" y="3922776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15397603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↑1↓1/6/9</a:t>
            </a:r>
          </a:p>
        </p:txBody>
      </p:sp>
      <p:sp>
        <p:nvSpPr>
          <p:cNvPr id="390" name="cell|Read et al., 2017 - RNA-seq - MED4|COG3839|absent"/>
          <p:cNvSpPr/>
          <p:nvPr/>
        </p:nvSpPr>
        <p:spPr>
          <a:xfrm>
            <a:off x="15952934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 flipV="1">
            <a:off x="15952934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15952934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6230600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cell|Read et al., 2017 - RNA-seq - MED4|COG1212|absent"/>
          <p:cNvSpPr/>
          <p:nvPr/>
        </p:nvSpPr>
        <p:spPr>
          <a:xfrm>
            <a:off x="16508265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Connector 394"/>
          <p:cNvCxnSpPr/>
          <p:nvPr/>
        </p:nvCxnSpPr>
        <p:spPr>
          <a:xfrm flipV="1">
            <a:off x="16508265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16508265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16785930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cell|Read et al., 2017 - RNA-seq - MED4|COG0477|both"/>
          <p:cNvSpPr/>
          <p:nvPr/>
        </p:nvSpPr>
        <p:spPr>
          <a:xfrm>
            <a:off x="17063596" y="3922776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17063596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↑2↓3/16/25</a:t>
            </a:r>
          </a:p>
        </p:txBody>
      </p:sp>
      <p:sp>
        <p:nvSpPr>
          <p:cNvPr id="400" name="cell|Read et al., 2017 - RNA-seq - MED4|COG1472|absent"/>
          <p:cNvSpPr/>
          <p:nvPr/>
        </p:nvSpPr>
        <p:spPr>
          <a:xfrm>
            <a:off x="17618926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17618926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17618926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17896592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cell|Read et al., 2017 - RNA-seq - MED4|COG3754|absent"/>
          <p:cNvSpPr/>
          <p:nvPr/>
        </p:nvSpPr>
        <p:spPr>
          <a:xfrm>
            <a:off x="18174257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 flipV="1">
            <a:off x="18174257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18174257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18451922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cell|Read et al., 2017 - RNA-seq - MED4|COG0399|both"/>
          <p:cNvSpPr/>
          <p:nvPr/>
        </p:nvSpPr>
        <p:spPr>
          <a:xfrm>
            <a:off x="18729588" y="3922776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8729588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↑1↓1/4/4</a:t>
            </a:r>
          </a:p>
        </p:txBody>
      </p:sp>
      <p:sp>
        <p:nvSpPr>
          <p:cNvPr id="410" name="cell|Read et al., 2017 - RNA-seq - MED4|COG0673|ns"/>
          <p:cNvSpPr/>
          <p:nvPr/>
        </p:nvSpPr>
        <p:spPr>
          <a:xfrm>
            <a:off x="19284919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9284919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412" name="cell|Read et al., 2017 - RNA-seq - MED4|COG0810|absent"/>
          <p:cNvSpPr/>
          <p:nvPr/>
        </p:nvSpPr>
        <p:spPr>
          <a:xfrm>
            <a:off x="19840249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 flipV="1">
            <a:off x="19840249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19840249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20117915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cell|Read et al., 2017 - RNA-seq - MED4|COG3206|absent"/>
          <p:cNvSpPr/>
          <p:nvPr/>
        </p:nvSpPr>
        <p:spPr>
          <a:xfrm>
            <a:off x="20395580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 flipV="1">
            <a:off x="20395580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20395580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20673245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cell|Read et al., 2017 - RNA-seq - MED4|COG1596|nodata"/>
          <p:cNvSpPr/>
          <p:nvPr/>
        </p:nvSpPr>
        <p:spPr>
          <a:xfrm>
            <a:off x="20950911" y="392277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cell|Read et al., 2017 - RNA-seq - MED4|COG1462|absent"/>
          <p:cNvSpPr/>
          <p:nvPr/>
        </p:nvSpPr>
        <p:spPr>
          <a:xfrm>
            <a:off x="21506241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Connector 421"/>
          <p:cNvCxnSpPr/>
          <p:nvPr/>
        </p:nvCxnSpPr>
        <p:spPr>
          <a:xfrm flipV="1">
            <a:off x="21506241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21506241" y="3922776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21783907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cell|Read et al., 2017 - RNA-seq - MED4|COG3210|nodata"/>
          <p:cNvSpPr/>
          <p:nvPr/>
        </p:nvSpPr>
        <p:spPr>
          <a:xfrm>
            <a:off x="22061572" y="392277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cell|Read et al., 2017 - RNA-seq - MED4|COG2010|nodata"/>
          <p:cNvSpPr/>
          <p:nvPr/>
        </p:nvSpPr>
        <p:spPr>
          <a:xfrm>
            <a:off x="22616903" y="392277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cell|Read et al., 2017 - RNA-seq - MED4|COG2114|absent"/>
          <p:cNvSpPr/>
          <p:nvPr/>
        </p:nvSpPr>
        <p:spPr>
          <a:xfrm>
            <a:off x="23172234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 flipV="1">
            <a:off x="23172234" y="392277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23172234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23449899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cell|Read et al., 2017 - RNA-seq - MED4|COG0454|ns"/>
          <p:cNvSpPr/>
          <p:nvPr/>
        </p:nvSpPr>
        <p:spPr>
          <a:xfrm>
            <a:off x="23727564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23727564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0/2/5</a:t>
            </a:r>
          </a:p>
        </p:txBody>
      </p:sp>
      <p:sp>
        <p:nvSpPr>
          <p:cNvPr id="433" name="cell|Read et al., 2017 - RNA-seq - MED4|COG2931|absent"/>
          <p:cNvSpPr/>
          <p:nvPr/>
        </p:nvSpPr>
        <p:spPr>
          <a:xfrm>
            <a:off x="24282895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 flipV="1">
            <a:off x="24282895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24282895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4560560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cell|Read et al., 2017 - RNA-seq - MED4|COG0412|absent"/>
          <p:cNvSpPr/>
          <p:nvPr/>
        </p:nvSpPr>
        <p:spPr>
          <a:xfrm>
            <a:off x="24838226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 flipV="1">
            <a:off x="24838226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24838226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5115891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cell|Read et al., 2017 - RNA-seq - MED4|COG4252|absent"/>
          <p:cNvSpPr/>
          <p:nvPr/>
        </p:nvSpPr>
        <p:spPr>
          <a:xfrm>
            <a:off x="25393557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 flipV="1">
            <a:off x="25393557" y="392277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25393557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25671222" y="420624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cell|Read et al., 2017 - RNA-seq - MED4|COG2192|ns"/>
          <p:cNvSpPr/>
          <p:nvPr/>
        </p:nvSpPr>
        <p:spPr>
          <a:xfrm>
            <a:off x="25948887" y="392277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25948887" y="392277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0/1/2</a:t>
            </a:r>
          </a:p>
        </p:txBody>
      </p:sp>
      <p:sp>
        <p:nvSpPr>
          <p:cNvPr id="447" name="cell|Read et al., 2017 - RNA-seq - MED4|COG2159|nodata"/>
          <p:cNvSpPr/>
          <p:nvPr/>
        </p:nvSpPr>
        <p:spPr>
          <a:xfrm>
            <a:off x="26504218" y="392277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cell|Read et al., 2017 - RNA-seq - MED4|COG5651|absent"/>
          <p:cNvSpPr/>
          <p:nvPr/>
        </p:nvSpPr>
        <p:spPr>
          <a:xfrm>
            <a:off x="27059549" y="392277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 flipV="1">
            <a:off x="27059549" y="392277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27059549" y="3922776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27337214" y="420624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914400" y="4489704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MED4</a:t>
            </a:r>
          </a:p>
        </p:txBody>
      </p:sp>
      <p:sp>
        <p:nvSpPr>
          <p:cNvPr id="453" name="cell|Tolonen et al., 2006 - Microarray - MED4|COG0188|down"/>
          <p:cNvSpPr/>
          <p:nvPr/>
        </p:nvSpPr>
        <p:spPr>
          <a:xfrm>
            <a:off x="4846320" y="4489704"/>
            <a:ext cx="555330" cy="566928"/>
          </a:xfrm>
          <a:prstGeom prst="rect">
            <a:avLst/>
          </a:prstGeom>
          <a:solidFill>
            <a:srgbClr val="7995B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4846320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1/6/6</a:t>
            </a:r>
          </a:p>
        </p:txBody>
      </p:sp>
      <p:sp>
        <p:nvSpPr>
          <p:cNvPr id="455" name="cell|Tolonen et al., 2006 - Microarray - MED4|COG1787|ns"/>
          <p:cNvSpPr/>
          <p:nvPr/>
        </p:nvSpPr>
        <p:spPr>
          <a:xfrm>
            <a:off x="5401650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5401650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57" name="cell|Tolonen et al., 2006 - Microarray - MED4|COG3727|absent"/>
          <p:cNvSpPr/>
          <p:nvPr/>
        </p:nvSpPr>
        <p:spPr>
          <a:xfrm>
            <a:off x="5956981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8" name="Connector 457"/>
          <p:cNvCxnSpPr/>
          <p:nvPr/>
        </p:nvCxnSpPr>
        <p:spPr>
          <a:xfrm flipV="1">
            <a:off x="5956981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956981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6234646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cell|Tolonen et al., 2006 - Microarray - MED4|COG1793|ns"/>
          <p:cNvSpPr/>
          <p:nvPr/>
        </p:nvSpPr>
        <p:spPr>
          <a:xfrm>
            <a:off x="6512312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6512312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463" name="cell|Tolonen et al., 2006 - Microarray - MED4|COG0640|ns"/>
          <p:cNvSpPr/>
          <p:nvPr/>
        </p:nvSpPr>
        <p:spPr>
          <a:xfrm>
            <a:off x="7067642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7067642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65" name="cell|Tolonen et al., 2006 - Microarray - MED4|COG1403|ns"/>
          <p:cNvSpPr/>
          <p:nvPr/>
        </p:nvSpPr>
        <p:spPr>
          <a:xfrm>
            <a:off x="7622973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7622973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467" name="cell|Tolonen et al., 2006 - Microarray - MED4|COG2214|ns"/>
          <p:cNvSpPr/>
          <p:nvPr/>
        </p:nvSpPr>
        <p:spPr>
          <a:xfrm>
            <a:off x="8178304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8178304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469" name="cell|Tolonen et al., 2006 - Microarray - MED4|COG0443|ns"/>
          <p:cNvSpPr/>
          <p:nvPr/>
        </p:nvSpPr>
        <p:spPr>
          <a:xfrm>
            <a:off x="8733635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8733635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471" name="cell|Tolonen et al., 2006 - Microarray - MED4|COG0484|ns"/>
          <p:cNvSpPr/>
          <p:nvPr/>
        </p:nvSpPr>
        <p:spPr>
          <a:xfrm>
            <a:off x="9288965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9288965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473" name="cell|Tolonen et al., 2006 - Microarray - MED4|COG0330|ns"/>
          <p:cNvSpPr/>
          <p:nvPr/>
        </p:nvSpPr>
        <p:spPr>
          <a:xfrm>
            <a:off x="9844296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9844296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75" name="cell|Tolonen et al., 2006 - Microarray - MED4|COG1187|ns"/>
          <p:cNvSpPr/>
          <p:nvPr/>
        </p:nvSpPr>
        <p:spPr>
          <a:xfrm>
            <a:off x="10399627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10399627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477" name="cell|Tolonen et al., 2006 - Microarray - MED4|COG1454|absent"/>
          <p:cNvSpPr/>
          <p:nvPr/>
        </p:nvSpPr>
        <p:spPr>
          <a:xfrm>
            <a:off x="10954958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Connector 477"/>
          <p:cNvCxnSpPr/>
          <p:nvPr/>
        </p:nvCxnSpPr>
        <p:spPr>
          <a:xfrm flipV="1">
            <a:off x="10954958" y="4489704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10954958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11232623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cell|Tolonen et al., 2006 - Microarray - MED4|COG2370|ns"/>
          <p:cNvSpPr/>
          <p:nvPr/>
        </p:nvSpPr>
        <p:spPr>
          <a:xfrm>
            <a:off x="11510288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11510288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83" name="cell|Tolonen et al., 2006 - Microarray - MED4|COG0367|absent"/>
          <p:cNvSpPr/>
          <p:nvPr/>
        </p:nvSpPr>
        <p:spPr>
          <a:xfrm>
            <a:off x="12065619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 flipV="1">
            <a:off x="12065619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12065619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12343284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cell|Tolonen et al., 2006 - Microarray - MED4|COG0082|ns"/>
          <p:cNvSpPr/>
          <p:nvPr/>
        </p:nvSpPr>
        <p:spPr>
          <a:xfrm>
            <a:off x="12620950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12620950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489" name="cell|Tolonen et al., 2006 - Microarray - MED4|COG2274|absent"/>
          <p:cNvSpPr/>
          <p:nvPr/>
        </p:nvSpPr>
        <p:spPr>
          <a:xfrm>
            <a:off x="13176280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 flipV="1">
            <a:off x="13176280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13176280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3453946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cell|Tolonen et al., 2006 - Microarray - MED4|COG1989|absent"/>
          <p:cNvSpPr/>
          <p:nvPr/>
        </p:nvSpPr>
        <p:spPr>
          <a:xfrm>
            <a:off x="13731611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 flipV="1">
            <a:off x="13731611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13731611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4009277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cell|Tolonen et al., 2006 - Microarray - MED4|COG0845|ns"/>
          <p:cNvSpPr/>
          <p:nvPr/>
        </p:nvSpPr>
        <p:spPr>
          <a:xfrm>
            <a:off x="14286942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14286942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499" name="cell|Tolonen et al., 2006 - Microarray - MED4|COG0488|ns"/>
          <p:cNvSpPr/>
          <p:nvPr/>
        </p:nvSpPr>
        <p:spPr>
          <a:xfrm>
            <a:off x="14842273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4842273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501" name="cell|Tolonen et al., 2006 - Microarray - MED4|COG0697|ns"/>
          <p:cNvSpPr/>
          <p:nvPr/>
        </p:nvSpPr>
        <p:spPr>
          <a:xfrm>
            <a:off x="15397603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15397603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503" name="cell|Tolonen et al., 2006 - Microarray - MED4|COG3839|absent"/>
          <p:cNvSpPr/>
          <p:nvPr/>
        </p:nvSpPr>
        <p:spPr>
          <a:xfrm>
            <a:off x="15952934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 flipV="1">
            <a:off x="15952934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15952934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16230600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cell|Tolonen et al., 2006 - Microarray - MED4|COG1212|absent"/>
          <p:cNvSpPr/>
          <p:nvPr/>
        </p:nvSpPr>
        <p:spPr>
          <a:xfrm>
            <a:off x="16508265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8" name="Connector 507"/>
          <p:cNvCxnSpPr/>
          <p:nvPr/>
        </p:nvCxnSpPr>
        <p:spPr>
          <a:xfrm flipV="1">
            <a:off x="16508265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16508265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16785930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cell|Tolonen et al., 2006 - Microarray - MED4|COG0477|both"/>
          <p:cNvSpPr/>
          <p:nvPr/>
        </p:nvSpPr>
        <p:spPr>
          <a:xfrm>
            <a:off x="17063596" y="4489704"/>
            <a:ext cx="555330" cy="566928"/>
          </a:xfrm>
          <a:prstGeom prst="rect">
            <a:avLst/>
          </a:prstGeom>
          <a:solidFill>
            <a:srgbClr val="E8913A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17063596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↑1↓4/25/25</a:t>
            </a:r>
          </a:p>
        </p:txBody>
      </p:sp>
      <p:sp>
        <p:nvSpPr>
          <p:cNvPr id="513" name="cell|Tolonen et al., 2006 - Microarray - MED4|COG1472|absent"/>
          <p:cNvSpPr/>
          <p:nvPr/>
        </p:nvSpPr>
        <p:spPr>
          <a:xfrm>
            <a:off x="17618926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17618926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17618926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17896592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cell|Tolonen et al., 2006 - Microarray - MED4|COG3754|absent"/>
          <p:cNvSpPr/>
          <p:nvPr/>
        </p:nvSpPr>
        <p:spPr>
          <a:xfrm>
            <a:off x="18174257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18174257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8174257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18451922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cell|Tolonen et al., 2006 - Microarray - MED4|COG0399|ns"/>
          <p:cNvSpPr/>
          <p:nvPr/>
        </p:nvSpPr>
        <p:spPr>
          <a:xfrm>
            <a:off x="18729588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18729588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523" name="cell|Tolonen et al., 2006 - Microarray - MED4|COG0673|down"/>
          <p:cNvSpPr/>
          <p:nvPr/>
        </p:nvSpPr>
        <p:spPr>
          <a:xfrm>
            <a:off x="19284919" y="4489704"/>
            <a:ext cx="555330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19284919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525" name="cell|Tolonen et al., 2006 - Microarray - MED4|COG0810|absent"/>
          <p:cNvSpPr/>
          <p:nvPr/>
        </p:nvSpPr>
        <p:spPr>
          <a:xfrm>
            <a:off x="19840249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 flipV="1">
            <a:off x="19840249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19840249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0117915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cell|Tolonen et al., 2006 - Microarray - MED4|COG3206|absent"/>
          <p:cNvSpPr/>
          <p:nvPr/>
        </p:nvSpPr>
        <p:spPr>
          <a:xfrm>
            <a:off x="20395580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20395580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20395580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20673245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cell|Tolonen et al., 2006 - Microarray - MED4|COG1596|ns"/>
          <p:cNvSpPr/>
          <p:nvPr/>
        </p:nvSpPr>
        <p:spPr>
          <a:xfrm>
            <a:off x="20950911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20950911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35" name="cell|Tolonen et al., 2006 - Microarray - MED4|COG1462|absent"/>
          <p:cNvSpPr/>
          <p:nvPr/>
        </p:nvSpPr>
        <p:spPr>
          <a:xfrm>
            <a:off x="21506241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6" name="Connector 535"/>
          <p:cNvCxnSpPr/>
          <p:nvPr/>
        </p:nvCxnSpPr>
        <p:spPr>
          <a:xfrm flipV="1">
            <a:off x="21506241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21506241" y="448970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21783907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cell|Tolonen et al., 2006 - Microarray - MED4|COG3210|ns"/>
          <p:cNvSpPr/>
          <p:nvPr/>
        </p:nvSpPr>
        <p:spPr>
          <a:xfrm>
            <a:off x="22061572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22061572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41" name="cell|Tolonen et al., 2006 - Microarray - MED4|COG2010|ns"/>
          <p:cNvSpPr/>
          <p:nvPr/>
        </p:nvSpPr>
        <p:spPr>
          <a:xfrm>
            <a:off x="22616903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22616903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43" name="cell|Tolonen et al., 2006 - Microarray - MED4|COG2114|absent"/>
          <p:cNvSpPr/>
          <p:nvPr/>
        </p:nvSpPr>
        <p:spPr>
          <a:xfrm>
            <a:off x="23172234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4" name="Connector 543"/>
          <p:cNvCxnSpPr/>
          <p:nvPr/>
        </p:nvCxnSpPr>
        <p:spPr>
          <a:xfrm flipV="1">
            <a:off x="23172234" y="4489704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23172234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23449899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cell|Tolonen et al., 2006 - Microarray - MED4|COG0454|ns"/>
          <p:cNvSpPr/>
          <p:nvPr/>
        </p:nvSpPr>
        <p:spPr>
          <a:xfrm>
            <a:off x="23727564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23727564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549" name="cell|Tolonen et al., 2006 - Microarray - MED4|COG2931|absent"/>
          <p:cNvSpPr/>
          <p:nvPr/>
        </p:nvSpPr>
        <p:spPr>
          <a:xfrm>
            <a:off x="24282895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24282895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24282895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24560560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cell|Tolonen et al., 2006 - Microarray - MED4|COG0412|absent"/>
          <p:cNvSpPr/>
          <p:nvPr/>
        </p:nvSpPr>
        <p:spPr>
          <a:xfrm>
            <a:off x="24838226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 flipV="1">
            <a:off x="24838226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24838226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25115891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cell|Tolonen et al., 2006 - Microarray - MED4|COG4252|absent"/>
          <p:cNvSpPr/>
          <p:nvPr/>
        </p:nvSpPr>
        <p:spPr>
          <a:xfrm>
            <a:off x="25393557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 flipV="1">
            <a:off x="25393557" y="4489704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25393557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25671222" y="4773168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1" name="cell|Tolonen et al., 2006 - Microarray - MED4|COG2192|down"/>
          <p:cNvSpPr/>
          <p:nvPr/>
        </p:nvSpPr>
        <p:spPr>
          <a:xfrm>
            <a:off x="25948887" y="4489704"/>
            <a:ext cx="555330" cy="566928"/>
          </a:xfrm>
          <a:prstGeom prst="rect">
            <a:avLst/>
          </a:prstGeom>
          <a:solidFill>
            <a:srgbClr val="5989C0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5948887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1/2/2</a:t>
            </a:r>
          </a:p>
        </p:txBody>
      </p:sp>
      <p:sp>
        <p:nvSpPr>
          <p:cNvPr id="563" name="cell|Tolonen et al., 2006 - Microarray - MED4|COG2159|ns"/>
          <p:cNvSpPr/>
          <p:nvPr/>
        </p:nvSpPr>
        <p:spPr>
          <a:xfrm>
            <a:off x="26504218" y="448970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26504218" y="448970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65" name="cell|Tolonen et al., 2006 - Microarray - MED4|COG5651|absent"/>
          <p:cNvSpPr/>
          <p:nvPr/>
        </p:nvSpPr>
        <p:spPr>
          <a:xfrm>
            <a:off x="27059549" y="448970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 flipV="1">
            <a:off x="27059549" y="4489704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27059549" y="448970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27337214" y="4773168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914400" y="5056631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Tolonen et al., 2006 - Microarray - MIT9313</a:t>
            </a:r>
          </a:p>
        </p:txBody>
      </p:sp>
      <p:sp>
        <p:nvSpPr>
          <p:cNvPr id="570" name="cell|Tolonen et al., 2006 - Microarray - MIT9313|COG0188|ns"/>
          <p:cNvSpPr/>
          <p:nvPr/>
        </p:nvSpPr>
        <p:spPr>
          <a:xfrm>
            <a:off x="4846320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4846320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0/4/5</a:t>
            </a:r>
          </a:p>
        </p:txBody>
      </p:sp>
      <p:sp>
        <p:nvSpPr>
          <p:cNvPr id="572" name="cell|Tolonen et al., 2006 - Microarray - MIT9313|COG1787|absent"/>
          <p:cNvSpPr/>
          <p:nvPr/>
        </p:nvSpPr>
        <p:spPr>
          <a:xfrm>
            <a:off x="5401650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 flipV="1">
            <a:off x="5401650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5401650" y="5056631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5679316" y="5340095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cell|Tolonen et al., 2006 - Microarray - MIT9313|COG3727|absent"/>
          <p:cNvSpPr/>
          <p:nvPr/>
        </p:nvSpPr>
        <p:spPr>
          <a:xfrm>
            <a:off x="5956981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 flipV="1">
            <a:off x="5956981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5956981" y="5056631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6234646" y="5340095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0" name="cell|Tolonen et al., 2006 - Microarray - MIT9313|COG1793|ns"/>
          <p:cNvSpPr/>
          <p:nvPr/>
        </p:nvSpPr>
        <p:spPr>
          <a:xfrm>
            <a:off x="6512312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TextBox 580"/>
          <p:cNvSpPr txBox="1"/>
          <p:nvPr/>
        </p:nvSpPr>
        <p:spPr>
          <a:xfrm>
            <a:off x="6512312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82" name="cell|Tolonen et al., 2006 - Microarray - MIT9313|COG0640|ns"/>
          <p:cNvSpPr/>
          <p:nvPr/>
        </p:nvSpPr>
        <p:spPr>
          <a:xfrm>
            <a:off x="7067642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7067642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84" name="cell|Tolonen et al., 2006 - Microarray - MIT9313|COG1403|ns"/>
          <p:cNvSpPr/>
          <p:nvPr/>
        </p:nvSpPr>
        <p:spPr>
          <a:xfrm>
            <a:off x="7622973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7622973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586" name="cell|Tolonen et al., 2006 - Microarray - MIT9313|COG2214|ns"/>
          <p:cNvSpPr/>
          <p:nvPr/>
        </p:nvSpPr>
        <p:spPr>
          <a:xfrm>
            <a:off x="8178304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8178304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0/6/7</a:t>
            </a:r>
          </a:p>
        </p:txBody>
      </p:sp>
      <p:sp>
        <p:nvSpPr>
          <p:cNvPr id="588" name="cell|Tolonen et al., 2006 - Microarray - MIT9313|COG0443|ns"/>
          <p:cNvSpPr/>
          <p:nvPr/>
        </p:nvSpPr>
        <p:spPr>
          <a:xfrm>
            <a:off x="8733635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8733635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590" name="cell|Tolonen et al., 2006 - Microarray - MIT9313|COG0484|ns"/>
          <p:cNvSpPr/>
          <p:nvPr/>
        </p:nvSpPr>
        <p:spPr>
          <a:xfrm>
            <a:off x="9288965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9288965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592" name="cell|Tolonen et al., 2006 - Microarray - MIT9313|COG0330|up"/>
          <p:cNvSpPr/>
          <p:nvPr/>
        </p:nvSpPr>
        <p:spPr>
          <a:xfrm>
            <a:off x="9844296" y="5056631"/>
            <a:ext cx="555330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9844296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594" name="cell|Tolonen et al., 2006 - Microarray - MIT9313|COG1187|ns"/>
          <p:cNvSpPr/>
          <p:nvPr/>
        </p:nvSpPr>
        <p:spPr>
          <a:xfrm>
            <a:off x="10399627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10399627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596" name="cell|Tolonen et al., 2006 - Microarray - MIT9313|COG1454|nodata"/>
          <p:cNvSpPr/>
          <p:nvPr/>
        </p:nvSpPr>
        <p:spPr>
          <a:xfrm>
            <a:off x="10954958" y="5056631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cell|Tolonen et al., 2006 - Microarray - MIT9313|COG2370|ns"/>
          <p:cNvSpPr/>
          <p:nvPr/>
        </p:nvSpPr>
        <p:spPr>
          <a:xfrm>
            <a:off x="11510288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11510288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599" name="cell|Tolonen et al., 2006 - Microarray - MIT9313|COG0367|absent"/>
          <p:cNvSpPr/>
          <p:nvPr/>
        </p:nvSpPr>
        <p:spPr>
          <a:xfrm>
            <a:off x="12065619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12065619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12065619" y="5056631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12343284" y="5340095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cell|Tolonen et al., 2006 - Microarray - MIT9313|COG0082|ns"/>
          <p:cNvSpPr/>
          <p:nvPr/>
        </p:nvSpPr>
        <p:spPr>
          <a:xfrm>
            <a:off x="12620950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12620950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05" name="cell|Tolonen et al., 2006 - Microarray - MIT9313|COG2274|ns"/>
          <p:cNvSpPr/>
          <p:nvPr/>
        </p:nvSpPr>
        <p:spPr>
          <a:xfrm>
            <a:off x="13176280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13176280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07" name="cell|Tolonen et al., 2006 - Microarray - MIT9313|COG1989|ns"/>
          <p:cNvSpPr/>
          <p:nvPr/>
        </p:nvSpPr>
        <p:spPr>
          <a:xfrm>
            <a:off x="13731611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13731611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09" name="cell|Tolonen et al., 2006 - Microarray - MIT9313|COG0845|down"/>
          <p:cNvSpPr/>
          <p:nvPr/>
        </p:nvSpPr>
        <p:spPr>
          <a:xfrm>
            <a:off x="14286942" y="5056631"/>
            <a:ext cx="555330" cy="566928"/>
          </a:xfrm>
          <a:prstGeom prst="rect">
            <a:avLst/>
          </a:prstGeom>
          <a:solidFill>
            <a:srgbClr val="7F97AE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14286942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1/10/11</a:t>
            </a:r>
          </a:p>
        </p:txBody>
      </p:sp>
      <p:sp>
        <p:nvSpPr>
          <p:cNvPr id="611" name="cell|Tolonen et al., 2006 - Microarray - MIT9313|COG0488|ns"/>
          <p:cNvSpPr/>
          <p:nvPr/>
        </p:nvSpPr>
        <p:spPr>
          <a:xfrm>
            <a:off x="14842273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14842273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13" name="cell|Tolonen et al., 2006 - Microarray - MIT9313|COG0697|ns"/>
          <p:cNvSpPr/>
          <p:nvPr/>
        </p:nvSpPr>
        <p:spPr>
          <a:xfrm>
            <a:off x="15397603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15397603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0/10/11</a:t>
            </a:r>
          </a:p>
        </p:txBody>
      </p:sp>
      <p:sp>
        <p:nvSpPr>
          <p:cNvPr id="615" name="cell|Tolonen et al., 2006 - Microarray - MIT9313|COG3839|ns"/>
          <p:cNvSpPr/>
          <p:nvPr/>
        </p:nvSpPr>
        <p:spPr>
          <a:xfrm>
            <a:off x="15952934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15952934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17" name="cell|Tolonen et al., 2006 - Microarray - MIT9313|COG1212|ns"/>
          <p:cNvSpPr/>
          <p:nvPr/>
        </p:nvSpPr>
        <p:spPr>
          <a:xfrm>
            <a:off x="16508265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16508265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19" name="cell|Tolonen et al., 2006 - Microarray - MIT9313|COG0477|down"/>
          <p:cNvSpPr/>
          <p:nvPr/>
        </p:nvSpPr>
        <p:spPr>
          <a:xfrm>
            <a:off x="17063596" y="5056631"/>
            <a:ext cx="555330" cy="566928"/>
          </a:xfrm>
          <a:prstGeom prst="rect">
            <a:avLst/>
          </a:prstGeom>
          <a:solidFill>
            <a:srgbClr val="8699A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17063596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1/33/34</a:t>
            </a:r>
          </a:p>
        </p:txBody>
      </p:sp>
      <p:sp>
        <p:nvSpPr>
          <p:cNvPr id="621" name="cell|Tolonen et al., 2006 - Microarray - MIT9313|COG1472|ns"/>
          <p:cNvSpPr/>
          <p:nvPr/>
        </p:nvSpPr>
        <p:spPr>
          <a:xfrm>
            <a:off x="17618926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17618926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23" name="cell|Tolonen et al., 2006 - Microarray - MIT9313|COG3754|ns"/>
          <p:cNvSpPr/>
          <p:nvPr/>
        </p:nvSpPr>
        <p:spPr>
          <a:xfrm>
            <a:off x="18174257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18174257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25" name="cell|Tolonen et al., 2006 - Microarray - MIT9313|COG0399|ns"/>
          <p:cNvSpPr/>
          <p:nvPr/>
        </p:nvSpPr>
        <p:spPr>
          <a:xfrm>
            <a:off x="18729588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18729588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27" name="cell|Tolonen et al., 2006 - Microarray - MIT9313|COG0673|ns"/>
          <p:cNvSpPr/>
          <p:nvPr/>
        </p:nvSpPr>
        <p:spPr>
          <a:xfrm>
            <a:off x="19284919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19284919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29" name="cell|Tolonen et al., 2006 - Microarray - MIT9313|COG0810|ns"/>
          <p:cNvSpPr/>
          <p:nvPr/>
        </p:nvSpPr>
        <p:spPr>
          <a:xfrm>
            <a:off x="19840249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19840249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31" name="cell|Tolonen et al., 2006 - Microarray - MIT9313|COG3206|absent"/>
          <p:cNvSpPr/>
          <p:nvPr/>
        </p:nvSpPr>
        <p:spPr>
          <a:xfrm>
            <a:off x="20395580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2" name="Connector 631"/>
          <p:cNvCxnSpPr/>
          <p:nvPr/>
        </p:nvCxnSpPr>
        <p:spPr>
          <a:xfrm flipV="1">
            <a:off x="20395580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20395580" y="5056631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20673245" y="5340095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cell|Tolonen et al., 2006 - Microarray - MIT9313|COG1596|absent"/>
          <p:cNvSpPr/>
          <p:nvPr/>
        </p:nvSpPr>
        <p:spPr>
          <a:xfrm>
            <a:off x="20950911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6" name="Connector 635"/>
          <p:cNvCxnSpPr/>
          <p:nvPr/>
        </p:nvCxnSpPr>
        <p:spPr>
          <a:xfrm flipV="1">
            <a:off x="20950911" y="5056631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0950911" y="5056631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1228576" y="5340095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cell|Tolonen et al., 2006 - Microarray - MIT9313|COG1462|ns"/>
          <p:cNvSpPr/>
          <p:nvPr/>
        </p:nvSpPr>
        <p:spPr>
          <a:xfrm>
            <a:off x="21506241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TextBox 639"/>
          <p:cNvSpPr txBox="1"/>
          <p:nvPr/>
        </p:nvSpPr>
        <p:spPr>
          <a:xfrm>
            <a:off x="21506241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41" name="cell|Tolonen et al., 2006 - Microarray - MIT9313|COG3210|ns"/>
          <p:cNvSpPr/>
          <p:nvPr/>
        </p:nvSpPr>
        <p:spPr>
          <a:xfrm>
            <a:off x="22061572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22061572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43" name="cell|Tolonen et al., 2006 - Microarray - MIT9313|COG2010|ns"/>
          <p:cNvSpPr/>
          <p:nvPr/>
        </p:nvSpPr>
        <p:spPr>
          <a:xfrm>
            <a:off x="22616903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22616903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45" name="cell|Tolonen et al., 2006 - Microarray - MIT9313|COG2114|ns"/>
          <p:cNvSpPr/>
          <p:nvPr/>
        </p:nvSpPr>
        <p:spPr>
          <a:xfrm>
            <a:off x="23172234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23172234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47" name="cell|Tolonen et al., 2006 - Microarray - MIT9313|COG0454|ns"/>
          <p:cNvSpPr/>
          <p:nvPr/>
        </p:nvSpPr>
        <p:spPr>
          <a:xfrm>
            <a:off x="23727564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3727564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0/7/8</a:t>
            </a:r>
          </a:p>
        </p:txBody>
      </p:sp>
      <p:sp>
        <p:nvSpPr>
          <p:cNvPr id="649" name="cell|Tolonen et al., 2006 - Microarray - MIT9313|COG2931|ns"/>
          <p:cNvSpPr/>
          <p:nvPr/>
        </p:nvSpPr>
        <p:spPr>
          <a:xfrm>
            <a:off x="24282895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24282895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0/3/4</a:t>
            </a:r>
          </a:p>
        </p:txBody>
      </p:sp>
      <p:sp>
        <p:nvSpPr>
          <p:cNvPr id="651" name="cell|Tolonen et al., 2006 - Microarray - MIT9313|COG0412|ns"/>
          <p:cNvSpPr/>
          <p:nvPr/>
        </p:nvSpPr>
        <p:spPr>
          <a:xfrm>
            <a:off x="24838226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24838226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53" name="cell|Tolonen et al., 2006 - Microarray - MIT9313|COG4252|ns"/>
          <p:cNvSpPr/>
          <p:nvPr/>
        </p:nvSpPr>
        <p:spPr>
          <a:xfrm>
            <a:off x="25393557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25393557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55" name="cell|Tolonen et al., 2006 - Microarray - MIT9313|COG2192|absent"/>
          <p:cNvSpPr/>
          <p:nvPr/>
        </p:nvSpPr>
        <p:spPr>
          <a:xfrm>
            <a:off x="25948887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5948887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25948887" y="5056631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6226553" y="5340095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cell|Tolonen et al., 2006 - Microarray - MIT9313|COG2159|absent"/>
          <p:cNvSpPr/>
          <p:nvPr/>
        </p:nvSpPr>
        <p:spPr>
          <a:xfrm>
            <a:off x="26504218" y="505663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26504218" y="505663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6504218" y="5056631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6781883" y="5340095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cell|Tolonen et al., 2006 - Microarray - MIT9313|COG5651|ns"/>
          <p:cNvSpPr/>
          <p:nvPr/>
        </p:nvSpPr>
        <p:spPr>
          <a:xfrm>
            <a:off x="27059549" y="505663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7059549" y="505663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914400" y="5623560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Lin et al., 2015 - RNA-seq - NATL2A</a:t>
            </a:r>
          </a:p>
        </p:txBody>
      </p:sp>
      <p:sp>
        <p:nvSpPr>
          <p:cNvPr id="666" name="cell|Lin et al., 2015 - RNA-seq - NATL2A|COG0188|ns"/>
          <p:cNvSpPr/>
          <p:nvPr/>
        </p:nvSpPr>
        <p:spPr>
          <a:xfrm>
            <a:off x="4846320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846320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668" name="cell|Lin et al., 2015 - RNA-seq - NATL2A|COG1787|absent"/>
          <p:cNvSpPr/>
          <p:nvPr/>
        </p:nvSpPr>
        <p:spPr>
          <a:xfrm>
            <a:off x="5401650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9" name="Connector 668"/>
          <p:cNvCxnSpPr/>
          <p:nvPr/>
        </p:nvCxnSpPr>
        <p:spPr>
          <a:xfrm flipV="1">
            <a:off x="5401650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5401650" y="562356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5679316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cell|Lin et al., 2015 - RNA-seq - NATL2A|COG3727|absent"/>
          <p:cNvSpPr/>
          <p:nvPr/>
        </p:nvSpPr>
        <p:spPr>
          <a:xfrm>
            <a:off x="5956981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5956981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956981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6234646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cell|Lin et al., 2015 - RNA-seq - NATL2A|COG1793|ns"/>
          <p:cNvSpPr/>
          <p:nvPr/>
        </p:nvSpPr>
        <p:spPr>
          <a:xfrm>
            <a:off x="6512312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6512312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78" name="cell|Lin et al., 2015 - RNA-seq - NATL2A|COG0640|ns"/>
          <p:cNvSpPr/>
          <p:nvPr/>
        </p:nvSpPr>
        <p:spPr>
          <a:xfrm>
            <a:off x="7067642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7067642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80" name="cell|Lin et al., 2015 - RNA-seq - NATL2A|COG1403|ns"/>
          <p:cNvSpPr/>
          <p:nvPr/>
        </p:nvSpPr>
        <p:spPr>
          <a:xfrm>
            <a:off x="7622973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7622973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82" name="cell|Lin et al., 2015 - RNA-seq - NATL2A|COG2214|ns"/>
          <p:cNvSpPr/>
          <p:nvPr/>
        </p:nvSpPr>
        <p:spPr>
          <a:xfrm>
            <a:off x="8178304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8178304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84" name="cell|Lin et al., 2015 - RNA-seq - NATL2A|COG0443|ns"/>
          <p:cNvSpPr/>
          <p:nvPr/>
        </p:nvSpPr>
        <p:spPr>
          <a:xfrm>
            <a:off x="8733635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8733635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686" name="cell|Lin et al., 2015 - RNA-seq - NATL2A|COG0484|ns"/>
          <p:cNvSpPr/>
          <p:nvPr/>
        </p:nvSpPr>
        <p:spPr>
          <a:xfrm>
            <a:off x="9288965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9288965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688" name="cell|Lin et al., 2015 - RNA-seq - NATL2A|COG0330|ns"/>
          <p:cNvSpPr/>
          <p:nvPr/>
        </p:nvSpPr>
        <p:spPr>
          <a:xfrm>
            <a:off x="9844296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9844296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690" name="cell|Lin et al., 2015 - RNA-seq - NATL2A|COG1187|ns"/>
          <p:cNvSpPr/>
          <p:nvPr/>
        </p:nvSpPr>
        <p:spPr>
          <a:xfrm>
            <a:off x="10399627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10399627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692" name="cell|Lin et al., 2015 - RNA-seq - NATL2A|COG1454|ns"/>
          <p:cNvSpPr/>
          <p:nvPr/>
        </p:nvSpPr>
        <p:spPr>
          <a:xfrm>
            <a:off x="10954958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TextBox 692"/>
          <p:cNvSpPr txBox="1"/>
          <p:nvPr/>
        </p:nvSpPr>
        <p:spPr>
          <a:xfrm>
            <a:off x="10954958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94" name="cell|Lin et al., 2015 - RNA-seq - NATL2A|COG2370|ns"/>
          <p:cNvSpPr/>
          <p:nvPr/>
        </p:nvSpPr>
        <p:spPr>
          <a:xfrm>
            <a:off x="11510288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11510288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696" name="cell|Lin et al., 2015 - RNA-seq - NATL2A|COG0367|absent"/>
          <p:cNvSpPr/>
          <p:nvPr/>
        </p:nvSpPr>
        <p:spPr>
          <a:xfrm>
            <a:off x="12065619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12065619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12065619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12343284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cell|Lin et al., 2015 - RNA-seq - NATL2A|COG0082|ns"/>
          <p:cNvSpPr/>
          <p:nvPr/>
        </p:nvSpPr>
        <p:spPr>
          <a:xfrm>
            <a:off x="12620950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12620950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02" name="cell|Lin et al., 2015 - RNA-seq - NATL2A|COG2274|ns"/>
          <p:cNvSpPr/>
          <p:nvPr/>
        </p:nvSpPr>
        <p:spPr>
          <a:xfrm>
            <a:off x="13176280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13176280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04" name="cell|Lin et al., 2015 - RNA-seq - NATL2A|COG1989|ns"/>
          <p:cNvSpPr/>
          <p:nvPr/>
        </p:nvSpPr>
        <p:spPr>
          <a:xfrm>
            <a:off x="13731611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13731611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06" name="cell|Lin et al., 2015 - RNA-seq - NATL2A|COG0845|ns"/>
          <p:cNvSpPr/>
          <p:nvPr/>
        </p:nvSpPr>
        <p:spPr>
          <a:xfrm>
            <a:off x="14286942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14286942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08" name="cell|Lin et al., 2015 - RNA-seq - NATL2A|COG0488|ns"/>
          <p:cNvSpPr/>
          <p:nvPr/>
        </p:nvSpPr>
        <p:spPr>
          <a:xfrm>
            <a:off x="14842273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14842273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10" name="cell|Lin et al., 2015 - RNA-seq - NATL2A|COG0697|ns"/>
          <p:cNvSpPr/>
          <p:nvPr/>
        </p:nvSpPr>
        <p:spPr>
          <a:xfrm>
            <a:off x="15397603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5397603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712" name="cell|Lin et al., 2015 - RNA-seq - NATL2A|COG3839|ns"/>
          <p:cNvSpPr/>
          <p:nvPr/>
        </p:nvSpPr>
        <p:spPr>
          <a:xfrm>
            <a:off x="15952934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5952934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14" name="cell|Lin et al., 2015 - RNA-seq - NATL2A|COG1212|absent"/>
          <p:cNvSpPr/>
          <p:nvPr/>
        </p:nvSpPr>
        <p:spPr>
          <a:xfrm>
            <a:off x="16508265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5" name="Connector 714"/>
          <p:cNvCxnSpPr/>
          <p:nvPr/>
        </p:nvCxnSpPr>
        <p:spPr>
          <a:xfrm flipV="1">
            <a:off x="16508265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16508265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16785930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cell|Lin et al., 2015 - RNA-seq - NATL2A|COG0477|up"/>
          <p:cNvSpPr/>
          <p:nvPr/>
        </p:nvSpPr>
        <p:spPr>
          <a:xfrm>
            <a:off x="17063596" y="5623560"/>
            <a:ext cx="555330" cy="566928"/>
          </a:xfrm>
          <a:prstGeom prst="rect">
            <a:avLst/>
          </a:prstGeom>
          <a:solidFill>
            <a:srgbClr val="B88C84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TextBox 718"/>
          <p:cNvSpPr txBox="1"/>
          <p:nvPr/>
        </p:nvSpPr>
        <p:spPr>
          <a:xfrm>
            <a:off x="17063596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1/28/28</a:t>
            </a:r>
          </a:p>
        </p:txBody>
      </p:sp>
      <p:sp>
        <p:nvSpPr>
          <p:cNvPr id="720" name="cell|Lin et al., 2015 - RNA-seq - NATL2A|COG1472|ns"/>
          <p:cNvSpPr/>
          <p:nvPr/>
        </p:nvSpPr>
        <p:spPr>
          <a:xfrm>
            <a:off x="17618926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17618926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22" name="cell|Lin et al., 2015 - RNA-seq - NATL2A|COG3754|absent"/>
          <p:cNvSpPr/>
          <p:nvPr/>
        </p:nvSpPr>
        <p:spPr>
          <a:xfrm>
            <a:off x="18174257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3" name="Connector 722"/>
          <p:cNvCxnSpPr/>
          <p:nvPr/>
        </p:nvCxnSpPr>
        <p:spPr>
          <a:xfrm flipV="1">
            <a:off x="18174257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18174257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18451922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6" name="cell|Lin et al., 2015 - RNA-seq - NATL2A|COG0399|ns"/>
          <p:cNvSpPr/>
          <p:nvPr/>
        </p:nvSpPr>
        <p:spPr>
          <a:xfrm>
            <a:off x="18729588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18729588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28" name="cell|Lin et al., 2015 - RNA-seq - NATL2A|COG0673|ns"/>
          <p:cNvSpPr/>
          <p:nvPr/>
        </p:nvSpPr>
        <p:spPr>
          <a:xfrm>
            <a:off x="19284919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TextBox 728"/>
          <p:cNvSpPr txBox="1"/>
          <p:nvPr/>
        </p:nvSpPr>
        <p:spPr>
          <a:xfrm>
            <a:off x="19284919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30" name="cell|Lin et al., 2015 - RNA-seq - NATL2A|COG0810|ns"/>
          <p:cNvSpPr/>
          <p:nvPr/>
        </p:nvSpPr>
        <p:spPr>
          <a:xfrm>
            <a:off x="19840249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TextBox 730"/>
          <p:cNvSpPr txBox="1"/>
          <p:nvPr/>
        </p:nvSpPr>
        <p:spPr>
          <a:xfrm>
            <a:off x="19840249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32" name="cell|Lin et al., 2015 - RNA-seq - NATL2A|COG3206|absent"/>
          <p:cNvSpPr/>
          <p:nvPr/>
        </p:nvSpPr>
        <p:spPr>
          <a:xfrm>
            <a:off x="20395580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 flipV="1">
            <a:off x="20395580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0395580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20673245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cell|Lin et al., 2015 - RNA-seq - NATL2A|COG1596|absent"/>
          <p:cNvSpPr/>
          <p:nvPr/>
        </p:nvSpPr>
        <p:spPr>
          <a:xfrm>
            <a:off x="20950911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 flipV="1">
            <a:off x="20950911" y="562356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20950911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21228576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cell|Lin et al., 2015 - RNA-seq - NATL2A|COG1462|absent"/>
          <p:cNvSpPr/>
          <p:nvPr/>
        </p:nvSpPr>
        <p:spPr>
          <a:xfrm>
            <a:off x="21506241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 flipV="1">
            <a:off x="21506241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1506241" y="562356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783907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cell|Lin et al., 2015 - RNA-seq - NATL2A|COG3210|ns"/>
          <p:cNvSpPr/>
          <p:nvPr/>
        </p:nvSpPr>
        <p:spPr>
          <a:xfrm>
            <a:off x="22061572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TextBox 744"/>
          <p:cNvSpPr txBox="1"/>
          <p:nvPr/>
        </p:nvSpPr>
        <p:spPr>
          <a:xfrm>
            <a:off x="22061572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46" name="cell|Lin et al., 2015 - RNA-seq - NATL2A|COG2010|ns"/>
          <p:cNvSpPr/>
          <p:nvPr/>
        </p:nvSpPr>
        <p:spPr>
          <a:xfrm>
            <a:off x="22616903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TextBox 746"/>
          <p:cNvSpPr txBox="1"/>
          <p:nvPr/>
        </p:nvSpPr>
        <p:spPr>
          <a:xfrm>
            <a:off x="22616903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748" name="cell|Lin et al., 2015 - RNA-seq - NATL2A|COG2114|absent"/>
          <p:cNvSpPr/>
          <p:nvPr/>
        </p:nvSpPr>
        <p:spPr>
          <a:xfrm>
            <a:off x="23172234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23172234" y="562356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23172234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3449899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cell|Lin et al., 2015 - RNA-seq - NATL2A|COG0454|ns"/>
          <p:cNvSpPr/>
          <p:nvPr/>
        </p:nvSpPr>
        <p:spPr>
          <a:xfrm>
            <a:off x="23727564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23727564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754" name="cell|Lin et al., 2015 - RNA-seq - NATL2A|COG2931|ns"/>
          <p:cNvSpPr/>
          <p:nvPr/>
        </p:nvSpPr>
        <p:spPr>
          <a:xfrm>
            <a:off x="24282895" y="5623560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24282895" y="5623560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56" name="cell|Lin et al., 2015 - RNA-seq - NATL2A|COG0412|absent"/>
          <p:cNvSpPr/>
          <p:nvPr/>
        </p:nvSpPr>
        <p:spPr>
          <a:xfrm>
            <a:off x="24838226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24838226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24838226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V="1">
            <a:off x="25115891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0" name="cell|Lin et al., 2015 - RNA-seq - NATL2A|COG4252|absent"/>
          <p:cNvSpPr/>
          <p:nvPr/>
        </p:nvSpPr>
        <p:spPr>
          <a:xfrm>
            <a:off x="25393557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25393557" y="5623560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25393557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25671222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" name="cell|Lin et al., 2015 - RNA-seq - NATL2A|COG2192|absent"/>
          <p:cNvSpPr/>
          <p:nvPr/>
        </p:nvSpPr>
        <p:spPr>
          <a:xfrm>
            <a:off x="25948887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5" name="Connector 764"/>
          <p:cNvCxnSpPr/>
          <p:nvPr/>
        </p:nvCxnSpPr>
        <p:spPr>
          <a:xfrm flipV="1">
            <a:off x="25948887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25948887" y="5623560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26226553" y="590702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cell|Lin et al., 2015 - RNA-seq - NATL2A|COG2159|absent"/>
          <p:cNvSpPr/>
          <p:nvPr/>
        </p:nvSpPr>
        <p:spPr>
          <a:xfrm>
            <a:off x="26504218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9" name="Connector 768"/>
          <p:cNvCxnSpPr/>
          <p:nvPr/>
        </p:nvCxnSpPr>
        <p:spPr>
          <a:xfrm flipV="1">
            <a:off x="26504218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26504218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26781883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cell|Lin et al., 2015 - RNA-seq - NATL2A|COG5651|absent"/>
          <p:cNvSpPr/>
          <p:nvPr/>
        </p:nvSpPr>
        <p:spPr>
          <a:xfrm>
            <a:off x="27059549" y="5623560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3" name="Connector 772"/>
          <p:cNvCxnSpPr/>
          <p:nvPr/>
        </p:nvCxnSpPr>
        <p:spPr>
          <a:xfrm flipV="1">
            <a:off x="27059549" y="5623560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27059549" y="5623560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27337214" y="590702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6" name="TextBox 775"/>
          <p:cNvSpPr txBox="1"/>
          <p:nvPr/>
        </p:nvSpPr>
        <p:spPr>
          <a:xfrm>
            <a:off x="914400" y="6190488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MIT9312</a:t>
            </a:r>
          </a:p>
        </p:txBody>
      </p:sp>
      <p:sp>
        <p:nvSpPr>
          <p:cNvPr id="777" name="cell|Fuszard et al., 2012 - Proteomics - MIT9312|COG0188|ns"/>
          <p:cNvSpPr/>
          <p:nvPr/>
        </p:nvSpPr>
        <p:spPr>
          <a:xfrm>
            <a:off x="4846320" y="619048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46320" y="619048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0/1/6</a:t>
            </a:r>
          </a:p>
        </p:txBody>
      </p:sp>
      <p:sp>
        <p:nvSpPr>
          <p:cNvPr id="779" name="cell|Fuszard et al., 2012 - Proteomics - MIT9312|COG1787|nodata"/>
          <p:cNvSpPr/>
          <p:nvPr/>
        </p:nvSpPr>
        <p:spPr>
          <a:xfrm>
            <a:off x="5401650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cell|Fuszard et al., 2012 - Proteomics - MIT9312|COG3727|nodata"/>
          <p:cNvSpPr/>
          <p:nvPr/>
        </p:nvSpPr>
        <p:spPr>
          <a:xfrm>
            <a:off x="5956981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cell|Fuszard et al., 2012 - Proteomics - MIT9312|COG1793|nodata"/>
          <p:cNvSpPr/>
          <p:nvPr/>
        </p:nvSpPr>
        <p:spPr>
          <a:xfrm>
            <a:off x="6512312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cell|Fuszard et al., 2012 - Proteomics - MIT9312|COG0640|nodata"/>
          <p:cNvSpPr/>
          <p:nvPr/>
        </p:nvSpPr>
        <p:spPr>
          <a:xfrm>
            <a:off x="7067642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cell|Fuszard et al., 2012 - Proteomics - MIT9312|COG1403|nodata"/>
          <p:cNvSpPr/>
          <p:nvPr/>
        </p:nvSpPr>
        <p:spPr>
          <a:xfrm>
            <a:off x="7622973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cell|Fuszard et al., 2012 - Proteomics - MIT9312|COG2214|ns"/>
          <p:cNvSpPr/>
          <p:nvPr/>
        </p:nvSpPr>
        <p:spPr>
          <a:xfrm>
            <a:off x="8178304" y="619048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8178304" y="619048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0/1/5</a:t>
            </a:r>
          </a:p>
        </p:txBody>
      </p:sp>
      <p:sp>
        <p:nvSpPr>
          <p:cNvPr id="786" name="cell|Fuszard et al., 2012 - Proteomics - MIT9312|COG0443|nodata"/>
          <p:cNvSpPr/>
          <p:nvPr/>
        </p:nvSpPr>
        <p:spPr>
          <a:xfrm>
            <a:off x="8733635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cell|Fuszard et al., 2012 - Proteomics - MIT9312|COG0484|ns"/>
          <p:cNvSpPr/>
          <p:nvPr/>
        </p:nvSpPr>
        <p:spPr>
          <a:xfrm>
            <a:off x="9288965" y="619048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9288965" y="619048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0/1/5</a:t>
            </a:r>
          </a:p>
        </p:txBody>
      </p:sp>
      <p:sp>
        <p:nvSpPr>
          <p:cNvPr id="789" name="cell|Fuszard et al., 2012 - Proteomics - MIT9312|COG0330|ns"/>
          <p:cNvSpPr/>
          <p:nvPr/>
        </p:nvSpPr>
        <p:spPr>
          <a:xfrm>
            <a:off x="9844296" y="6190488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TextBox 789"/>
          <p:cNvSpPr txBox="1"/>
          <p:nvPr/>
        </p:nvSpPr>
        <p:spPr>
          <a:xfrm>
            <a:off x="9844296" y="619048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791" name="cell|Fuszard et al., 2012 - Proteomics - MIT9312|COG1187|nodata"/>
          <p:cNvSpPr/>
          <p:nvPr/>
        </p:nvSpPr>
        <p:spPr>
          <a:xfrm>
            <a:off x="10399627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cell|Fuszard et al., 2012 - Proteomics - MIT9312|COG1454|absent"/>
          <p:cNvSpPr/>
          <p:nvPr/>
        </p:nvSpPr>
        <p:spPr>
          <a:xfrm>
            <a:off x="10954958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3" name="Connector 792"/>
          <p:cNvCxnSpPr/>
          <p:nvPr/>
        </p:nvCxnSpPr>
        <p:spPr>
          <a:xfrm flipV="1">
            <a:off x="10954958" y="619048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 flipV="1">
            <a:off x="10954958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V="1">
            <a:off x="11232623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6" name="cell|Fuszard et al., 2012 - Proteomics - MIT9312|COG2370|absent"/>
          <p:cNvSpPr/>
          <p:nvPr/>
        </p:nvSpPr>
        <p:spPr>
          <a:xfrm>
            <a:off x="11510288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7" name="Connector 796"/>
          <p:cNvCxnSpPr/>
          <p:nvPr/>
        </p:nvCxnSpPr>
        <p:spPr>
          <a:xfrm flipV="1">
            <a:off x="11510288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V="1">
            <a:off x="11510288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V="1">
            <a:off x="11787954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cell|Fuszard et al., 2012 - Proteomics - MIT9312|COG0367|nodata"/>
          <p:cNvSpPr/>
          <p:nvPr/>
        </p:nvSpPr>
        <p:spPr>
          <a:xfrm>
            <a:off x="12065619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cell|Fuszard et al., 2012 - Proteomics - MIT9312|COG0082|nodata"/>
          <p:cNvSpPr/>
          <p:nvPr/>
        </p:nvSpPr>
        <p:spPr>
          <a:xfrm>
            <a:off x="12620950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cell|Fuszard et al., 2012 - Proteomics - MIT9312|COG2274|nodata"/>
          <p:cNvSpPr/>
          <p:nvPr/>
        </p:nvSpPr>
        <p:spPr>
          <a:xfrm>
            <a:off x="13176280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cell|Fuszard et al., 2012 - Proteomics - MIT9312|COG1989|nodata"/>
          <p:cNvSpPr/>
          <p:nvPr/>
        </p:nvSpPr>
        <p:spPr>
          <a:xfrm>
            <a:off x="13731611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cell|Fuszard et al., 2012 - Proteomics - MIT9312|COG0845|nodata"/>
          <p:cNvSpPr/>
          <p:nvPr/>
        </p:nvSpPr>
        <p:spPr>
          <a:xfrm>
            <a:off x="14286942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cell|Fuszard et al., 2012 - Proteomics - MIT9312|COG0488|nodata"/>
          <p:cNvSpPr/>
          <p:nvPr/>
        </p:nvSpPr>
        <p:spPr>
          <a:xfrm>
            <a:off x="14842273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cell|Fuszard et al., 2012 - Proteomics - MIT9312|COG0697|nodata"/>
          <p:cNvSpPr/>
          <p:nvPr/>
        </p:nvSpPr>
        <p:spPr>
          <a:xfrm>
            <a:off x="15397603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cell|Fuszard et al., 2012 - Proteomics - MIT9312|COG3839|absent"/>
          <p:cNvSpPr/>
          <p:nvPr/>
        </p:nvSpPr>
        <p:spPr>
          <a:xfrm>
            <a:off x="15952934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8" name="Connector 807"/>
          <p:cNvCxnSpPr/>
          <p:nvPr/>
        </p:nvCxnSpPr>
        <p:spPr>
          <a:xfrm flipV="1">
            <a:off x="15952934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V="1">
            <a:off x="15952934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16230600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cell|Fuszard et al., 2012 - Proteomics - MIT9312|COG1212|absent"/>
          <p:cNvSpPr/>
          <p:nvPr/>
        </p:nvSpPr>
        <p:spPr>
          <a:xfrm>
            <a:off x="16508265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2" name="Connector 811"/>
          <p:cNvCxnSpPr/>
          <p:nvPr/>
        </p:nvCxnSpPr>
        <p:spPr>
          <a:xfrm flipV="1">
            <a:off x="16508265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16508265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16785930" y="647395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5" name="cell|Fuszard et al., 2012 - Proteomics - MIT9312|COG0477|up"/>
          <p:cNvSpPr/>
          <p:nvPr/>
        </p:nvSpPr>
        <p:spPr>
          <a:xfrm>
            <a:off x="17063596" y="6190488"/>
            <a:ext cx="555330" cy="566928"/>
          </a:xfrm>
          <a:prstGeom prst="rect">
            <a:avLst/>
          </a:prstGeom>
          <a:solidFill>
            <a:srgbClr val="CD6C6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TextBox 815"/>
          <p:cNvSpPr txBox="1"/>
          <p:nvPr/>
        </p:nvSpPr>
        <p:spPr>
          <a:xfrm>
            <a:off x="17063596" y="6190488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1/2/25</a:t>
            </a:r>
          </a:p>
        </p:txBody>
      </p:sp>
      <p:sp>
        <p:nvSpPr>
          <p:cNvPr id="817" name="cell|Fuszard et al., 2012 - Proteomics - MIT9312|COG1472|absent"/>
          <p:cNvSpPr/>
          <p:nvPr/>
        </p:nvSpPr>
        <p:spPr>
          <a:xfrm>
            <a:off x="17618926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 flipV="1">
            <a:off x="17618926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17618926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V="1">
            <a:off x="17896592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1" name="cell|Fuszard et al., 2012 - Proteomics - MIT9312|COG3754|absent"/>
          <p:cNvSpPr/>
          <p:nvPr/>
        </p:nvSpPr>
        <p:spPr>
          <a:xfrm>
            <a:off x="18174257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2" name="Connector 821"/>
          <p:cNvCxnSpPr/>
          <p:nvPr/>
        </p:nvCxnSpPr>
        <p:spPr>
          <a:xfrm flipV="1">
            <a:off x="18174257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18174257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18451922" y="647395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5" name="cell|Fuszard et al., 2012 - Proteomics - MIT9312|COG0399|nodata"/>
          <p:cNvSpPr/>
          <p:nvPr/>
        </p:nvSpPr>
        <p:spPr>
          <a:xfrm>
            <a:off x="18729588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cell|Fuszard et al., 2012 - Proteomics - MIT9312|COG0673|nodata"/>
          <p:cNvSpPr/>
          <p:nvPr/>
        </p:nvSpPr>
        <p:spPr>
          <a:xfrm>
            <a:off x="19284919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cell|Fuszard et al., 2012 - Proteomics - MIT9312|COG0810|absent"/>
          <p:cNvSpPr/>
          <p:nvPr/>
        </p:nvSpPr>
        <p:spPr>
          <a:xfrm>
            <a:off x="19840249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8" name="Connector 827"/>
          <p:cNvCxnSpPr/>
          <p:nvPr/>
        </p:nvCxnSpPr>
        <p:spPr>
          <a:xfrm flipV="1">
            <a:off x="19840249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V="1">
            <a:off x="19840249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V="1">
            <a:off x="20117915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1" name="cell|Fuszard et al., 2012 - Proteomics - MIT9312|COG3206|nodata"/>
          <p:cNvSpPr/>
          <p:nvPr/>
        </p:nvSpPr>
        <p:spPr>
          <a:xfrm>
            <a:off x="20395580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cell|Fuszard et al., 2012 - Proteomics - MIT9312|COG1596|nodata"/>
          <p:cNvSpPr/>
          <p:nvPr/>
        </p:nvSpPr>
        <p:spPr>
          <a:xfrm>
            <a:off x="20950911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cell|Fuszard et al., 2012 - Proteomics - MIT9312|COG1462|absent"/>
          <p:cNvSpPr/>
          <p:nvPr/>
        </p:nvSpPr>
        <p:spPr>
          <a:xfrm>
            <a:off x="21506241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4" name="Connector 833"/>
          <p:cNvCxnSpPr/>
          <p:nvPr/>
        </p:nvCxnSpPr>
        <p:spPr>
          <a:xfrm flipV="1">
            <a:off x="21506241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 flipV="1">
            <a:off x="21506241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 flipV="1">
            <a:off x="21783907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7" name="cell|Fuszard et al., 2012 - Proteomics - MIT9312|COG3210|absent"/>
          <p:cNvSpPr/>
          <p:nvPr/>
        </p:nvSpPr>
        <p:spPr>
          <a:xfrm>
            <a:off x="22061572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8" name="Connector 837"/>
          <p:cNvCxnSpPr/>
          <p:nvPr/>
        </p:nvCxnSpPr>
        <p:spPr>
          <a:xfrm flipV="1">
            <a:off x="22061572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 flipV="1">
            <a:off x="22061572" y="619048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 flipV="1">
            <a:off x="22339238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1" name="cell|Fuszard et al., 2012 - Proteomics - MIT9312|COG2010|nodata"/>
          <p:cNvSpPr/>
          <p:nvPr/>
        </p:nvSpPr>
        <p:spPr>
          <a:xfrm>
            <a:off x="22616903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cell|Fuszard et al., 2012 - Proteomics - MIT9312|COG2114|absent"/>
          <p:cNvSpPr/>
          <p:nvPr/>
        </p:nvSpPr>
        <p:spPr>
          <a:xfrm>
            <a:off x="23172234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3" name="Connector 842"/>
          <p:cNvCxnSpPr/>
          <p:nvPr/>
        </p:nvCxnSpPr>
        <p:spPr>
          <a:xfrm flipV="1">
            <a:off x="23172234" y="619048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V="1">
            <a:off x="23172234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V="1">
            <a:off x="23449899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6" name="cell|Fuszard et al., 2012 - Proteomics - MIT9312|COG0454|nodata"/>
          <p:cNvSpPr/>
          <p:nvPr/>
        </p:nvSpPr>
        <p:spPr>
          <a:xfrm>
            <a:off x="23727564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cell|Fuszard et al., 2012 - Proteomics - MIT9312|COG2931|absent"/>
          <p:cNvSpPr/>
          <p:nvPr/>
        </p:nvSpPr>
        <p:spPr>
          <a:xfrm>
            <a:off x="24282895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8" name="Connector 847"/>
          <p:cNvCxnSpPr/>
          <p:nvPr/>
        </p:nvCxnSpPr>
        <p:spPr>
          <a:xfrm flipV="1">
            <a:off x="24282895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V="1">
            <a:off x="24282895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V="1">
            <a:off x="24560560" y="647395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1" name="cell|Fuszard et al., 2012 - Proteomics - MIT9312|COG0412|nodata"/>
          <p:cNvSpPr/>
          <p:nvPr/>
        </p:nvSpPr>
        <p:spPr>
          <a:xfrm>
            <a:off x="24838226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cell|Fuszard et al., 2012 - Proteomics - MIT9312|COG4252|absent"/>
          <p:cNvSpPr/>
          <p:nvPr/>
        </p:nvSpPr>
        <p:spPr>
          <a:xfrm>
            <a:off x="25393557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3" name="Connector 852"/>
          <p:cNvCxnSpPr/>
          <p:nvPr/>
        </p:nvCxnSpPr>
        <p:spPr>
          <a:xfrm flipV="1">
            <a:off x="25393557" y="6190488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25393557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25671222" y="647395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6" name="cell|Fuszard et al., 2012 - Proteomics - MIT9312|COG2192|nodata"/>
          <p:cNvSpPr/>
          <p:nvPr/>
        </p:nvSpPr>
        <p:spPr>
          <a:xfrm>
            <a:off x="25948887" y="6190488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cell|Fuszard et al., 2012 - Proteomics - MIT9312|COG2159|absent"/>
          <p:cNvSpPr/>
          <p:nvPr/>
        </p:nvSpPr>
        <p:spPr>
          <a:xfrm>
            <a:off x="26504218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8" name="Connector 857"/>
          <p:cNvCxnSpPr/>
          <p:nvPr/>
        </p:nvCxnSpPr>
        <p:spPr>
          <a:xfrm flipV="1">
            <a:off x="26504218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26504218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26781883" y="647395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cell|Fuszard et al., 2012 - Proteomics - MIT9312|COG5651|absent"/>
          <p:cNvSpPr/>
          <p:nvPr/>
        </p:nvSpPr>
        <p:spPr>
          <a:xfrm>
            <a:off x="27059549" y="6190488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2" name="Connector 861"/>
          <p:cNvCxnSpPr/>
          <p:nvPr/>
        </p:nvCxnSpPr>
        <p:spPr>
          <a:xfrm flipV="1">
            <a:off x="27059549" y="6190488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27059549" y="619048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27337214" y="647395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5" name="TextBox 864"/>
          <p:cNvSpPr txBox="1"/>
          <p:nvPr/>
        </p:nvSpPr>
        <p:spPr>
          <a:xfrm>
            <a:off x="914400" y="6757416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Fuszard et al., 2012 - Proteomics - NATL2A</a:t>
            </a:r>
          </a:p>
        </p:txBody>
      </p:sp>
      <p:sp>
        <p:nvSpPr>
          <p:cNvPr id="866" name="cell|Fuszard et al., 2012 - Proteomics - NATL2A|COG0188|nodata"/>
          <p:cNvSpPr/>
          <p:nvPr/>
        </p:nvSpPr>
        <p:spPr>
          <a:xfrm>
            <a:off x="4846320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cell|Fuszard et al., 2012 - Proteomics - NATL2A|COG1787|absent"/>
          <p:cNvSpPr/>
          <p:nvPr/>
        </p:nvSpPr>
        <p:spPr>
          <a:xfrm>
            <a:off x="5401650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5401650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5401650" y="675741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5679316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1" name="cell|Fuszard et al., 2012 - Proteomics - NATL2A|COG3727|absent"/>
          <p:cNvSpPr/>
          <p:nvPr/>
        </p:nvSpPr>
        <p:spPr>
          <a:xfrm>
            <a:off x="5956981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2" name="Connector 871"/>
          <p:cNvCxnSpPr/>
          <p:nvPr/>
        </p:nvCxnSpPr>
        <p:spPr>
          <a:xfrm flipV="1">
            <a:off x="5956981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5956981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V="1">
            <a:off x="6234646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5" name="cell|Fuszard et al., 2012 - Proteomics - NATL2A|COG1793|nodata"/>
          <p:cNvSpPr/>
          <p:nvPr/>
        </p:nvSpPr>
        <p:spPr>
          <a:xfrm>
            <a:off x="6512312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cell|Fuszard et al., 2012 - Proteomics - NATL2A|COG0640|nodata"/>
          <p:cNvSpPr/>
          <p:nvPr/>
        </p:nvSpPr>
        <p:spPr>
          <a:xfrm>
            <a:off x="7067642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cell|Fuszard et al., 2012 - Proteomics - NATL2A|COG1403|nodata"/>
          <p:cNvSpPr/>
          <p:nvPr/>
        </p:nvSpPr>
        <p:spPr>
          <a:xfrm>
            <a:off x="7622973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cell|Fuszard et al., 2012 - Proteomics - NATL2A|COG2214|nodata"/>
          <p:cNvSpPr/>
          <p:nvPr/>
        </p:nvSpPr>
        <p:spPr>
          <a:xfrm>
            <a:off x="8178304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cell|Fuszard et al., 2012 - Proteomics - NATL2A|COG0443|down"/>
          <p:cNvSpPr/>
          <p:nvPr/>
        </p:nvSpPr>
        <p:spPr>
          <a:xfrm>
            <a:off x="8733635" y="6757416"/>
            <a:ext cx="555330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TextBox 879"/>
          <p:cNvSpPr txBox="1"/>
          <p:nvPr/>
        </p:nvSpPr>
        <p:spPr>
          <a:xfrm>
            <a:off x="8733635" y="675741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2/2/4</a:t>
            </a:r>
          </a:p>
        </p:txBody>
      </p:sp>
      <p:sp>
        <p:nvSpPr>
          <p:cNvPr id="881" name="cell|Fuszard et al., 2012 - Proteomics - NATL2A|COG0484|nodata"/>
          <p:cNvSpPr/>
          <p:nvPr/>
        </p:nvSpPr>
        <p:spPr>
          <a:xfrm>
            <a:off x="9288965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cell|Fuszard et al., 2012 - Proteomics - NATL2A|COG0330|nodata"/>
          <p:cNvSpPr/>
          <p:nvPr/>
        </p:nvSpPr>
        <p:spPr>
          <a:xfrm>
            <a:off x="9844296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cell|Fuszard et al., 2012 - Proteomics - NATL2A|COG1187|nodata"/>
          <p:cNvSpPr/>
          <p:nvPr/>
        </p:nvSpPr>
        <p:spPr>
          <a:xfrm>
            <a:off x="10399627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cell|Fuszard et al., 2012 - Proteomics - NATL2A|COG1454|nodata"/>
          <p:cNvSpPr/>
          <p:nvPr/>
        </p:nvSpPr>
        <p:spPr>
          <a:xfrm>
            <a:off x="10954958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cell|Fuszard et al., 2012 - Proteomics - NATL2A|COG2370|nodata"/>
          <p:cNvSpPr/>
          <p:nvPr/>
        </p:nvSpPr>
        <p:spPr>
          <a:xfrm>
            <a:off x="11510288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cell|Fuszard et al., 2012 - Proteomics - NATL2A|COG0367|absent"/>
          <p:cNvSpPr/>
          <p:nvPr/>
        </p:nvSpPr>
        <p:spPr>
          <a:xfrm>
            <a:off x="12065619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12065619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 flipV="1">
            <a:off x="12065619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V="1">
            <a:off x="12343284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0" name="cell|Fuszard et al., 2012 - Proteomics - NATL2A|COG0082|nodata"/>
          <p:cNvSpPr/>
          <p:nvPr/>
        </p:nvSpPr>
        <p:spPr>
          <a:xfrm>
            <a:off x="12620950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cell|Fuszard et al., 2012 - Proteomics - NATL2A|COG2274|nodata"/>
          <p:cNvSpPr/>
          <p:nvPr/>
        </p:nvSpPr>
        <p:spPr>
          <a:xfrm>
            <a:off x="13176280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cell|Fuszard et al., 2012 - Proteomics - NATL2A|COG1989|nodata"/>
          <p:cNvSpPr/>
          <p:nvPr/>
        </p:nvSpPr>
        <p:spPr>
          <a:xfrm>
            <a:off x="13731611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cell|Fuszard et al., 2012 - Proteomics - NATL2A|COG0845|nodata"/>
          <p:cNvSpPr/>
          <p:nvPr/>
        </p:nvSpPr>
        <p:spPr>
          <a:xfrm>
            <a:off x="14286942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cell|Fuszard et al., 2012 - Proteomics - NATL2A|COG0488|nodata"/>
          <p:cNvSpPr/>
          <p:nvPr/>
        </p:nvSpPr>
        <p:spPr>
          <a:xfrm>
            <a:off x="14842273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cell|Fuszard et al., 2012 - Proteomics - NATL2A|COG0697|nodata"/>
          <p:cNvSpPr/>
          <p:nvPr/>
        </p:nvSpPr>
        <p:spPr>
          <a:xfrm>
            <a:off x="15397603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cell|Fuszard et al., 2012 - Proteomics - NATL2A|COG3839|nodata"/>
          <p:cNvSpPr/>
          <p:nvPr/>
        </p:nvSpPr>
        <p:spPr>
          <a:xfrm>
            <a:off x="15952934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cell|Fuszard et al., 2012 - Proteomics - NATL2A|COG1212|absent"/>
          <p:cNvSpPr/>
          <p:nvPr/>
        </p:nvSpPr>
        <p:spPr>
          <a:xfrm>
            <a:off x="16508265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8" name="Connector 897"/>
          <p:cNvCxnSpPr/>
          <p:nvPr/>
        </p:nvCxnSpPr>
        <p:spPr>
          <a:xfrm flipV="1">
            <a:off x="16508265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V="1">
            <a:off x="16508265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V="1">
            <a:off x="16785930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cell|Fuszard et al., 2012 - Proteomics - NATL2A|COG0477|ns"/>
          <p:cNvSpPr/>
          <p:nvPr/>
        </p:nvSpPr>
        <p:spPr>
          <a:xfrm>
            <a:off x="17063596" y="6757416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TextBox 901"/>
          <p:cNvSpPr txBox="1"/>
          <p:nvPr/>
        </p:nvSpPr>
        <p:spPr>
          <a:xfrm>
            <a:off x="17063596" y="6757416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0/1/28</a:t>
            </a:r>
          </a:p>
        </p:txBody>
      </p:sp>
      <p:sp>
        <p:nvSpPr>
          <p:cNvPr id="903" name="cell|Fuszard et al., 2012 - Proteomics - NATL2A|COG1472|nodata"/>
          <p:cNvSpPr/>
          <p:nvPr/>
        </p:nvSpPr>
        <p:spPr>
          <a:xfrm>
            <a:off x="17618926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cell|Fuszard et al., 2012 - Proteomics - NATL2A|COG3754|absent"/>
          <p:cNvSpPr/>
          <p:nvPr/>
        </p:nvSpPr>
        <p:spPr>
          <a:xfrm>
            <a:off x="18174257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5" name="Connector 904"/>
          <p:cNvCxnSpPr/>
          <p:nvPr/>
        </p:nvCxnSpPr>
        <p:spPr>
          <a:xfrm flipV="1">
            <a:off x="18174257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18174257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18451922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cell|Fuszard et al., 2012 - Proteomics - NATL2A|COG0399|nodata"/>
          <p:cNvSpPr/>
          <p:nvPr/>
        </p:nvSpPr>
        <p:spPr>
          <a:xfrm>
            <a:off x="18729588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cell|Fuszard et al., 2012 - Proteomics - NATL2A|COG0673|nodata"/>
          <p:cNvSpPr/>
          <p:nvPr/>
        </p:nvSpPr>
        <p:spPr>
          <a:xfrm>
            <a:off x="19284919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cell|Fuszard et al., 2012 - Proteomics - NATL2A|COG0810|nodata"/>
          <p:cNvSpPr/>
          <p:nvPr/>
        </p:nvSpPr>
        <p:spPr>
          <a:xfrm>
            <a:off x="19840249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cell|Fuszard et al., 2012 - Proteomics - NATL2A|COG3206|absent"/>
          <p:cNvSpPr/>
          <p:nvPr/>
        </p:nvSpPr>
        <p:spPr>
          <a:xfrm>
            <a:off x="20395580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2" name="Connector 911"/>
          <p:cNvCxnSpPr/>
          <p:nvPr/>
        </p:nvCxnSpPr>
        <p:spPr>
          <a:xfrm flipV="1">
            <a:off x="20395580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20395580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20673245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5" name="cell|Fuszard et al., 2012 - Proteomics - NATL2A|COG1596|absent"/>
          <p:cNvSpPr/>
          <p:nvPr/>
        </p:nvSpPr>
        <p:spPr>
          <a:xfrm>
            <a:off x="20950911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20950911" y="675741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20950911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21228576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cell|Fuszard et al., 2012 - Proteomics - NATL2A|COG1462|absent"/>
          <p:cNvSpPr/>
          <p:nvPr/>
        </p:nvSpPr>
        <p:spPr>
          <a:xfrm>
            <a:off x="21506241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0" name="Connector 919"/>
          <p:cNvCxnSpPr/>
          <p:nvPr/>
        </p:nvCxnSpPr>
        <p:spPr>
          <a:xfrm flipV="1">
            <a:off x="21506241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21506241" y="675741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21783907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cell|Fuszard et al., 2012 - Proteomics - NATL2A|COG3210|nodata"/>
          <p:cNvSpPr/>
          <p:nvPr/>
        </p:nvSpPr>
        <p:spPr>
          <a:xfrm>
            <a:off x="22061572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cell|Fuszard et al., 2012 - Proteomics - NATL2A|COG2010|nodata"/>
          <p:cNvSpPr/>
          <p:nvPr/>
        </p:nvSpPr>
        <p:spPr>
          <a:xfrm>
            <a:off x="22616903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cell|Fuszard et al., 2012 - Proteomics - NATL2A|COG2114|absent"/>
          <p:cNvSpPr/>
          <p:nvPr/>
        </p:nvSpPr>
        <p:spPr>
          <a:xfrm>
            <a:off x="23172234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23172234" y="675741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23172234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23449899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9" name="cell|Fuszard et al., 2012 - Proteomics - NATL2A|COG0454|nodata"/>
          <p:cNvSpPr/>
          <p:nvPr/>
        </p:nvSpPr>
        <p:spPr>
          <a:xfrm>
            <a:off x="23727564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cell|Fuszard et al., 2012 - Proteomics - NATL2A|COG2931|nodata"/>
          <p:cNvSpPr/>
          <p:nvPr/>
        </p:nvSpPr>
        <p:spPr>
          <a:xfrm>
            <a:off x="24282895" y="6757416"/>
            <a:ext cx="555330" cy="566928"/>
          </a:xfrm>
          <a:prstGeom prst="rect">
            <a:avLst/>
          </a:prstGeom>
          <a:solidFill>
            <a:srgbClr val="E7E4D8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cell|Fuszard et al., 2012 - Proteomics - NATL2A|COG0412|absent"/>
          <p:cNvSpPr/>
          <p:nvPr/>
        </p:nvSpPr>
        <p:spPr>
          <a:xfrm>
            <a:off x="24838226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2" name="Connector 931"/>
          <p:cNvCxnSpPr/>
          <p:nvPr/>
        </p:nvCxnSpPr>
        <p:spPr>
          <a:xfrm flipV="1">
            <a:off x="24838226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24838226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 flipV="1">
            <a:off x="25115891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cell|Fuszard et al., 2012 - Proteomics - NATL2A|COG4252|absent"/>
          <p:cNvSpPr/>
          <p:nvPr/>
        </p:nvSpPr>
        <p:spPr>
          <a:xfrm>
            <a:off x="25393557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6" name="Connector 935"/>
          <p:cNvCxnSpPr/>
          <p:nvPr/>
        </p:nvCxnSpPr>
        <p:spPr>
          <a:xfrm flipV="1">
            <a:off x="25393557" y="6757416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V="1">
            <a:off x="25393557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 flipV="1">
            <a:off x="25671222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9" name="cell|Fuszard et al., 2012 - Proteomics - NATL2A|COG2192|absent"/>
          <p:cNvSpPr/>
          <p:nvPr/>
        </p:nvSpPr>
        <p:spPr>
          <a:xfrm>
            <a:off x="25948887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25948887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V="1">
            <a:off x="25948887" y="675741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V="1">
            <a:off x="26226553" y="7040879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cell|Fuszard et al., 2012 - Proteomics - NATL2A|COG2159|absent"/>
          <p:cNvSpPr/>
          <p:nvPr/>
        </p:nvSpPr>
        <p:spPr>
          <a:xfrm>
            <a:off x="26504218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4" name="Connector 943"/>
          <p:cNvCxnSpPr/>
          <p:nvPr/>
        </p:nvCxnSpPr>
        <p:spPr>
          <a:xfrm flipV="1">
            <a:off x="26504218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V="1">
            <a:off x="26504218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V="1">
            <a:off x="26781883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cell|Fuszard et al., 2012 - Proteomics - NATL2A|COG5651|absent"/>
          <p:cNvSpPr/>
          <p:nvPr/>
        </p:nvSpPr>
        <p:spPr>
          <a:xfrm>
            <a:off x="27059549" y="6757416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8" name="Connector 947"/>
          <p:cNvCxnSpPr/>
          <p:nvPr/>
        </p:nvCxnSpPr>
        <p:spPr>
          <a:xfrm flipV="1">
            <a:off x="27059549" y="6757416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V="1">
            <a:off x="27059549" y="675741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V="1">
            <a:off x="27337214" y="7040879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914400" y="7324344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MED4</a:t>
            </a:r>
          </a:p>
        </p:txBody>
      </p:sp>
      <p:sp>
        <p:nvSpPr>
          <p:cNvPr id="952" name="cell|Martiny et al., 2006 - Microarray - MED4|COG0188|up"/>
          <p:cNvSpPr/>
          <p:nvPr/>
        </p:nvSpPr>
        <p:spPr>
          <a:xfrm>
            <a:off x="4846320" y="7324344"/>
            <a:ext cx="555330" cy="566928"/>
          </a:xfrm>
          <a:prstGeom prst="rect">
            <a:avLst/>
          </a:prstGeom>
          <a:solidFill>
            <a:srgbClr val="BE837C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4846320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1/6/6</a:t>
            </a:r>
          </a:p>
        </p:txBody>
      </p:sp>
      <p:sp>
        <p:nvSpPr>
          <p:cNvPr id="954" name="cell|Martiny et al., 2006 - Microarray - MED4|COG1787|ns"/>
          <p:cNvSpPr/>
          <p:nvPr/>
        </p:nvSpPr>
        <p:spPr>
          <a:xfrm>
            <a:off x="5401650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5401650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56" name="cell|Martiny et al., 2006 - Microarray - MED4|COG3727|absent"/>
          <p:cNvSpPr/>
          <p:nvPr/>
        </p:nvSpPr>
        <p:spPr>
          <a:xfrm>
            <a:off x="5956981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7" name="Connector 956"/>
          <p:cNvCxnSpPr/>
          <p:nvPr/>
        </p:nvCxnSpPr>
        <p:spPr>
          <a:xfrm flipV="1">
            <a:off x="5956981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5956981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6234646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cell|Martiny et al., 2006 - Microarray - MED4|COG1793|ns"/>
          <p:cNvSpPr/>
          <p:nvPr/>
        </p:nvSpPr>
        <p:spPr>
          <a:xfrm>
            <a:off x="6512312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6512312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962" name="cell|Martiny et al., 2006 - Microarray - MED4|COG0640|ns"/>
          <p:cNvSpPr/>
          <p:nvPr/>
        </p:nvSpPr>
        <p:spPr>
          <a:xfrm>
            <a:off x="7067642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TextBox 962"/>
          <p:cNvSpPr txBox="1"/>
          <p:nvPr/>
        </p:nvSpPr>
        <p:spPr>
          <a:xfrm>
            <a:off x="7067642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64" name="cell|Martiny et al., 2006 - Microarray - MED4|COG1403|up"/>
          <p:cNvSpPr/>
          <p:nvPr/>
        </p:nvSpPr>
        <p:spPr>
          <a:xfrm>
            <a:off x="7622973" y="7324344"/>
            <a:ext cx="555330" cy="566928"/>
          </a:xfrm>
          <a:prstGeom prst="rect">
            <a:avLst/>
          </a:prstGeom>
          <a:solidFill>
            <a:srgbClr val="C27D77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7622973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1/4/4</a:t>
            </a:r>
          </a:p>
        </p:txBody>
      </p:sp>
      <p:sp>
        <p:nvSpPr>
          <p:cNvPr id="966" name="cell|Martiny et al., 2006 - Microarray - MED4|COG2214|ns"/>
          <p:cNvSpPr/>
          <p:nvPr/>
        </p:nvSpPr>
        <p:spPr>
          <a:xfrm>
            <a:off x="8178304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8178304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968" name="cell|Martiny et al., 2006 - Microarray - MED4|COG0443|ns"/>
          <p:cNvSpPr/>
          <p:nvPr/>
        </p:nvSpPr>
        <p:spPr>
          <a:xfrm>
            <a:off x="8733635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8733635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970" name="cell|Martiny et al., 2006 - Microarray - MED4|COG0484|ns"/>
          <p:cNvSpPr/>
          <p:nvPr/>
        </p:nvSpPr>
        <p:spPr>
          <a:xfrm>
            <a:off x="9288965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9288965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972" name="cell|Martiny et al., 2006 - Microarray - MED4|COG0330|ns"/>
          <p:cNvSpPr/>
          <p:nvPr/>
        </p:nvSpPr>
        <p:spPr>
          <a:xfrm>
            <a:off x="9844296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9844296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74" name="cell|Martiny et al., 2006 - Microarray - MED4|COG1187|ns"/>
          <p:cNvSpPr/>
          <p:nvPr/>
        </p:nvSpPr>
        <p:spPr>
          <a:xfrm>
            <a:off x="10399627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10399627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976" name="cell|Martiny et al., 2006 - Microarray - MED4|COG1454|absent"/>
          <p:cNvSpPr/>
          <p:nvPr/>
        </p:nvSpPr>
        <p:spPr>
          <a:xfrm>
            <a:off x="10954958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7" name="Connector 976"/>
          <p:cNvCxnSpPr/>
          <p:nvPr/>
        </p:nvCxnSpPr>
        <p:spPr>
          <a:xfrm flipV="1">
            <a:off x="10954958" y="7324344"/>
            <a:ext cx="555330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10954958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11232623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cell|Martiny et al., 2006 - Microarray - MED4|COG2370|ns"/>
          <p:cNvSpPr/>
          <p:nvPr/>
        </p:nvSpPr>
        <p:spPr>
          <a:xfrm>
            <a:off x="11510288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TextBox 980"/>
          <p:cNvSpPr txBox="1"/>
          <p:nvPr/>
        </p:nvSpPr>
        <p:spPr>
          <a:xfrm>
            <a:off x="11510288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82" name="cell|Martiny et al., 2006 - Microarray - MED4|COG0367|absent"/>
          <p:cNvSpPr/>
          <p:nvPr/>
        </p:nvSpPr>
        <p:spPr>
          <a:xfrm>
            <a:off x="12065619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3" name="Connector 982"/>
          <p:cNvCxnSpPr/>
          <p:nvPr/>
        </p:nvCxnSpPr>
        <p:spPr>
          <a:xfrm flipV="1">
            <a:off x="12065619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12065619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V="1">
            <a:off x="12343284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6" name="cell|Martiny et al., 2006 - Microarray - MED4|COG0082|ns"/>
          <p:cNvSpPr/>
          <p:nvPr/>
        </p:nvSpPr>
        <p:spPr>
          <a:xfrm>
            <a:off x="12620950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12620950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988" name="cell|Martiny et al., 2006 - Microarray - MED4|COG2274|absent"/>
          <p:cNvSpPr/>
          <p:nvPr/>
        </p:nvSpPr>
        <p:spPr>
          <a:xfrm>
            <a:off x="13176280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9" name="Connector 988"/>
          <p:cNvCxnSpPr/>
          <p:nvPr/>
        </p:nvCxnSpPr>
        <p:spPr>
          <a:xfrm flipV="1">
            <a:off x="13176280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13176280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13453946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cell|Martiny et al., 2006 - Microarray - MED4|COG1989|absent"/>
          <p:cNvSpPr/>
          <p:nvPr/>
        </p:nvSpPr>
        <p:spPr>
          <a:xfrm>
            <a:off x="13731611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3" name="Connector 992"/>
          <p:cNvCxnSpPr/>
          <p:nvPr/>
        </p:nvCxnSpPr>
        <p:spPr>
          <a:xfrm flipV="1">
            <a:off x="13731611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V="1">
            <a:off x="13731611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V="1">
            <a:off x="14009277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6" name="cell|Martiny et al., 2006 - Microarray - MED4|COG0845|ns"/>
          <p:cNvSpPr/>
          <p:nvPr/>
        </p:nvSpPr>
        <p:spPr>
          <a:xfrm>
            <a:off x="14286942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TextBox 996"/>
          <p:cNvSpPr txBox="1"/>
          <p:nvPr/>
        </p:nvSpPr>
        <p:spPr>
          <a:xfrm>
            <a:off x="14286942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998" name="cell|Martiny et al., 2006 - Microarray - MED4|COG0488|ns"/>
          <p:cNvSpPr/>
          <p:nvPr/>
        </p:nvSpPr>
        <p:spPr>
          <a:xfrm>
            <a:off x="14842273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4842273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000" name="cell|Martiny et al., 2006 - Microarray - MED4|COG0697|ns"/>
          <p:cNvSpPr/>
          <p:nvPr/>
        </p:nvSpPr>
        <p:spPr>
          <a:xfrm>
            <a:off x="15397603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15397603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0/9/9</a:t>
            </a:r>
          </a:p>
        </p:txBody>
      </p:sp>
      <p:sp>
        <p:nvSpPr>
          <p:cNvPr id="1002" name="cell|Martiny et al., 2006 - Microarray - MED4|COG3839|absent"/>
          <p:cNvSpPr/>
          <p:nvPr/>
        </p:nvSpPr>
        <p:spPr>
          <a:xfrm>
            <a:off x="15952934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3" name="Connector 1002"/>
          <p:cNvCxnSpPr/>
          <p:nvPr/>
        </p:nvCxnSpPr>
        <p:spPr>
          <a:xfrm flipV="1">
            <a:off x="15952934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15952934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16230600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cell|Martiny et al., 2006 - Microarray - MED4|COG1212|absent"/>
          <p:cNvSpPr/>
          <p:nvPr/>
        </p:nvSpPr>
        <p:spPr>
          <a:xfrm>
            <a:off x="16508265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7" name="Connector 1006"/>
          <p:cNvCxnSpPr/>
          <p:nvPr/>
        </p:nvCxnSpPr>
        <p:spPr>
          <a:xfrm flipV="1">
            <a:off x="16508265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 flipV="1">
            <a:off x="16508265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V="1">
            <a:off x="16785930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cell|Martiny et al., 2006 - Microarray - MED4|COG0477|up"/>
          <p:cNvSpPr/>
          <p:nvPr/>
        </p:nvSpPr>
        <p:spPr>
          <a:xfrm>
            <a:off x="17063596" y="7324344"/>
            <a:ext cx="555330" cy="566928"/>
          </a:xfrm>
          <a:prstGeom prst="rect">
            <a:avLst/>
          </a:prstGeom>
          <a:solidFill>
            <a:srgbClr val="BA8981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17063596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2/25/25</a:t>
            </a:r>
          </a:p>
        </p:txBody>
      </p:sp>
      <p:sp>
        <p:nvSpPr>
          <p:cNvPr id="1012" name="cell|Martiny et al., 2006 - Microarray - MED4|COG1472|absent"/>
          <p:cNvSpPr/>
          <p:nvPr/>
        </p:nvSpPr>
        <p:spPr>
          <a:xfrm>
            <a:off x="17618926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3" name="Connector 1012"/>
          <p:cNvCxnSpPr/>
          <p:nvPr/>
        </p:nvCxnSpPr>
        <p:spPr>
          <a:xfrm flipV="1">
            <a:off x="17618926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17618926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17896592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6" name="cell|Martiny et al., 2006 - Microarray - MED4|COG3754|absent"/>
          <p:cNvSpPr/>
          <p:nvPr/>
        </p:nvSpPr>
        <p:spPr>
          <a:xfrm>
            <a:off x="18174257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7" name="Connector 1016"/>
          <p:cNvCxnSpPr/>
          <p:nvPr/>
        </p:nvCxnSpPr>
        <p:spPr>
          <a:xfrm flipV="1">
            <a:off x="18174257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18174257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18451922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cell|Martiny et al., 2006 - Microarray - MED4|COG0399|ns"/>
          <p:cNvSpPr/>
          <p:nvPr/>
        </p:nvSpPr>
        <p:spPr>
          <a:xfrm>
            <a:off x="18729588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TextBox 1020"/>
          <p:cNvSpPr txBox="1"/>
          <p:nvPr/>
        </p:nvSpPr>
        <p:spPr>
          <a:xfrm>
            <a:off x="18729588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022" name="cell|Martiny et al., 2006 - Microarray - MED4|COG0673|ns"/>
          <p:cNvSpPr/>
          <p:nvPr/>
        </p:nvSpPr>
        <p:spPr>
          <a:xfrm>
            <a:off x="19284919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19284919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24" name="cell|Martiny et al., 2006 - Microarray - MED4|COG0810|absent"/>
          <p:cNvSpPr/>
          <p:nvPr/>
        </p:nvSpPr>
        <p:spPr>
          <a:xfrm>
            <a:off x="19840249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5" name="Connector 1024"/>
          <p:cNvCxnSpPr/>
          <p:nvPr/>
        </p:nvCxnSpPr>
        <p:spPr>
          <a:xfrm flipV="1">
            <a:off x="19840249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19840249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20117915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cell|Martiny et al., 2006 - Microarray - MED4|COG3206|absent"/>
          <p:cNvSpPr/>
          <p:nvPr/>
        </p:nvSpPr>
        <p:spPr>
          <a:xfrm>
            <a:off x="20395580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9" name="Connector 1028"/>
          <p:cNvCxnSpPr/>
          <p:nvPr/>
        </p:nvCxnSpPr>
        <p:spPr>
          <a:xfrm flipV="1">
            <a:off x="20395580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20395580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20673245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cell|Martiny et al., 2006 - Microarray - MED4|COG1596|ns"/>
          <p:cNvSpPr/>
          <p:nvPr/>
        </p:nvSpPr>
        <p:spPr>
          <a:xfrm>
            <a:off x="20950911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TextBox 1032"/>
          <p:cNvSpPr txBox="1"/>
          <p:nvPr/>
        </p:nvSpPr>
        <p:spPr>
          <a:xfrm>
            <a:off x="20950911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34" name="cell|Martiny et al., 2006 - Microarray - MED4|COG1462|absent"/>
          <p:cNvSpPr/>
          <p:nvPr/>
        </p:nvSpPr>
        <p:spPr>
          <a:xfrm>
            <a:off x="21506241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5" name="Connector 1034"/>
          <p:cNvCxnSpPr/>
          <p:nvPr/>
        </p:nvCxnSpPr>
        <p:spPr>
          <a:xfrm flipV="1">
            <a:off x="21506241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21506241" y="7324344"/>
            <a:ext cx="277666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V="1">
            <a:off x="21783907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cell|Martiny et al., 2006 - Microarray - MED4|COG3210|ns"/>
          <p:cNvSpPr/>
          <p:nvPr/>
        </p:nvSpPr>
        <p:spPr>
          <a:xfrm>
            <a:off x="22061572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22061572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40" name="cell|Martiny et al., 2006 - Microarray - MED4|COG2010|ns"/>
          <p:cNvSpPr/>
          <p:nvPr/>
        </p:nvSpPr>
        <p:spPr>
          <a:xfrm>
            <a:off x="22616903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22616903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42" name="cell|Martiny et al., 2006 - Microarray - MED4|COG2114|absent"/>
          <p:cNvSpPr/>
          <p:nvPr/>
        </p:nvSpPr>
        <p:spPr>
          <a:xfrm>
            <a:off x="23172234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3" name="Connector 1042"/>
          <p:cNvCxnSpPr/>
          <p:nvPr/>
        </p:nvCxnSpPr>
        <p:spPr>
          <a:xfrm flipV="1">
            <a:off x="23172234" y="7324344"/>
            <a:ext cx="555330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V="1">
            <a:off x="23172234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V="1">
            <a:off x="23449899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cell|Martiny et al., 2006 - Microarray - MED4|COG0454|ns"/>
          <p:cNvSpPr/>
          <p:nvPr/>
        </p:nvSpPr>
        <p:spPr>
          <a:xfrm>
            <a:off x="23727564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TextBox 1046"/>
          <p:cNvSpPr txBox="1"/>
          <p:nvPr/>
        </p:nvSpPr>
        <p:spPr>
          <a:xfrm>
            <a:off x="23727564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48" name="cell|Martiny et al., 2006 - Microarray - MED4|COG2931|absent"/>
          <p:cNvSpPr/>
          <p:nvPr/>
        </p:nvSpPr>
        <p:spPr>
          <a:xfrm>
            <a:off x="24282895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9" name="Connector 1048"/>
          <p:cNvCxnSpPr/>
          <p:nvPr/>
        </p:nvCxnSpPr>
        <p:spPr>
          <a:xfrm flipV="1">
            <a:off x="24282895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24282895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24560560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cell|Martiny et al., 2006 - Microarray - MED4|COG0412|absent"/>
          <p:cNvSpPr/>
          <p:nvPr/>
        </p:nvSpPr>
        <p:spPr>
          <a:xfrm>
            <a:off x="24838226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3" name="Connector 1052"/>
          <p:cNvCxnSpPr/>
          <p:nvPr/>
        </p:nvCxnSpPr>
        <p:spPr>
          <a:xfrm flipV="1">
            <a:off x="24838226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24838226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25115891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cell|Martiny et al., 2006 - Microarray - MED4|COG4252|absent"/>
          <p:cNvSpPr/>
          <p:nvPr/>
        </p:nvSpPr>
        <p:spPr>
          <a:xfrm>
            <a:off x="25393557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7" name="Connector 1056"/>
          <p:cNvCxnSpPr/>
          <p:nvPr/>
        </p:nvCxnSpPr>
        <p:spPr>
          <a:xfrm flipV="1">
            <a:off x="25393557" y="7324344"/>
            <a:ext cx="555330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25393557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25671222" y="7607808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cell|Martiny et al., 2006 - Microarray - MED4|COG2192|ns"/>
          <p:cNvSpPr/>
          <p:nvPr/>
        </p:nvSpPr>
        <p:spPr>
          <a:xfrm>
            <a:off x="25948887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TextBox 1060"/>
          <p:cNvSpPr txBox="1"/>
          <p:nvPr/>
        </p:nvSpPr>
        <p:spPr>
          <a:xfrm>
            <a:off x="25948887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62" name="cell|Martiny et al., 2006 - Microarray - MED4|COG2159|ns"/>
          <p:cNvSpPr/>
          <p:nvPr/>
        </p:nvSpPr>
        <p:spPr>
          <a:xfrm>
            <a:off x="26504218" y="7324344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26504218" y="7324344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64" name="cell|Martiny et al., 2006 - Microarray - MED4|COG5651|absent"/>
          <p:cNvSpPr/>
          <p:nvPr/>
        </p:nvSpPr>
        <p:spPr>
          <a:xfrm>
            <a:off x="27059549" y="7324344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5" name="Connector 1064"/>
          <p:cNvCxnSpPr/>
          <p:nvPr/>
        </p:nvCxnSpPr>
        <p:spPr>
          <a:xfrm flipV="1">
            <a:off x="27059549" y="7324344"/>
            <a:ext cx="555331" cy="566927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27059549" y="7324344"/>
            <a:ext cx="277665" cy="283464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27337214" y="7607808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8" name="TextBox 1067"/>
          <p:cNvSpPr txBox="1"/>
          <p:nvPr/>
        </p:nvSpPr>
        <p:spPr>
          <a:xfrm>
            <a:off x="914400" y="7891271"/>
            <a:ext cx="37033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0B0B0B"/>
                </a:solidFill>
                <a:latin typeface="Arial"/>
              </a:rPr>
              <a:t>Martiny et al., 2006 - Microarray - MIT9313*</a:t>
            </a:r>
          </a:p>
        </p:txBody>
      </p:sp>
      <p:sp>
        <p:nvSpPr>
          <p:cNvPr id="1069" name="cell|Martiny et al., 2006 - Microarray - MIT9313*|COG0188|ns"/>
          <p:cNvSpPr/>
          <p:nvPr/>
        </p:nvSpPr>
        <p:spPr>
          <a:xfrm>
            <a:off x="4846320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4846320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71" name="cell|Martiny et al., 2006 - Microarray - MIT9313*|COG1787|absent"/>
          <p:cNvSpPr/>
          <p:nvPr/>
        </p:nvSpPr>
        <p:spPr>
          <a:xfrm>
            <a:off x="5401650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2" name="Connector 1071"/>
          <p:cNvCxnSpPr/>
          <p:nvPr/>
        </p:nvCxnSpPr>
        <p:spPr>
          <a:xfrm flipV="1">
            <a:off x="5401650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5401650" y="789127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5679316" y="817473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" name="cell|Martiny et al., 2006 - Microarray - MIT9313*|COG3727|absent"/>
          <p:cNvSpPr/>
          <p:nvPr/>
        </p:nvSpPr>
        <p:spPr>
          <a:xfrm>
            <a:off x="5956981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6" name="Connector 1075"/>
          <p:cNvCxnSpPr/>
          <p:nvPr/>
        </p:nvCxnSpPr>
        <p:spPr>
          <a:xfrm flipV="1">
            <a:off x="5956981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5956981" y="789127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6234646" y="817473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9" name="cell|Martiny et al., 2006 - Microarray - MIT9313*|COG1793|ns"/>
          <p:cNvSpPr/>
          <p:nvPr/>
        </p:nvSpPr>
        <p:spPr>
          <a:xfrm>
            <a:off x="6512312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512312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81" name="cell|Martiny et al., 2006 - Microarray - MIT9313*|COG0640|ns"/>
          <p:cNvSpPr/>
          <p:nvPr/>
        </p:nvSpPr>
        <p:spPr>
          <a:xfrm>
            <a:off x="7067642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7067642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83" name="cell|Martiny et al., 2006 - Microarray - MIT9313*|COG1403|ns"/>
          <p:cNvSpPr/>
          <p:nvPr/>
        </p:nvSpPr>
        <p:spPr>
          <a:xfrm>
            <a:off x="7622973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TextBox 1083"/>
          <p:cNvSpPr txBox="1"/>
          <p:nvPr/>
        </p:nvSpPr>
        <p:spPr>
          <a:xfrm>
            <a:off x="7622973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085" name="cell|Martiny et al., 2006 - Microarray - MIT9313*|COG2214|ns"/>
          <p:cNvSpPr/>
          <p:nvPr/>
        </p:nvSpPr>
        <p:spPr>
          <a:xfrm>
            <a:off x="8178304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8178304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0/7/7</a:t>
            </a:r>
          </a:p>
        </p:txBody>
      </p:sp>
      <p:sp>
        <p:nvSpPr>
          <p:cNvPr id="1087" name="cell|Martiny et al., 2006 - Microarray - MIT9313*|COG0443|ns"/>
          <p:cNvSpPr/>
          <p:nvPr/>
        </p:nvSpPr>
        <p:spPr>
          <a:xfrm>
            <a:off x="8733635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8733635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0/5/5</a:t>
            </a:r>
          </a:p>
        </p:txBody>
      </p:sp>
      <p:sp>
        <p:nvSpPr>
          <p:cNvPr id="1089" name="cell|Martiny et al., 2006 - Microarray - MIT9313*|COG0484|ns"/>
          <p:cNvSpPr/>
          <p:nvPr/>
        </p:nvSpPr>
        <p:spPr>
          <a:xfrm>
            <a:off x="9288965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TextBox 1089"/>
          <p:cNvSpPr txBox="1"/>
          <p:nvPr/>
        </p:nvSpPr>
        <p:spPr>
          <a:xfrm>
            <a:off x="9288965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091" name="cell|Martiny et al., 2006 - Microarray - MIT9313*|COG0330|ns"/>
          <p:cNvSpPr/>
          <p:nvPr/>
        </p:nvSpPr>
        <p:spPr>
          <a:xfrm>
            <a:off x="9844296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TextBox 1091"/>
          <p:cNvSpPr txBox="1"/>
          <p:nvPr/>
        </p:nvSpPr>
        <p:spPr>
          <a:xfrm>
            <a:off x="9844296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093" name="cell|Martiny et al., 2006 - Microarray - MIT9313*|COG1187|ns"/>
          <p:cNvSpPr/>
          <p:nvPr/>
        </p:nvSpPr>
        <p:spPr>
          <a:xfrm>
            <a:off x="10399627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10399627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095" name="cell|Martiny et al., 2006 - Microarray - MIT9313*|COG1454|ns"/>
          <p:cNvSpPr/>
          <p:nvPr/>
        </p:nvSpPr>
        <p:spPr>
          <a:xfrm>
            <a:off x="10954958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TextBox 1095"/>
          <p:cNvSpPr txBox="1"/>
          <p:nvPr/>
        </p:nvSpPr>
        <p:spPr>
          <a:xfrm>
            <a:off x="10954958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097" name="cell|Martiny et al., 2006 - Microarray - MIT9313*|COG2370|down"/>
          <p:cNvSpPr/>
          <p:nvPr/>
        </p:nvSpPr>
        <p:spPr>
          <a:xfrm>
            <a:off x="11510288" y="7891271"/>
            <a:ext cx="555330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TextBox 1097"/>
          <p:cNvSpPr txBox="1"/>
          <p:nvPr/>
        </p:nvSpPr>
        <p:spPr>
          <a:xfrm>
            <a:off x="11510288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1099" name="cell|Martiny et al., 2006 - Microarray - MIT9313*|COG0367|absent"/>
          <p:cNvSpPr/>
          <p:nvPr/>
        </p:nvSpPr>
        <p:spPr>
          <a:xfrm>
            <a:off x="12065619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0" name="Connector 1099"/>
          <p:cNvCxnSpPr/>
          <p:nvPr/>
        </p:nvCxnSpPr>
        <p:spPr>
          <a:xfrm flipV="1">
            <a:off x="12065619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V="1">
            <a:off x="12065619" y="789127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 flipV="1">
            <a:off x="12343284" y="817473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3" name="cell|Martiny et al., 2006 - Microarray - MIT9313*|COG0082|ns"/>
          <p:cNvSpPr/>
          <p:nvPr/>
        </p:nvSpPr>
        <p:spPr>
          <a:xfrm>
            <a:off x="12620950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TextBox 1103"/>
          <p:cNvSpPr txBox="1"/>
          <p:nvPr/>
        </p:nvSpPr>
        <p:spPr>
          <a:xfrm>
            <a:off x="12620950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105" name="cell|Martiny et al., 2006 - Microarray - MIT9313*|COG2274|ns"/>
          <p:cNvSpPr/>
          <p:nvPr/>
        </p:nvSpPr>
        <p:spPr>
          <a:xfrm>
            <a:off x="13176280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13176280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107" name="cell|Martiny et al., 2006 - Microarray - MIT9313*|COG1989|ns"/>
          <p:cNvSpPr/>
          <p:nvPr/>
        </p:nvSpPr>
        <p:spPr>
          <a:xfrm>
            <a:off x="13731611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TextBox 1107"/>
          <p:cNvSpPr txBox="1"/>
          <p:nvPr/>
        </p:nvSpPr>
        <p:spPr>
          <a:xfrm>
            <a:off x="13731611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09" name="cell|Martiny et al., 2006 - Microarray - MIT9313*|COG0845|ns"/>
          <p:cNvSpPr/>
          <p:nvPr/>
        </p:nvSpPr>
        <p:spPr>
          <a:xfrm>
            <a:off x="14286942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TextBox 1109"/>
          <p:cNvSpPr txBox="1"/>
          <p:nvPr/>
        </p:nvSpPr>
        <p:spPr>
          <a:xfrm>
            <a:off x="14286942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0/11/11</a:t>
            </a:r>
          </a:p>
        </p:txBody>
      </p:sp>
      <p:sp>
        <p:nvSpPr>
          <p:cNvPr id="1111" name="cell|Martiny et al., 2006 - Microarray - MIT9313*|COG0488|ns"/>
          <p:cNvSpPr/>
          <p:nvPr/>
        </p:nvSpPr>
        <p:spPr>
          <a:xfrm>
            <a:off x="14842273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14842273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0/6/6</a:t>
            </a:r>
          </a:p>
        </p:txBody>
      </p:sp>
      <p:sp>
        <p:nvSpPr>
          <p:cNvPr id="1113" name="cell|Martiny et al., 2006 - Microarray - MIT9313*|COG0697|down"/>
          <p:cNvSpPr/>
          <p:nvPr/>
        </p:nvSpPr>
        <p:spPr>
          <a:xfrm>
            <a:off x="15397603" y="7891271"/>
            <a:ext cx="555330" cy="566928"/>
          </a:xfrm>
          <a:prstGeom prst="rect">
            <a:avLst/>
          </a:prstGeom>
          <a:solidFill>
            <a:srgbClr val="8097AE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TextBox 1113"/>
          <p:cNvSpPr txBox="1"/>
          <p:nvPr/>
        </p:nvSpPr>
        <p:spPr>
          <a:xfrm>
            <a:off x="15397603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1/11/11</a:t>
            </a:r>
          </a:p>
        </p:txBody>
      </p:sp>
      <p:sp>
        <p:nvSpPr>
          <p:cNvPr id="1115" name="cell|Martiny et al., 2006 - Microarray - MIT9313*|COG3839|up"/>
          <p:cNvSpPr/>
          <p:nvPr/>
        </p:nvSpPr>
        <p:spPr>
          <a:xfrm>
            <a:off x="15952934" y="7891271"/>
            <a:ext cx="555330" cy="566928"/>
          </a:xfrm>
          <a:prstGeom prst="rect">
            <a:avLst/>
          </a:prstGeom>
          <a:solidFill>
            <a:srgbClr val="C67872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15952934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1/3/3</a:t>
            </a:r>
          </a:p>
        </p:txBody>
      </p:sp>
      <p:sp>
        <p:nvSpPr>
          <p:cNvPr id="1117" name="cell|Martiny et al., 2006 - Microarray - MIT9313*|COG1212|ns"/>
          <p:cNvSpPr/>
          <p:nvPr/>
        </p:nvSpPr>
        <p:spPr>
          <a:xfrm>
            <a:off x="16508265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16508265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19" name="cell|Martiny et al., 2006 - Microarray - MIT9313*|COG0477|up"/>
          <p:cNvSpPr/>
          <p:nvPr/>
        </p:nvSpPr>
        <p:spPr>
          <a:xfrm>
            <a:off x="17063596" y="7891271"/>
            <a:ext cx="555330" cy="566928"/>
          </a:xfrm>
          <a:prstGeom prst="rect">
            <a:avLst/>
          </a:prstGeom>
          <a:solidFill>
            <a:srgbClr val="B88D84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17063596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1/34/34</a:t>
            </a:r>
          </a:p>
        </p:txBody>
      </p:sp>
      <p:sp>
        <p:nvSpPr>
          <p:cNvPr id="1121" name="cell|Martiny et al., 2006 - Microarray - MIT9313*|COG1472|ns"/>
          <p:cNvSpPr/>
          <p:nvPr/>
        </p:nvSpPr>
        <p:spPr>
          <a:xfrm>
            <a:off x="17618926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17618926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23" name="cell|Martiny et al., 2006 - Microarray - MIT9313*|COG3754|ns"/>
          <p:cNvSpPr/>
          <p:nvPr/>
        </p:nvSpPr>
        <p:spPr>
          <a:xfrm>
            <a:off x="18174257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18174257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25" name="cell|Martiny et al., 2006 - Microarray - MIT9313*|COG0399|ns"/>
          <p:cNvSpPr/>
          <p:nvPr/>
        </p:nvSpPr>
        <p:spPr>
          <a:xfrm>
            <a:off x="18729588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TextBox 1125"/>
          <p:cNvSpPr txBox="1"/>
          <p:nvPr/>
        </p:nvSpPr>
        <p:spPr>
          <a:xfrm>
            <a:off x="18729588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27" name="cell|Martiny et al., 2006 - Microarray - MIT9313*|COG0673|ns"/>
          <p:cNvSpPr/>
          <p:nvPr/>
        </p:nvSpPr>
        <p:spPr>
          <a:xfrm>
            <a:off x="19284919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19284919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29" name="cell|Martiny et al., 2006 - Microarray - MIT9313*|COG0810|ns"/>
          <p:cNvSpPr/>
          <p:nvPr/>
        </p:nvSpPr>
        <p:spPr>
          <a:xfrm>
            <a:off x="19840249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TextBox 1129"/>
          <p:cNvSpPr txBox="1"/>
          <p:nvPr/>
        </p:nvSpPr>
        <p:spPr>
          <a:xfrm>
            <a:off x="19840249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31" name="cell|Martiny et al., 2006 - Microarray - MIT9313*|COG3206|absent"/>
          <p:cNvSpPr/>
          <p:nvPr/>
        </p:nvSpPr>
        <p:spPr>
          <a:xfrm>
            <a:off x="20395580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2" name="Connector 1131"/>
          <p:cNvCxnSpPr/>
          <p:nvPr/>
        </p:nvCxnSpPr>
        <p:spPr>
          <a:xfrm flipV="1">
            <a:off x="20395580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V="1">
            <a:off x="20395580" y="789127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V="1">
            <a:off x="20673245" y="817473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5" name="cell|Martiny et al., 2006 - Microarray - MIT9313*|COG1596|absent"/>
          <p:cNvSpPr/>
          <p:nvPr/>
        </p:nvSpPr>
        <p:spPr>
          <a:xfrm>
            <a:off x="20950911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6" name="Connector 1135"/>
          <p:cNvCxnSpPr/>
          <p:nvPr/>
        </p:nvCxnSpPr>
        <p:spPr>
          <a:xfrm flipV="1">
            <a:off x="20950911" y="7891271"/>
            <a:ext cx="555330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 flipV="1">
            <a:off x="20950911" y="789127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 flipV="1">
            <a:off x="21228576" y="817473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cell|Martiny et al., 2006 - Microarray - MIT9313*|COG1462|down"/>
          <p:cNvSpPr/>
          <p:nvPr/>
        </p:nvSpPr>
        <p:spPr>
          <a:xfrm>
            <a:off x="21506241" y="7891271"/>
            <a:ext cx="555330" cy="566928"/>
          </a:xfrm>
          <a:prstGeom prst="rect">
            <a:avLst/>
          </a:prstGeom>
          <a:solidFill>
            <a:srgbClr val="2A78D6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21506241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1/1/1</a:t>
            </a:r>
          </a:p>
        </p:txBody>
      </p:sp>
      <p:sp>
        <p:nvSpPr>
          <p:cNvPr id="1141" name="cell|Martiny et al., 2006 - Microarray - MIT9313*|COG3210|ns"/>
          <p:cNvSpPr/>
          <p:nvPr/>
        </p:nvSpPr>
        <p:spPr>
          <a:xfrm>
            <a:off x="22061572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TextBox 1141"/>
          <p:cNvSpPr txBox="1"/>
          <p:nvPr/>
        </p:nvSpPr>
        <p:spPr>
          <a:xfrm>
            <a:off x="22061572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0/2/2</a:t>
            </a:r>
          </a:p>
        </p:txBody>
      </p:sp>
      <p:sp>
        <p:nvSpPr>
          <p:cNvPr id="1143" name="cell|Martiny et al., 2006 - Microarray - MIT9313*|COG2010|ns"/>
          <p:cNvSpPr/>
          <p:nvPr/>
        </p:nvSpPr>
        <p:spPr>
          <a:xfrm>
            <a:off x="22616903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TextBox 1143"/>
          <p:cNvSpPr txBox="1"/>
          <p:nvPr/>
        </p:nvSpPr>
        <p:spPr>
          <a:xfrm>
            <a:off x="22616903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0/3/3</a:t>
            </a:r>
          </a:p>
        </p:txBody>
      </p:sp>
      <p:sp>
        <p:nvSpPr>
          <p:cNvPr id="1145" name="cell|Martiny et al., 2006 - Microarray - MIT9313*|COG2114|ns"/>
          <p:cNvSpPr/>
          <p:nvPr/>
        </p:nvSpPr>
        <p:spPr>
          <a:xfrm>
            <a:off x="23172234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23172234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47" name="cell|Martiny et al., 2006 - Microarray - MIT9313*|COG0454|ns"/>
          <p:cNvSpPr/>
          <p:nvPr/>
        </p:nvSpPr>
        <p:spPr>
          <a:xfrm>
            <a:off x="23727564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TextBox 1147"/>
          <p:cNvSpPr txBox="1"/>
          <p:nvPr/>
        </p:nvSpPr>
        <p:spPr>
          <a:xfrm>
            <a:off x="23727564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0/8/8</a:t>
            </a:r>
          </a:p>
        </p:txBody>
      </p:sp>
      <p:sp>
        <p:nvSpPr>
          <p:cNvPr id="1149" name="cell|Martiny et al., 2006 - Microarray - MIT9313*|COG2931|ns"/>
          <p:cNvSpPr/>
          <p:nvPr/>
        </p:nvSpPr>
        <p:spPr>
          <a:xfrm>
            <a:off x="24282895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4282895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0/4/4</a:t>
            </a:r>
          </a:p>
        </p:txBody>
      </p:sp>
      <p:sp>
        <p:nvSpPr>
          <p:cNvPr id="1151" name="cell|Martiny et al., 2006 - Microarray - MIT9313*|COG0412|ns"/>
          <p:cNvSpPr/>
          <p:nvPr/>
        </p:nvSpPr>
        <p:spPr>
          <a:xfrm>
            <a:off x="24838226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Box 1151"/>
          <p:cNvSpPr txBox="1"/>
          <p:nvPr/>
        </p:nvSpPr>
        <p:spPr>
          <a:xfrm>
            <a:off x="24838226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53" name="cell|Martiny et al., 2006 - Microarray - MIT9313*|COG4252|ns"/>
          <p:cNvSpPr/>
          <p:nvPr/>
        </p:nvSpPr>
        <p:spPr>
          <a:xfrm>
            <a:off x="25393557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25393557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sp>
        <p:nvSpPr>
          <p:cNvPr id="1155" name="cell|Martiny et al., 2006 - Microarray - MIT9313*|COG2192|absent"/>
          <p:cNvSpPr/>
          <p:nvPr/>
        </p:nvSpPr>
        <p:spPr>
          <a:xfrm>
            <a:off x="25948887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6" name="Connector 1155"/>
          <p:cNvCxnSpPr/>
          <p:nvPr/>
        </p:nvCxnSpPr>
        <p:spPr>
          <a:xfrm flipV="1">
            <a:off x="25948887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V="1">
            <a:off x="25948887" y="7891271"/>
            <a:ext cx="277666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V="1">
            <a:off x="26226553" y="8174736"/>
            <a:ext cx="277665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cell|Martiny et al., 2006 - Microarray - MIT9313*|COG2159|absent"/>
          <p:cNvSpPr/>
          <p:nvPr/>
        </p:nvSpPr>
        <p:spPr>
          <a:xfrm>
            <a:off x="26504218" y="7891271"/>
            <a:ext cx="555330" cy="566928"/>
          </a:xfrm>
          <a:prstGeom prst="rect">
            <a:avLst/>
          </a:prstGeom>
          <a:solidFill>
            <a:srgbClr val="FDFCF9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0" name="Connector 1159"/>
          <p:cNvCxnSpPr/>
          <p:nvPr/>
        </p:nvCxnSpPr>
        <p:spPr>
          <a:xfrm flipV="1">
            <a:off x="26504218" y="7891271"/>
            <a:ext cx="555331" cy="566928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26504218" y="7891271"/>
            <a:ext cx="277665" cy="283465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V="1">
            <a:off x="26781883" y="8174736"/>
            <a:ext cx="277666" cy="283463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cell|Martiny et al., 2006 - Microarray - MIT9313*|COG5651|ns"/>
          <p:cNvSpPr/>
          <p:nvPr/>
        </p:nvSpPr>
        <p:spPr>
          <a:xfrm>
            <a:off x="27059549" y="7891271"/>
            <a:ext cx="555330" cy="566928"/>
          </a:xfrm>
          <a:prstGeom prst="rect">
            <a:avLst/>
          </a:prstGeom>
          <a:solidFill>
            <a:srgbClr val="A8A69B"/>
          </a:solidFill>
          <a:ln w="12700">
            <a:solidFill>
              <a:srgbClr val="D7D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TextBox 1163"/>
          <p:cNvSpPr txBox="1"/>
          <p:nvPr/>
        </p:nvSpPr>
        <p:spPr>
          <a:xfrm>
            <a:off x="27059549" y="7891271"/>
            <a:ext cx="55533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B0B0B"/>
                </a:solidFill>
                <a:latin typeface="Arial"/>
              </a:rPr>
              <a:t>0/1/1</a:t>
            </a:r>
          </a:p>
        </p:txBody>
      </p:sp>
      <p:cxnSp>
        <p:nvCxnSpPr>
          <p:cNvPr id="1165" name="Connector 1164"/>
          <p:cNvCxnSpPr/>
          <p:nvPr/>
        </p:nvCxnSpPr>
        <p:spPr>
          <a:xfrm>
            <a:off x="594360" y="2816351"/>
            <a:ext cx="0" cy="2779777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>
            <a:off x="594360" y="2816351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>
            <a:off x="594360" y="5596128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TextBox 1167"/>
          <p:cNvSpPr txBox="1"/>
          <p:nvPr/>
        </p:nvSpPr>
        <p:spPr>
          <a:xfrm rot="16200000">
            <a:off x="-365760" y="4069079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Nitrogen starvation</a:t>
            </a:r>
          </a:p>
        </p:txBody>
      </p:sp>
      <p:cxnSp>
        <p:nvCxnSpPr>
          <p:cNvPr id="1169" name="Connector 1168"/>
          <p:cNvCxnSpPr/>
          <p:nvPr/>
        </p:nvCxnSpPr>
        <p:spPr>
          <a:xfrm>
            <a:off x="594360" y="5650992"/>
            <a:ext cx="0" cy="2779776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>
            <a:off x="594360" y="5650992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594360" y="8430768"/>
            <a:ext cx="91440" cy="0"/>
          </a:xfrm>
          <a:prstGeom prst="line">
            <a:avLst/>
          </a:prstGeom>
          <a:ln w="2032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TextBox 1171"/>
          <p:cNvSpPr txBox="1"/>
          <p:nvPr/>
        </p:nvSpPr>
        <p:spPr>
          <a:xfrm rot="16200000">
            <a:off x="-365760" y="6903720"/>
            <a:ext cx="19202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0B0B0B"/>
                </a:solidFill>
                <a:latin typeface="Arial"/>
              </a:rPr>
              <a:t>Phosphorus starvation</a:t>
            </a:r>
          </a:p>
        </p:txBody>
      </p:sp>
      <p:sp>
        <p:nvSpPr>
          <p:cNvPr id="1173" name="Rectangle 1172"/>
          <p:cNvSpPr/>
          <p:nvPr/>
        </p:nvSpPr>
        <p:spPr>
          <a:xfrm>
            <a:off x="4846320" y="5612587"/>
            <a:ext cx="22768560" cy="25603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8167331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10943985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16497292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19829276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20384607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21495269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22605930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23161261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24271922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24827253" y="2788920"/>
            <a:ext cx="18288" cy="5669280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4846320" y="10012680"/>
            <a:ext cx="274320" cy="274320"/>
          </a:xfrm>
          <a:prstGeom prst="rect">
            <a:avLst/>
          </a:prstGeom>
          <a:solidFill>
            <a:srgbClr val="E34948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TextBox 1184"/>
          <p:cNvSpPr txBox="1"/>
          <p:nvPr/>
        </p:nvSpPr>
        <p:spPr>
          <a:xfrm>
            <a:off x="5230368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Upregulated (most of COG's genes)</a:t>
            </a:r>
          </a:p>
        </p:txBody>
      </p:sp>
      <p:sp>
        <p:nvSpPr>
          <p:cNvPr id="1186" name="Rectangle 1185"/>
          <p:cNvSpPr/>
          <p:nvPr/>
        </p:nvSpPr>
        <p:spPr>
          <a:xfrm>
            <a:off x="7951622" y="10012680"/>
            <a:ext cx="274320" cy="274320"/>
          </a:xfrm>
          <a:prstGeom prst="rect">
            <a:avLst/>
          </a:prstGeom>
          <a:solidFill>
            <a:srgbClr val="2A78D6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8335670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Downregulated</a:t>
            </a:r>
          </a:p>
        </p:txBody>
      </p:sp>
      <p:sp>
        <p:nvSpPr>
          <p:cNvPr id="1188" name="Rectangle 1187"/>
          <p:cNvSpPr/>
          <p:nvPr/>
        </p:nvSpPr>
        <p:spPr>
          <a:xfrm>
            <a:off x="9740188" y="10012680"/>
            <a:ext cx="274320" cy="274320"/>
          </a:xfrm>
          <a:prstGeom prst="rect">
            <a:avLst/>
          </a:prstGeom>
          <a:solidFill>
            <a:srgbClr val="E8913A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10124236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Both up- and downregulated genes</a:t>
            </a:r>
          </a:p>
        </p:txBody>
      </p:sp>
      <p:sp>
        <p:nvSpPr>
          <p:cNvPr id="1190" name="Rectangle 1189"/>
          <p:cNvSpPr/>
          <p:nvPr/>
        </p:nvSpPr>
        <p:spPr>
          <a:xfrm>
            <a:off x="12779654" y="10012680"/>
            <a:ext cx="274320" cy="274320"/>
          </a:xfrm>
          <a:prstGeom prst="rect">
            <a:avLst/>
          </a:prstGeom>
          <a:solidFill>
            <a:srgbClr val="A8A69B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TextBox 1190"/>
          <p:cNvSpPr txBox="1"/>
          <p:nvPr/>
        </p:nvSpPr>
        <p:spPr>
          <a:xfrm>
            <a:off x="13163702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Tested, no gene significant</a:t>
            </a:r>
          </a:p>
        </p:txBody>
      </p:sp>
      <p:sp>
        <p:nvSpPr>
          <p:cNvPr id="1192" name="Rectangle 1191"/>
          <p:cNvSpPr/>
          <p:nvPr/>
        </p:nvSpPr>
        <p:spPr>
          <a:xfrm>
            <a:off x="15489935" y="10012680"/>
            <a:ext cx="274320" cy="274320"/>
          </a:xfrm>
          <a:prstGeom prst="rect">
            <a:avLst/>
          </a:prstGeom>
          <a:solidFill>
            <a:srgbClr val="E7E4D8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15873984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No data (COG present, not in table)</a:t>
            </a:r>
          </a:p>
        </p:txBody>
      </p:sp>
      <p:sp>
        <p:nvSpPr>
          <p:cNvPr id="1194" name="Rectangle 1193"/>
          <p:cNvSpPr/>
          <p:nvPr/>
        </p:nvSpPr>
        <p:spPr>
          <a:xfrm>
            <a:off x="18726911" y="10012680"/>
            <a:ext cx="274320" cy="274320"/>
          </a:xfrm>
          <a:prstGeom prst="rect">
            <a:avLst/>
          </a:prstGeom>
          <a:solidFill>
            <a:srgbClr val="FDFCF9"/>
          </a:solidFill>
          <a:ln w="9525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5" name="Connector 1194"/>
          <p:cNvCxnSpPr/>
          <p:nvPr/>
        </p:nvCxnSpPr>
        <p:spPr>
          <a:xfrm flipV="1">
            <a:off x="18726911" y="10012680"/>
            <a:ext cx="274320" cy="27432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V="1">
            <a:off x="18726911" y="10012680"/>
            <a:ext cx="137160" cy="13716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V="1">
            <a:off x="18864071" y="10149840"/>
            <a:ext cx="137160" cy="137160"/>
          </a:xfrm>
          <a:prstGeom prst="line">
            <a:avLst/>
          </a:prstGeom>
          <a:ln w="10160">
            <a:solidFill>
              <a:srgbClr val="9A98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8" name="TextBox 1197"/>
          <p:cNvSpPr txBox="1"/>
          <p:nvPr/>
        </p:nvSpPr>
        <p:spPr>
          <a:xfrm>
            <a:off x="19110960" y="9994392"/>
            <a:ext cx="36576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B0B0B"/>
                </a:solidFill>
                <a:latin typeface="Arial"/>
              </a:rPr>
              <a:t>COG absent from strain genome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
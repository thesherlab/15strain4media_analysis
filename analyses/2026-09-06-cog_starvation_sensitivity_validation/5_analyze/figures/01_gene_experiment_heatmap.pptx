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01168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0" cy="82296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938528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0B0B"/>
                </a:solidFill>
                <a:latin typeface="Calibri"/>
              </a:rPr>
              <a:t>41 candidate starvation-sensitivity COGs vs. nutrient-starvation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19385280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898781"/>
                </a:solidFill>
                <a:latin typeface="Calibri"/>
              </a:rPr>
              <a:t>cell text k / n / m = significant / measured in this experiment / copies in that strain's genome  ·  fill = dominant direction, blended toward grey by k/n  ·  columns grouped by functional category  ·  * Martiny MIT9313 at 24h (no 48h row); table-absent COGs = not significant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27832" y="2103120"/>
            <a:ext cx="2380562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1591056"/>
            <a:ext cx="3166946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Quality control - DNA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3258" y="2103120"/>
            <a:ext cx="1974657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70066" y="1591056"/>
            <a:ext cx="2761041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Quality control - Protein level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7692780" y="2103120"/>
            <a:ext cx="4004179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9588" y="1591056"/>
            <a:ext cx="4790563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Amino acid &amp; mixotrophy biosynthesis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51824" y="2103120"/>
            <a:ext cx="2380562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58632" y="1591056"/>
            <a:ext cx="3166946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LPS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187250" y="2103120"/>
            <a:ext cx="35104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94058" y="1591056"/>
            <a:ext cx="1137424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Membrane linker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593154" y="2103120"/>
            <a:ext cx="756944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99962" y="1591056"/>
            <a:ext cx="1543328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Exopolysaccharide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404963" y="2103120"/>
            <a:ext cx="756944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11771" y="1591056"/>
            <a:ext cx="1543328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Biofilm / Attachment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216772" y="2103120"/>
            <a:ext cx="35104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23580" y="1591056"/>
            <a:ext cx="1137424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Energy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622676" y="2103120"/>
            <a:ext cx="756944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29484" y="1591056"/>
            <a:ext cx="1543328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Translation, transcription &amp; signalling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434485" y="2103120"/>
            <a:ext cx="351040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041293" y="1591056"/>
            <a:ext cx="1137424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RTX toxins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40390" y="2103120"/>
            <a:ext cx="1974657" cy="2011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447198" y="1591056"/>
            <a:ext cx="2761041" cy="457200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/>
            <a:r>
              <a:rPr sz="800" b="0">
                <a:solidFill>
                  <a:srgbClr val="0B0B0B"/>
                </a:solidFill>
                <a:latin typeface="Calibri"/>
              </a:rPr>
              <a:t>mixed</a:t>
            </a:r>
          </a:p>
        </p:txBody>
      </p:sp>
      <p:sp>
        <p:nvSpPr>
          <p:cNvPr id="27" name="TextBox 26"/>
          <p:cNvSpPr txBox="1"/>
          <p:nvPr/>
        </p:nvSpPr>
        <p:spPr>
          <a:xfrm rot="18000000">
            <a:off x="2488952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GyrA  COG0188</a:t>
            </a:r>
          </a:p>
        </p:txBody>
      </p:sp>
      <p:sp>
        <p:nvSpPr>
          <p:cNvPr id="28" name="TextBox 27"/>
          <p:cNvSpPr txBox="1"/>
          <p:nvPr/>
        </p:nvSpPr>
        <p:spPr>
          <a:xfrm rot="18000000">
            <a:off x="2894856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Mrr  COG1787</a:t>
            </a:r>
          </a:p>
        </p:txBody>
      </p:sp>
      <p:sp>
        <p:nvSpPr>
          <p:cNvPr id="29" name="TextBox 28"/>
          <p:cNvSpPr txBox="1"/>
          <p:nvPr/>
        </p:nvSpPr>
        <p:spPr>
          <a:xfrm rot="18000000">
            <a:off x="3300760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Vsr  COG3727</a:t>
            </a:r>
          </a:p>
        </p:txBody>
      </p:sp>
      <p:sp>
        <p:nvSpPr>
          <p:cNvPr id="30" name="TextBox 29"/>
          <p:cNvSpPr txBox="1"/>
          <p:nvPr/>
        </p:nvSpPr>
        <p:spPr>
          <a:xfrm rot="18000000">
            <a:off x="3706665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CDC9  COG1793</a:t>
            </a:r>
          </a:p>
        </p:txBody>
      </p:sp>
      <p:sp>
        <p:nvSpPr>
          <p:cNvPr id="31" name="TextBox 30"/>
          <p:cNvSpPr txBox="1"/>
          <p:nvPr/>
        </p:nvSpPr>
        <p:spPr>
          <a:xfrm rot="18000000">
            <a:off x="4112569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smtB/ArsR  COG0640</a:t>
            </a:r>
          </a:p>
        </p:txBody>
      </p:sp>
      <p:sp>
        <p:nvSpPr>
          <p:cNvPr id="32" name="TextBox 31"/>
          <p:cNvSpPr txBox="1"/>
          <p:nvPr/>
        </p:nvSpPr>
        <p:spPr>
          <a:xfrm rot="18000000">
            <a:off x="4518474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McrA  COG1403</a:t>
            </a:r>
          </a:p>
        </p:txBody>
      </p:sp>
      <p:sp>
        <p:nvSpPr>
          <p:cNvPr id="33" name="TextBox 32"/>
          <p:cNvSpPr txBox="1"/>
          <p:nvPr/>
        </p:nvSpPr>
        <p:spPr>
          <a:xfrm rot="18000000">
            <a:off x="4924378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CbpA  COG2214</a:t>
            </a:r>
          </a:p>
        </p:txBody>
      </p:sp>
      <p:sp>
        <p:nvSpPr>
          <p:cNvPr id="34" name="TextBox 33"/>
          <p:cNvSpPr txBox="1"/>
          <p:nvPr/>
        </p:nvSpPr>
        <p:spPr>
          <a:xfrm rot="18000000">
            <a:off x="5330282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DnaK  COG0443</a:t>
            </a:r>
          </a:p>
        </p:txBody>
      </p:sp>
      <p:sp>
        <p:nvSpPr>
          <p:cNvPr id="35" name="TextBox 34"/>
          <p:cNvSpPr txBox="1"/>
          <p:nvPr/>
        </p:nvSpPr>
        <p:spPr>
          <a:xfrm rot="18000000">
            <a:off x="5736187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DnaJ  COG0484</a:t>
            </a:r>
          </a:p>
        </p:txBody>
      </p:sp>
      <p:sp>
        <p:nvSpPr>
          <p:cNvPr id="36" name="TextBox 35"/>
          <p:cNvSpPr txBox="1"/>
          <p:nvPr/>
        </p:nvSpPr>
        <p:spPr>
          <a:xfrm rot="18000000">
            <a:off x="6142091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HflC  COG0330</a:t>
            </a:r>
          </a:p>
        </p:txBody>
      </p:sp>
      <p:sp>
        <p:nvSpPr>
          <p:cNvPr id="37" name="TextBox 36"/>
          <p:cNvSpPr txBox="1"/>
          <p:nvPr/>
        </p:nvSpPr>
        <p:spPr>
          <a:xfrm rot="18000000">
            <a:off x="6547996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RsuA  COG1187</a:t>
            </a:r>
          </a:p>
        </p:txBody>
      </p:sp>
      <p:sp>
        <p:nvSpPr>
          <p:cNvPr id="38" name="TextBox 37"/>
          <p:cNvSpPr txBox="1"/>
          <p:nvPr/>
        </p:nvSpPr>
        <p:spPr>
          <a:xfrm rot="18000000">
            <a:off x="6953900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EutG  COG1454</a:t>
            </a:r>
          </a:p>
        </p:txBody>
      </p:sp>
      <p:sp>
        <p:nvSpPr>
          <p:cNvPr id="39" name="TextBox 38"/>
          <p:cNvSpPr txBox="1"/>
          <p:nvPr/>
        </p:nvSpPr>
        <p:spPr>
          <a:xfrm rot="18000000">
            <a:off x="7359804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HupE  COG2370</a:t>
            </a:r>
          </a:p>
        </p:txBody>
      </p:sp>
      <p:sp>
        <p:nvSpPr>
          <p:cNvPr id="40" name="TextBox 39"/>
          <p:cNvSpPr txBox="1"/>
          <p:nvPr/>
        </p:nvSpPr>
        <p:spPr>
          <a:xfrm rot="18000000">
            <a:off x="7765709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AsnB  COG0367</a:t>
            </a:r>
          </a:p>
        </p:txBody>
      </p:sp>
      <p:sp>
        <p:nvSpPr>
          <p:cNvPr id="41" name="TextBox 40"/>
          <p:cNvSpPr txBox="1"/>
          <p:nvPr/>
        </p:nvSpPr>
        <p:spPr>
          <a:xfrm rot="18000000">
            <a:off x="8171613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AroC  COG0082</a:t>
            </a:r>
          </a:p>
        </p:txBody>
      </p:sp>
      <p:sp>
        <p:nvSpPr>
          <p:cNvPr id="42" name="TextBox 41"/>
          <p:cNvSpPr txBox="1"/>
          <p:nvPr/>
        </p:nvSpPr>
        <p:spPr>
          <a:xfrm rot="18000000">
            <a:off x="8577518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SunT  COG2274</a:t>
            </a:r>
          </a:p>
        </p:txBody>
      </p:sp>
      <p:sp>
        <p:nvSpPr>
          <p:cNvPr id="43" name="TextBox 42"/>
          <p:cNvSpPr txBox="1"/>
          <p:nvPr/>
        </p:nvSpPr>
        <p:spPr>
          <a:xfrm rot="18000000">
            <a:off x="8983422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PulO  COG1989</a:t>
            </a:r>
          </a:p>
        </p:txBody>
      </p:sp>
      <p:sp>
        <p:nvSpPr>
          <p:cNvPr id="44" name="TextBox 43"/>
          <p:cNvSpPr txBox="1"/>
          <p:nvPr/>
        </p:nvSpPr>
        <p:spPr>
          <a:xfrm rot="18000000">
            <a:off x="9389326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AcrA  COG0845</a:t>
            </a:r>
          </a:p>
        </p:txBody>
      </p:sp>
      <p:sp>
        <p:nvSpPr>
          <p:cNvPr id="45" name="TextBox 44"/>
          <p:cNvSpPr txBox="1"/>
          <p:nvPr/>
        </p:nvSpPr>
        <p:spPr>
          <a:xfrm rot="18000000">
            <a:off x="9795231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Uup  COG0488</a:t>
            </a:r>
          </a:p>
        </p:txBody>
      </p:sp>
      <p:sp>
        <p:nvSpPr>
          <p:cNvPr id="46" name="TextBox 45"/>
          <p:cNvSpPr txBox="1"/>
          <p:nvPr/>
        </p:nvSpPr>
        <p:spPr>
          <a:xfrm rot="18000000">
            <a:off x="10201135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RhaT  COG0697</a:t>
            </a:r>
          </a:p>
        </p:txBody>
      </p:sp>
      <p:sp>
        <p:nvSpPr>
          <p:cNvPr id="47" name="TextBox 46"/>
          <p:cNvSpPr txBox="1"/>
          <p:nvPr/>
        </p:nvSpPr>
        <p:spPr>
          <a:xfrm rot="18000000">
            <a:off x="10607040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MalK  COG3839</a:t>
            </a:r>
          </a:p>
        </p:txBody>
      </p:sp>
      <p:sp>
        <p:nvSpPr>
          <p:cNvPr id="48" name="TextBox 47"/>
          <p:cNvSpPr txBox="1"/>
          <p:nvPr/>
        </p:nvSpPr>
        <p:spPr>
          <a:xfrm rot="18000000">
            <a:off x="11012944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kdsB  COG1212</a:t>
            </a:r>
          </a:p>
        </p:txBody>
      </p:sp>
      <p:sp>
        <p:nvSpPr>
          <p:cNvPr id="49" name="TextBox 48"/>
          <p:cNvSpPr txBox="1"/>
          <p:nvPr/>
        </p:nvSpPr>
        <p:spPr>
          <a:xfrm rot="18000000">
            <a:off x="11418848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prop  COG0477</a:t>
            </a:r>
          </a:p>
        </p:txBody>
      </p:sp>
      <p:sp>
        <p:nvSpPr>
          <p:cNvPr id="50" name="TextBox 49"/>
          <p:cNvSpPr txBox="1"/>
          <p:nvPr/>
        </p:nvSpPr>
        <p:spPr>
          <a:xfrm rot="18000000">
            <a:off x="11824753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BglX  COG1472</a:t>
            </a:r>
          </a:p>
        </p:txBody>
      </p:sp>
      <p:sp>
        <p:nvSpPr>
          <p:cNvPr id="51" name="TextBox 50"/>
          <p:cNvSpPr txBox="1"/>
          <p:nvPr/>
        </p:nvSpPr>
        <p:spPr>
          <a:xfrm rot="18000000">
            <a:off x="12230657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RgpF  COG3754</a:t>
            </a:r>
          </a:p>
        </p:txBody>
      </p:sp>
      <p:sp>
        <p:nvSpPr>
          <p:cNvPr id="52" name="TextBox 51"/>
          <p:cNvSpPr txBox="1"/>
          <p:nvPr/>
        </p:nvSpPr>
        <p:spPr>
          <a:xfrm rot="18000000">
            <a:off x="12636561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WecE  COG0399</a:t>
            </a:r>
          </a:p>
        </p:txBody>
      </p:sp>
      <p:sp>
        <p:nvSpPr>
          <p:cNvPr id="53" name="TextBox 52"/>
          <p:cNvSpPr txBox="1"/>
          <p:nvPr/>
        </p:nvSpPr>
        <p:spPr>
          <a:xfrm rot="18000000">
            <a:off x="13042466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MviM  COG0673</a:t>
            </a:r>
          </a:p>
        </p:txBody>
      </p:sp>
      <p:sp>
        <p:nvSpPr>
          <p:cNvPr id="54" name="TextBox 53"/>
          <p:cNvSpPr txBox="1"/>
          <p:nvPr/>
        </p:nvSpPr>
        <p:spPr>
          <a:xfrm rot="18000000">
            <a:off x="13448370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TonB  COG0810</a:t>
            </a:r>
          </a:p>
        </p:txBody>
      </p:sp>
      <p:sp>
        <p:nvSpPr>
          <p:cNvPr id="55" name="TextBox 54"/>
          <p:cNvSpPr txBox="1"/>
          <p:nvPr/>
        </p:nvSpPr>
        <p:spPr>
          <a:xfrm rot="18000000">
            <a:off x="13854275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GumC  COG3206</a:t>
            </a:r>
          </a:p>
        </p:txBody>
      </p:sp>
      <p:sp>
        <p:nvSpPr>
          <p:cNvPr id="56" name="TextBox 55"/>
          <p:cNvSpPr txBox="1"/>
          <p:nvPr/>
        </p:nvSpPr>
        <p:spPr>
          <a:xfrm rot="18000000">
            <a:off x="14260179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Wza  COG1596</a:t>
            </a:r>
          </a:p>
        </p:txBody>
      </p:sp>
      <p:sp>
        <p:nvSpPr>
          <p:cNvPr id="57" name="TextBox 56"/>
          <p:cNvSpPr txBox="1"/>
          <p:nvPr/>
        </p:nvSpPr>
        <p:spPr>
          <a:xfrm rot="18000000">
            <a:off x="14666083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CsgG  COG1462</a:t>
            </a:r>
          </a:p>
        </p:txBody>
      </p:sp>
      <p:sp>
        <p:nvSpPr>
          <p:cNvPr id="58" name="TextBox 57"/>
          <p:cNvSpPr txBox="1"/>
          <p:nvPr/>
        </p:nvSpPr>
        <p:spPr>
          <a:xfrm rot="18000000">
            <a:off x="15071988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FhaB  COG3210</a:t>
            </a:r>
          </a:p>
        </p:txBody>
      </p:sp>
      <p:sp>
        <p:nvSpPr>
          <p:cNvPr id="59" name="TextBox 58"/>
          <p:cNvSpPr txBox="1"/>
          <p:nvPr/>
        </p:nvSpPr>
        <p:spPr>
          <a:xfrm rot="18000000">
            <a:off x="15477892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CccA  COG2010</a:t>
            </a:r>
          </a:p>
        </p:txBody>
      </p:sp>
      <p:sp>
        <p:nvSpPr>
          <p:cNvPr id="60" name="TextBox 59"/>
          <p:cNvSpPr txBox="1"/>
          <p:nvPr/>
        </p:nvSpPr>
        <p:spPr>
          <a:xfrm rot="18000000">
            <a:off x="15883797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AcyC  COG2114</a:t>
            </a:r>
          </a:p>
        </p:txBody>
      </p:sp>
      <p:sp>
        <p:nvSpPr>
          <p:cNvPr id="61" name="TextBox 60"/>
          <p:cNvSpPr txBox="1"/>
          <p:nvPr/>
        </p:nvSpPr>
        <p:spPr>
          <a:xfrm rot="18000000">
            <a:off x="16289701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PhnO  COG0454</a:t>
            </a:r>
          </a:p>
        </p:txBody>
      </p:sp>
      <p:sp>
        <p:nvSpPr>
          <p:cNvPr id="62" name="TextBox 61"/>
          <p:cNvSpPr txBox="1"/>
          <p:nvPr/>
        </p:nvSpPr>
        <p:spPr>
          <a:xfrm rot="18000000">
            <a:off x="16695605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COG2931  COG2931</a:t>
            </a:r>
          </a:p>
        </p:txBody>
      </p:sp>
      <p:sp>
        <p:nvSpPr>
          <p:cNvPr id="63" name="TextBox 62"/>
          <p:cNvSpPr txBox="1"/>
          <p:nvPr/>
        </p:nvSpPr>
        <p:spPr>
          <a:xfrm rot="18000000">
            <a:off x="17101510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DLH  COG0412</a:t>
            </a:r>
          </a:p>
        </p:txBody>
      </p:sp>
      <p:sp>
        <p:nvSpPr>
          <p:cNvPr id="64" name="TextBox 63"/>
          <p:cNvSpPr txBox="1"/>
          <p:nvPr/>
        </p:nvSpPr>
        <p:spPr>
          <a:xfrm rot="18000000">
            <a:off x="17507414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CHASE2  COG4252</a:t>
            </a:r>
          </a:p>
        </p:txBody>
      </p:sp>
      <p:sp>
        <p:nvSpPr>
          <p:cNvPr id="65" name="TextBox 64"/>
          <p:cNvSpPr txBox="1"/>
          <p:nvPr/>
        </p:nvSpPr>
        <p:spPr>
          <a:xfrm rot="18000000">
            <a:off x="17913319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COG2192  COG2192</a:t>
            </a:r>
          </a:p>
        </p:txBody>
      </p:sp>
      <p:sp>
        <p:nvSpPr>
          <p:cNvPr id="66" name="TextBox 65"/>
          <p:cNvSpPr txBox="1"/>
          <p:nvPr/>
        </p:nvSpPr>
        <p:spPr>
          <a:xfrm rot="18000000">
            <a:off x="18319223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2A78D6"/>
                </a:solidFill>
                <a:latin typeface="Consolas"/>
              </a:rPr>
              <a:t>LigW  COG2159</a:t>
            </a:r>
          </a:p>
        </p:txBody>
      </p:sp>
      <p:sp>
        <p:nvSpPr>
          <p:cNvPr id="67" name="TextBox 66"/>
          <p:cNvSpPr txBox="1"/>
          <p:nvPr/>
        </p:nvSpPr>
        <p:spPr>
          <a:xfrm rot="18000000">
            <a:off x="18725127" y="6355080"/>
            <a:ext cx="182880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B5480F"/>
                </a:solidFill>
                <a:latin typeface="Consolas"/>
              </a:rPr>
              <a:t>PPE  COG5651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7160" y="2377440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N: Weissberg - Proteomics (MED4)</a:t>
            </a:r>
          </a:p>
        </p:txBody>
      </p:sp>
      <p:sp>
        <p:nvSpPr>
          <p:cNvPr id="69" name="cell|N: Weissberg - Proteomics (MED4)|COG0188|ns"/>
          <p:cNvSpPr/>
          <p:nvPr/>
        </p:nvSpPr>
        <p:spPr>
          <a:xfrm>
            <a:off x="3200400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00400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0/5/6</a:t>
            </a:r>
          </a:p>
        </p:txBody>
      </p:sp>
      <p:sp>
        <p:nvSpPr>
          <p:cNvPr id="71" name="cell|N: Weissberg - Proteomics (MED4)|COG1787|ns"/>
          <p:cNvSpPr/>
          <p:nvPr/>
        </p:nvSpPr>
        <p:spPr>
          <a:xfrm>
            <a:off x="3606304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06304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73" name="cell|N: Weissberg - Proteomics (MED4)|COG3727|absent"/>
          <p:cNvSpPr/>
          <p:nvPr/>
        </p:nvSpPr>
        <p:spPr>
          <a:xfrm>
            <a:off x="4012208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cell|N: Weissberg - Proteomics (MED4)|COG1793|ns"/>
          <p:cNvSpPr/>
          <p:nvPr/>
        </p:nvSpPr>
        <p:spPr>
          <a:xfrm>
            <a:off x="4418113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18113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0/1/3</a:t>
            </a:r>
          </a:p>
        </p:txBody>
      </p:sp>
      <p:sp>
        <p:nvSpPr>
          <p:cNvPr id="76" name="cell|N: Weissberg - Proteomics (MED4)|COG0640|nodata"/>
          <p:cNvSpPr/>
          <p:nvPr/>
        </p:nvSpPr>
        <p:spPr>
          <a:xfrm>
            <a:off x="4824017" y="237744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ell|N: Weissberg - Proteomics (MED4)|COG1403|ns"/>
          <p:cNvSpPr/>
          <p:nvPr/>
        </p:nvSpPr>
        <p:spPr>
          <a:xfrm>
            <a:off x="5229921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229921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0/2/4</a:t>
            </a:r>
          </a:p>
        </p:txBody>
      </p:sp>
      <p:sp>
        <p:nvSpPr>
          <p:cNvPr id="79" name="cell|N: Weissberg - Proteomics (MED4)|COG2214|ns"/>
          <p:cNvSpPr/>
          <p:nvPr/>
        </p:nvSpPr>
        <p:spPr>
          <a:xfrm>
            <a:off x="5635826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35826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81" name="cell|N: Weissberg - Proteomics (MED4)|COG0443|ns"/>
          <p:cNvSpPr/>
          <p:nvPr/>
        </p:nvSpPr>
        <p:spPr>
          <a:xfrm>
            <a:off x="6041730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41730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83" name="cell|N: Weissberg - Proteomics (MED4)|COG0484|ns"/>
          <p:cNvSpPr/>
          <p:nvPr/>
        </p:nvSpPr>
        <p:spPr>
          <a:xfrm>
            <a:off x="6447635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47635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85" name="cell|N: Weissberg - Proteomics (MED4)|COG0330|ns"/>
          <p:cNvSpPr/>
          <p:nvPr/>
        </p:nvSpPr>
        <p:spPr>
          <a:xfrm>
            <a:off x="6853539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53539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87" name="cell|N: Weissberg - Proteomics (MED4)|COG1187|ns"/>
          <p:cNvSpPr/>
          <p:nvPr/>
        </p:nvSpPr>
        <p:spPr>
          <a:xfrm>
            <a:off x="7259443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259443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89" name="cell|N: Weissberg - Proteomics (MED4)|COG1454|absent"/>
          <p:cNvSpPr/>
          <p:nvPr/>
        </p:nvSpPr>
        <p:spPr>
          <a:xfrm>
            <a:off x="7665348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cell|N: Weissberg - Proteomics (MED4)|COG2370|nodata"/>
          <p:cNvSpPr/>
          <p:nvPr/>
        </p:nvSpPr>
        <p:spPr>
          <a:xfrm>
            <a:off x="8071252" y="237744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cell|N: Weissberg - Proteomics (MED4)|COG0367|absent"/>
          <p:cNvSpPr/>
          <p:nvPr/>
        </p:nvSpPr>
        <p:spPr>
          <a:xfrm>
            <a:off x="8477157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cell|N: Weissberg - Proteomics (MED4)|COG0082|ns"/>
          <p:cNvSpPr/>
          <p:nvPr/>
        </p:nvSpPr>
        <p:spPr>
          <a:xfrm>
            <a:off x="8883061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883061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94" name="cell|N: Weissberg - Proteomics (MED4)|COG2274|absent"/>
          <p:cNvSpPr/>
          <p:nvPr/>
        </p:nvSpPr>
        <p:spPr>
          <a:xfrm>
            <a:off x="9288965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cell|N: Weissberg - Proteomics (MED4)|COG1989|absent"/>
          <p:cNvSpPr/>
          <p:nvPr/>
        </p:nvSpPr>
        <p:spPr>
          <a:xfrm>
            <a:off x="9694870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cell|N: Weissberg - Proteomics (MED4)|COG0845|ns"/>
          <p:cNvSpPr/>
          <p:nvPr/>
        </p:nvSpPr>
        <p:spPr>
          <a:xfrm>
            <a:off x="10100774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0774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98" name="cell|N: Weissberg - Proteomics (MED4)|COG0488|ns"/>
          <p:cNvSpPr/>
          <p:nvPr/>
        </p:nvSpPr>
        <p:spPr>
          <a:xfrm>
            <a:off x="10506679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06679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100" name="cell|N: Weissberg - Proteomics (MED4)|COG0697|ns"/>
          <p:cNvSpPr/>
          <p:nvPr/>
        </p:nvSpPr>
        <p:spPr>
          <a:xfrm>
            <a:off x="10912583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912583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0/3/9</a:t>
            </a:r>
          </a:p>
        </p:txBody>
      </p:sp>
      <p:sp>
        <p:nvSpPr>
          <p:cNvPr id="102" name="cell|N: Weissberg - Proteomics (MED4)|COG3839|absent"/>
          <p:cNvSpPr/>
          <p:nvPr/>
        </p:nvSpPr>
        <p:spPr>
          <a:xfrm>
            <a:off x="11318487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cell|N: Weissberg - Proteomics (MED4)|COG1212|absent"/>
          <p:cNvSpPr/>
          <p:nvPr/>
        </p:nvSpPr>
        <p:spPr>
          <a:xfrm>
            <a:off x="11724392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cell|N: Weissberg - Proteomics (MED4)|COG0477|ns"/>
          <p:cNvSpPr/>
          <p:nvPr/>
        </p:nvSpPr>
        <p:spPr>
          <a:xfrm>
            <a:off x="12130296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2130296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0/15/25</a:t>
            </a:r>
          </a:p>
        </p:txBody>
      </p:sp>
      <p:sp>
        <p:nvSpPr>
          <p:cNvPr id="106" name="cell|N: Weissberg - Proteomics (MED4)|COG1472|absent"/>
          <p:cNvSpPr/>
          <p:nvPr/>
        </p:nvSpPr>
        <p:spPr>
          <a:xfrm>
            <a:off x="12536200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cell|N: Weissberg - Proteomics (MED4)|COG3754|absent"/>
          <p:cNvSpPr/>
          <p:nvPr/>
        </p:nvSpPr>
        <p:spPr>
          <a:xfrm>
            <a:off x="12942105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cell|N: Weissberg - Proteomics (MED4)|COG0399|ns"/>
          <p:cNvSpPr/>
          <p:nvPr/>
        </p:nvSpPr>
        <p:spPr>
          <a:xfrm>
            <a:off x="13348009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3348009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110" name="cell|N: Weissberg - Proteomics (MED4)|COG0673|ns"/>
          <p:cNvSpPr/>
          <p:nvPr/>
        </p:nvSpPr>
        <p:spPr>
          <a:xfrm>
            <a:off x="13753914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3753914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112" name="cell|N: Weissberg - Proteomics (MED4)|COG0810|absent"/>
          <p:cNvSpPr/>
          <p:nvPr/>
        </p:nvSpPr>
        <p:spPr>
          <a:xfrm>
            <a:off x="14159818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cell|N: Weissberg - Proteomics (MED4)|COG3206|absent"/>
          <p:cNvSpPr/>
          <p:nvPr/>
        </p:nvSpPr>
        <p:spPr>
          <a:xfrm>
            <a:off x="14565722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ell|N: Weissberg - Proteomics (MED4)|COG1596|ns"/>
          <p:cNvSpPr/>
          <p:nvPr/>
        </p:nvSpPr>
        <p:spPr>
          <a:xfrm>
            <a:off x="14971627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971627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0/1/2</a:t>
            </a:r>
          </a:p>
        </p:txBody>
      </p:sp>
      <p:sp>
        <p:nvSpPr>
          <p:cNvPr id="116" name="cell|N: Weissberg - Proteomics (MED4)|COG1462|absent"/>
          <p:cNvSpPr/>
          <p:nvPr/>
        </p:nvSpPr>
        <p:spPr>
          <a:xfrm>
            <a:off x="15377531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cell|N: Weissberg - Proteomics (MED4)|COG3210|nodata"/>
          <p:cNvSpPr/>
          <p:nvPr/>
        </p:nvSpPr>
        <p:spPr>
          <a:xfrm>
            <a:off x="15783436" y="237744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cell|N: Weissberg - Proteomics (MED4)|COG2010|ns"/>
          <p:cNvSpPr/>
          <p:nvPr/>
        </p:nvSpPr>
        <p:spPr>
          <a:xfrm>
            <a:off x="16189340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6189340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20" name="cell|N: Weissberg - Proteomics (MED4)|COG2114|absent"/>
          <p:cNvSpPr/>
          <p:nvPr/>
        </p:nvSpPr>
        <p:spPr>
          <a:xfrm>
            <a:off x="16595244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cell|N: Weissberg - Proteomics (MED4)|COG0454|ns"/>
          <p:cNvSpPr/>
          <p:nvPr/>
        </p:nvSpPr>
        <p:spPr>
          <a:xfrm>
            <a:off x="17001149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7001149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0/3/5</a:t>
            </a:r>
          </a:p>
        </p:txBody>
      </p:sp>
      <p:sp>
        <p:nvSpPr>
          <p:cNvPr id="123" name="cell|N: Weissberg - Proteomics (MED4)|COG2931|absent"/>
          <p:cNvSpPr/>
          <p:nvPr/>
        </p:nvSpPr>
        <p:spPr>
          <a:xfrm>
            <a:off x="17407053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cell|N: Weissberg - Proteomics (MED4)|COG0412|absent"/>
          <p:cNvSpPr/>
          <p:nvPr/>
        </p:nvSpPr>
        <p:spPr>
          <a:xfrm>
            <a:off x="17812958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cell|N: Weissberg - Proteomics (MED4)|COG4252|absent"/>
          <p:cNvSpPr/>
          <p:nvPr/>
        </p:nvSpPr>
        <p:spPr>
          <a:xfrm>
            <a:off x="18218862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cell|N: Weissberg - Proteomics (MED4)|COG2192|ns"/>
          <p:cNvSpPr/>
          <p:nvPr/>
        </p:nvSpPr>
        <p:spPr>
          <a:xfrm>
            <a:off x="18624766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8624766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128" name="cell|N: Weissberg - Proteomics (MED4)|COG2159|ns"/>
          <p:cNvSpPr/>
          <p:nvPr/>
        </p:nvSpPr>
        <p:spPr>
          <a:xfrm>
            <a:off x="19030671" y="2377440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9030671" y="237744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30" name="cell|N: Weissberg - Proteomics (MED4)|COG5651|absent"/>
          <p:cNvSpPr/>
          <p:nvPr/>
        </p:nvSpPr>
        <p:spPr>
          <a:xfrm>
            <a:off x="19436575" y="237744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37160" y="2761488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N: Weissberg - RNA-seq (MED4)</a:t>
            </a:r>
          </a:p>
        </p:txBody>
      </p:sp>
      <p:sp>
        <p:nvSpPr>
          <p:cNvPr id="132" name="cell|N: Weissberg - RNA-seq (MED4)|COG0188|up"/>
          <p:cNvSpPr/>
          <p:nvPr/>
        </p:nvSpPr>
        <p:spPr>
          <a:xfrm>
            <a:off x="3200400" y="2761488"/>
            <a:ext cx="405904" cy="384048"/>
          </a:xfrm>
          <a:prstGeom prst="rect">
            <a:avLst/>
          </a:prstGeom>
          <a:solidFill>
            <a:srgbClr val="DF585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200400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5/6/6</a:t>
            </a:r>
          </a:p>
        </p:txBody>
      </p:sp>
      <p:sp>
        <p:nvSpPr>
          <p:cNvPr id="134" name="cell|N: Weissberg - RNA-seq (MED4)|COG1787|up"/>
          <p:cNvSpPr/>
          <p:nvPr/>
        </p:nvSpPr>
        <p:spPr>
          <a:xfrm>
            <a:off x="3606304" y="27614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606304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136" name="cell|N: Weissberg - RNA-seq (MED4)|COG3727|absent"/>
          <p:cNvSpPr/>
          <p:nvPr/>
        </p:nvSpPr>
        <p:spPr>
          <a:xfrm>
            <a:off x="4012208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cell|N: Weissberg - RNA-seq (MED4)|COG1793|up"/>
          <p:cNvSpPr/>
          <p:nvPr/>
        </p:nvSpPr>
        <p:spPr>
          <a:xfrm>
            <a:off x="4418113" y="2761488"/>
            <a:ext cx="405904" cy="384048"/>
          </a:xfrm>
          <a:prstGeom prst="rect">
            <a:avLst/>
          </a:prstGeom>
          <a:solidFill>
            <a:srgbClr val="DB67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418113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2/3/3</a:t>
            </a:r>
          </a:p>
        </p:txBody>
      </p:sp>
      <p:sp>
        <p:nvSpPr>
          <p:cNvPr id="139" name="cell|N: Weissberg - RNA-seq (MED4)|COG0640|up"/>
          <p:cNvSpPr/>
          <p:nvPr/>
        </p:nvSpPr>
        <p:spPr>
          <a:xfrm>
            <a:off x="4824017" y="27614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824017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141" name="cell|N: Weissberg - RNA-seq (MED4)|COG1403|up"/>
          <p:cNvSpPr/>
          <p:nvPr/>
        </p:nvSpPr>
        <p:spPr>
          <a:xfrm>
            <a:off x="5229921" y="2761488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229921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2/4/4</a:t>
            </a:r>
          </a:p>
        </p:txBody>
      </p:sp>
      <p:sp>
        <p:nvSpPr>
          <p:cNvPr id="143" name="cell|N: Weissberg - RNA-seq (MED4)|COG2214|up"/>
          <p:cNvSpPr/>
          <p:nvPr/>
        </p:nvSpPr>
        <p:spPr>
          <a:xfrm>
            <a:off x="5635826" y="2761488"/>
            <a:ext cx="405904" cy="384048"/>
          </a:xfrm>
          <a:prstGeom prst="rect">
            <a:avLst/>
          </a:prstGeom>
          <a:solidFill>
            <a:srgbClr val="D96D6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635826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3/5/5</a:t>
            </a:r>
          </a:p>
        </p:txBody>
      </p:sp>
      <p:sp>
        <p:nvSpPr>
          <p:cNvPr id="145" name="cell|N: Weissberg - RNA-seq (MED4)|COG0443|up"/>
          <p:cNvSpPr/>
          <p:nvPr/>
        </p:nvSpPr>
        <p:spPr>
          <a:xfrm>
            <a:off x="6041730" y="2761488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041730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2/4/4</a:t>
            </a:r>
          </a:p>
        </p:txBody>
      </p:sp>
      <p:sp>
        <p:nvSpPr>
          <p:cNvPr id="147" name="cell|N: Weissberg - RNA-seq (MED4)|COG0484|up"/>
          <p:cNvSpPr/>
          <p:nvPr/>
        </p:nvSpPr>
        <p:spPr>
          <a:xfrm>
            <a:off x="6447635" y="2761488"/>
            <a:ext cx="405904" cy="384048"/>
          </a:xfrm>
          <a:prstGeom prst="rect">
            <a:avLst/>
          </a:prstGeom>
          <a:solidFill>
            <a:srgbClr val="D57F7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447635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2/5/5</a:t>
            </a:r>
          </a:p>
        </p:txBody>
      </p:sp>
      <p:sp>
        <p:nvSpPr>
          <p:cNvPr id="149" name="cell|N: Weissberg - RNA-seq (MED4)|COG0330|ns"/>
          <p:cNvSpPr/>
          <p:nvPr/>
        </p:nvSpPr>
        <p:spPr>
          <a:xfrm>
            <a:off x="6853539" y="276148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853539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51" name="cell|N: Weissberg - RNA-seq (MED4)|COG1187|ns"/>
          <p:cNvSpPr/>
          <p:nvPr/>
        </p:nvSpPr>
        <p:spPr>
          <a:xfrm>
            <a:off x="7259443" y="276148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259443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153" name="cell|N: Weissberg - RNA-seq (MED4)|COG1454|absent"/>
          <p:cNvSpPr/>
          <p:nvPr/>
        </p:nvSpPr>
        <p:spPr>
          <a:xfrm>
            <a:off x="7665348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cell|N: Weissberg - RNA-seq (MED4)|COG2370|up"/>
          <p:cNvSpPr/>
          <p:nvPr/>
        </p:nvSpPr>
        <p:spPr>
          <a:xfrm>
            <a:off x="8071252" y="27614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071252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156" name="cell|N: Weissberg - RNA-seq (MED4)|COG0367|absent"/>
          <p:cNvSpPr/>
          <p:nvPr/>
        </p:nvSpPr>
        <p:spPr>
          <a:xfrm>
            <a:off x="8477157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cell|N: Weissberg - RNA-seq (MED4)|COG0082|up"/>
          <p:cNvSpPr/>
          <p:nvPr/>
        </p:nvSpPr>
        <p:spPr>
          <a:xfrm>
            <a:off x="8883061" y="27614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883061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159" name="cell|N: Weissberg - RNA-seq (MED4)|COG2274|absent"/>
          <p:cNvSpPr/>
          <p:nvPr/>
        </p:nvSpPr>
        <p:spPr>
          <a:xfrm>
            <a:off x="9288965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cell|N: Weissberg - RNA-seq (MED4)|COG1989|absent"/>
          <p:cNvSpPr/>
          <p:nvPr/>
        </p:nvSpPr>
        <p:spPr>
          <a:xfrm>
            <a:off x="9694870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cell|N: Weissberg - RNA-seq (MED4)|COG0845|up"/>
          <p:cNvSpPr/>
          <p:nvPr/>
        </p:nvSpPr>
        <p:spPr>
          <a:xfrm>
            <a:off x="10100774" y="2761488"/>
            <a:ext cx="405904" cy="384048"/>
          </a:xfrm>
          <a:prstGeom prst="rect">
            <a:avLst/>
          </a:prstGeom>
          <a:solidFill>
            <a:srgbClr val="D386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100774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1/3/3</a:t>
            </a:r>
          </a:p>
        </p:txBody>
      </p:sp>
      <p:sp>
        <p:nvSpPr>
          <p:cNvPr id="163" name="cell|N: Weissberg - RNA-seq (MED4)|COG0488|up"/>
          <p:cNvSpPr/>
          <p:nvPr/>
        </p:nvSpPr>
        <p:spPr>
          <a:xfrm>
            <a:off x="10506679" y="2761488"/>
            <a:ext cx="405904" cy="384048"/>
          </a:xfrm>
          <a:prstGeom prst="rect">
            <a:avLst/>
          </a:prstGeom>
          <a:solidFill>
            <a:srgbClr val="D386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06679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1/3/3</a:t>
            </a:r>
          </a:p>
        </p:txBody>
      </p:sp>
      <p:sp>
        <p:nvSpPr>
          <p:cNvPr id="165" name="cell|N: Weissberg - RNA-seq (MED4)|COG0697|up"/>
          <p:cNvSpPr/>
          <p:nvPr/>
        </p:nvSpPr>
        <p:spPr>
          <a:xfrm>
            <a:off x="10912583" y="2761488"/>
            <a:ext cx="405904" cy="384048"/>
          </a:xfrm>
          <a:prstGeom prst="rect">
            <a:avLst/>
          </a:prstGeom>
          <a:solidFill>
            <a:srgbClr val="DE5D5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912583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7/9/9</a:t>
            </a:r>
          </a:p>
        </p:txBody>
      </p:sp>
      <p:sp>
        <p:nvSpPr>
          <p:cNvPr id="167" name="cell|N: Weissberg - RNA-seq (MED4)|COG3839|absent"/>
          <p:cNvSpPr/>
          <p:nvPr/>
        </p:nvSpPr>
        <p:spPr>
          <a:xfrm>
            <a:off x="11318487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cell|N: Weissberg - RNA-seq (MED4)|COG1212|absent"/>
          <p:cNvSpPr/>
          <p:nvPr/>
        </p:nvSpPr>
        <p:spPr>
          <a:xfrm>
            <a:off x="11724392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cell|N: Weissberg - RNA-seq (MED4)|COG0477|down"/>
          <p:cNvSpPr/>
          <p:nvPr/>
        </p:nvSpPr>
        <p:spPr>
          <a:xfrm>
            <a:off x="12130296" y="2761488"/>
            <a:ext cx="405904" cy="384048"/>
          </a:xfrm>
          <a:prstGeom prst="rect">
            <a:avLst/>
          </a:prstGeom>
          <a:solidFill>
            <a:srgbClr val="739CC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2130296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9/25/25</a:t>
            </a:r>
          </a:p>
        </p:txBody>
      </p:sp>
      <p:sp>
        <p:nvSpPr>
          <p:cNvPr id="171" name="cell|N: Weissberg - RNA-seq (MED4)|COG1472|absent"/>
          <p:cNvSpPr/>
          <p:nvPr/>
        </p:nvSpPr>
        <p:spPr>
          <a:xfrm>
            <a:off x="12536200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cell|N: Weissberg - RNA-seq (MED4)|COG3754|absent"/>
          <p:cNvSpPr/>
          <p:nvPr/>
        </p:nvSpPr>
        <p:spPr>
          <a:xfrm>
            <a:off x="12942105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cell|N: Weissberg - RNA-seq (MED4)|COG0399|up"/>
          <p:cNvSpPr/>
          <p:nvPr/>
        </p:nvSpPr>
        <p:spPr>
          <a:xfrm>
            <a:off x="13348009" y="2761488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3348009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2/4/4</a:t>
            </a:r>
          </a:p>
        </p:txBody>
      </p:sp>
      <p:sp>
        <p:nvSpPr>
          <p:cNvPr id="175" name="cell|N: Weissberg - RNA-seq (MED4)|COG0673|down"/>
          <p:cNvSpPr/>
          <p:nvPr/>
        </p:nvSpPr>
        <p:spPr>
          <a:xfrm>
            <a:off x="13753914" y="2761488"/>
            <a:ext cx="405904" cy="384048"/>
          </a:xfrm>
          <a:prstGeom prst="rect">
            <a:avLst/>
          </a:prstGeom>
          <a:solidFill>
            <a:srgbClr val="6394C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3753914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</a:t>
            </a:r>
          </a:p>
        </p:txBody>
      </p:sp>
      <p:sp>
        <p:nvSpPr>
          <p:cNvPr id="177" name="cell|N: Weissberg - RNA-seq (MED4)|COG0810|absent"/>
          <p:cNvSpPr/>
          <p:nvPr/>
        </p:nvSpPr>
        <p:spPr>
          <a:xfrm>
            <a:off x="14159818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cell|N: Weissberg - RNA-seq (MED4)|COG3206|absent"/>
          <p:cNvSpPr/>
          <p:nvPr/>
        </p:nvSpPr>
        <p:spPr>
          <a:xfrm>
            <a:off x="14565722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cell|N: Weissberg - RNA-seq (MED4)|COG1596|up"/>
          <p:cNvSpPr/>
          <p:nvPr/>
        </p:nvSpPr>
        <p:spPr>
          <a:xfrm>
            <a:off x="14971627" y="27614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4971627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2/2/2</a:t>
            </a:r>
          </a:p>
        </p:txBody>
      </p:sp>
      <p:sp>
        <p:nvSpPr>
          <p:cNvPr id="181" name="cell|N: Weissberg - RNA-seq (MED4)|COG1462|absent"/>
          <p:cNvSpPr/>
          <p:nvPr/>
        </p:nvSpPr>
        <p:spPr>
          <a:xfrm>
            <a:off x="15377531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cell|N: Weissberg - RNA-seq (MED4)|COG3210|up"/>
          <p:cNvSpPr/>
          <p:nvPr/>
        </p:nvSpPr>
        <p:spPr>
          <a:xfrm>
            <a:off x="15783436" y="2761488"/>
            <a:ext cx="405904" cy="384048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5783436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184" name="cell|N: Weissberg - RNA-seq (MED4)|COG2010|ns"/>
          <p:cNvSpPr/>
          <p:nvPr/>
        </p:nvSpPr>
        <p:spPr>
          <a:xfrm>
            <a:off x="16189340" y="276148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6189340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86" name="cell|N: Weissberg - RNA-seq (MED4)|COG2114|absent"/>
          <p:cNvSpPr/>
          <p:nvPr/>
        </p:nvSpPr>
        <p:spPr>
          <a:xfrm>
            <a:off x="16595244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cell|N: Weissberg - RNA-seq (MED4)|COG0454|up"/>
          <p:cNvSpPr/>
          <p:nvPr/>
        </p:nvSpPr>
        <p:spPr>
          <a:xfrm>
            <a:off x="17001149" y="2761488"/>
            <a:ext cx="405904" cy="384048"/>
          </a:xfrm>
          <a:prstGeom prst="rect">
            <a:avLst/>
          </a:prstGeom>
          <a:solidFill>
            <a:srgbClr val="D57F7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7001149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2/5/5</a:t>
            </a:r>
          </a:p>
        </p:txBody>
      </p:sp>
      <p:sp>
        <p:nvSpPr>
          <p:cNvPr id="189" name="cell|N: Weissberg - RNA-seq (MED4)|COG2931|absent"/>
          <p:cNvSpPr/>
          <p:nvPr/>
        </p:nvSpPr>
        <p:spPr>
          <a:xfrm>
            <a:off x="17407053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cell|N: Weissberg - RNA-seq (MED4)|COG0412|absent"/>
          <p:cNvSpPr/>
          <p:nvPr/>
        </p:nvSpPr>
        <p:spPr>
          <a:xfrm>
            <a:off x="17812958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cell|N: Weissberg - RNA-seq (MED4)|COG4252|absent"/>
          <p:cNvSpPr/>
          <p:nvPr/>
        </p:nvSpPr>
        <p:spPr>
          <a:xfrm>
            <a:off x="18218862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cell|N: Weissberg - RNA-seq (MED4)|COG2192|up"/>
          <p:cNvSpPr/>
          <p:nvPr/>
        </p:nvSpPr>
        <p:spPr>
          <a:xfrm>
            <a:off x="18624766" y="2761488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8624766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</a:t>
            </a:r>
          </a:p>
        </p:txBody>
      </p:sp>
      <p:sp>
        <p:nvSpPr>
          <p:cNvPr id="194" name="cell|N: Weissberg - RNA-seq (MED4)|COG2159|ns"/>
          <p:cNvSpPr/>
          <p:nvPr/>
        </p:nvSpPr>
        <p:spPr>
          <a:xfrm>
            <a:off x="19030671" y="276148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19030671" y="276148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196" name="cell|N: Weissberg - RNA-seq (MED4)|COG5651|absent"/>
          <p:cNvSpPr/>
          <p:nvPr/>
        </p:nvSpPr>
        <p:spPr>
          <a:xfrm>
            <a:off x="19436575" y="276148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137160" y="3145536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N: Read - RNA-seq (MED4)</a:t>
            </a:r>
          </a:p>
        </p:txBody>
      </p:sp>
      <p:sp>
        <p:nvSpPr>
          <p:cNvPr id="198" name="cell|N: Read - RNA-seq (MED4)|COG0188|down"/>
          <p:cNvSpPr/>
          <p:nvPr/>
        </p:nvSpPr>
        <p:spPr>
          <a:xfrm>
            <a:off x="3200400" y="3145536"/>
            <a:ext cx="405904" cy="384048"/>
          </a:xfrm>
          <a:prstGeom prst="rect">
            <a:avLst/>
          </a:prstGeom>
          <a:solidFill>
            <a:srgbClr val="86A4C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3200400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1/5/6</a:t>
            </a:r>
          </a:p>
        </p:txBody>
      </p:sp>
      <p:sp>
        <p:nvSpPr>
          <p:cNvPr id="200" name="cell|N: Read - RNA-seq (MED4)|COG1787|nodata"/>
          <p:cNvSpPr/>
          <p:nvPr/>
        </p:nvSpPr>
        <p:spPr>
          <a:xfrm>
            <a:off x="3606304" y="314553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cell|N: Read - RNA-seq (MED4)|COG3727|absent"/>
          <p:cNvSpPr/>
          <p:nvPr/>
        </p:nvSpPr>
        <p:spPr>
          <a:xfrm>
            <a:off x="4012208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cell|N: Read - RNA-seq (MED4)|COG1793|ns"/>
          <p:cNvSpPr/>
          <p:nvPr/>
        </p:nvSpPr>
        <p:spPr>
          <a:xfrm>
            <a:off x="4418113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4418113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0/1/3</a:t>
            </a:r>
          </a:p>
        </p:txBody>
      </p:sp>
      <p:sp>
        <p:nvSpPr>
          <p:cNvPr id="204" name="cell|N: Read - RNA-seq (MED4)|COG0640|ns"/>
          <p:cNvSpPr/>
          <p:nvPr/>
        </p:nvSpPr>
        <p:spPr>
          <a:xfrm>
            <a:off x="4824017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824017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06" name="cell|N: Read - RNA-seq (MED4)|COG1403|ns"/>
          <p:cNvSpPr/>
          <p:nvPr/>
        </p:nvSpPr>
        <p:spPr>
          <a:xfrm>
            <a:off x="5229921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5229921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0/3/4</a:t>
            </a:r>
          </a:p>
        </p:txBody>
      </p:sp>
      <p:sp>
        <p:nvSpPr>
          <p:cNvPr id="208" name="cell|N: Read - RNA-seq (MED4)|COG2214|ns"/>
          <p:cNvSpPr/>
          <p:nvPr/>
        </p:nvSpPr>
        <p:spPr>
          <a:xfrm>
            <a:off x="5635826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5635826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0/2/5</a:t>
            </a:r>
          </a:p>
        </p:txBody>
      </p:sp>
      <p:sp>
        <p:nvSpPr>
          <p:cNvPr id="210" name="cell|N: Read - RNA-seq (MED4)|COG0443|ns"/>
          <p:cNvSpPr/>
          <p:nvPr/>
        </p:nvSpPr>
        <p:spPr>
          <a:xfrm>
            <a:off x="6041730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041730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0/3/4</a:t>
            </a:r>
          </a:p>
        </p:txBody>
      </p:sp>
      <p:sp>
        <p:nvSpPr>
          <p:cNvPr id="212" name="cell|N: Read - RNA-seq (MED4)|COG0484|ns"/>
          <p:cNvSpPr/>
          <p:nvPr/>
        </p:nvSpPr>
        <p:spPr>
          <a:xfrm>
            <a:off x="6447635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447635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0/3/5</a:t>
            </a:r>
          </a:p>
        </p:txBody>
      </p:sp>
      <p:sp>
        <p:nvSpPr>
          <p:cNvPr id="214" name="cell|N: Read - RNA-seq (MED4)|COG0330|ns"/>
          <p:cNvSpPr/>
          <p:nvPr/>
        </p:nvSpPr>
        <p:spPr>
          <a:xfrm>
            <a:off x="6853539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853539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16" name="cell|N: Read - RNA-seq (MED4)|COG1187|ns"/>
          <p:cNvSpPr/>
          <p:nvPr/>
        </p:nvSpPr>
        <p:spPr>
          <a:xfrm>
            <a:off x="7259443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259443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0/1/2</a:t>
            </a:r>
          </a:p>
        </p:txBody>
      </p:sp>
      <p:sp>
        <p:nvSpPr>
          <p:cNvPr id="218" name="cell|N: Read - RNA-seq (MED4)|COG1454|absent"/>
          <p:cNvSpPr/>
          <p:nvPr/>
        </p:nvSpPr>
        <p:spPr>
          <a:xfrm>
            <a:off x="7665348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cell|N: Read - RNA-seq (MED4)|COG2370|ns"/>
          <p:cNvSpPr/>
          <p:nvPr/>
        </p:nvSpPr>
        <p:spPr>
          <a:xfrm>
            <a:off x="8071252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071252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21" name="cell|N: Read - RNA-seq (MED4)|COG0367|absent"/>
          <p:cNvSpPr/>
          <p:nvPr/>
        </p:nvSpPr>
        <p:spPr>
          <a:xfrm>
            <a:off x="8477157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cell|N: Read - RNA-seq (MED4)|COG0082|ns"/>
          <p:cNvSpPr/>
          <p:nvPr/>
        </p:nvSpPr>
        <p:spPr>
          <a:xfrm>
            <a:off x="8883061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8883061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24" name="cell|N: Read - RNA-seq (MED4)|COG2274|absent"/>
          <p:cNvSpPr/>
          <p:nvPr/>
        </p:nvSpPr>
        <p:spPr>
          <a:xfrm>
            <a:off x="9288965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cell|N: Read - RNA-seq (MED4)|COG1989|absent"/>
          <p:cNvSpPr/>
          <p:nvPr/>
        </p:nvSpPr>
        <p:spPr>
          <a:xfrm>
            <a:off x="9694870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cell|N: Read - RNA-seq (MED4)|COG0845|ns"/>
          <p:cNvSpPr/>
          <p:nvPr/>
        </p:nvSpPr>
        <p:spPr>
          <a:xfrm>
            <a:off x="10100774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100774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0/1/3</a:t>
            </a:r>
          </a:p>
        </p:txBody>
      </p:sp>
      <p:sp>
        <p:nvSpPr>
          <p:cNvPr id="228" name="cell|N: Read - RNA-seq (MED4)|COG0488|ns"/>
          <p:cNvSpPr/>
          <p:nvPr/>
        </p:nvSpPr>
        <p:spPr>
          <a:xfrm>
            <a:off x="10506679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0506679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0/1/3</a:t>
            </a:r>
          </a:p>
        </p:txBody>
      </p:sp>
      <p:sp>
        <p:nvSpPr>
          <p:cNvPr id="230" name="cell|N: Read - RNA-seq (MED4)|COG0697|up"/>
          <p:cNvSpPr/>
          <p:nvPr/>
        </p:nvSpPr>
        <p:spPr>
          <a:xfrm>
            <a:off x="10912583" y="3145536"/>
            <a:ext cx="405904" cy="384048"/>
          </a:xfrm>
          <a:prstGeom prst="rect">
            <a:avLst/>
          </a:prstGeom>
          <a:solidFill>
            <a:srgbClr val="D386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10912583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2/6/9</a:t>
            </a:r>
          </a:p>
        </p:txBody>
      </p:sp>
      <p:sp>
        <p:nvSpPr>
          <p:cNvPr id="232" name="cell|N: Read - RNA-seq (MED4)|COG3839|absent"/>
          <p:cNvSpPr/>
          <p:nvPr/>
        </p:nvSpPr>
        <p:spPr>
          <a:xfrm>
            <a:off x="11318487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cell|N: Read - RNA-seq (MED4)|COG1212|absent"/>
          <p:cNvSpPr/>
          <p:nvPr/>
        </p:nvSpPr>
        <p:spPr>
          <a:xfrm>
            <a:off x="11724392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cell|N: Read - RNA-seq (MED4)|COG0477|down"/>
          <p:cNvSpPr/>
          <p:nvPr/>
        </p:nvSpPr>
        <p:spPr>
          <a:xfrm>
            <a:off x="12130296" y="3145536"/>
            <a:ext cx="405904" cy="384048"/>
          </a:xfrm>
          <a:prstGeom prst="rect">
            <a:avLst/>
          </a:prstGeom>
          <a:solidFill>
            <a:srgbClr val="799EC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2130296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5/16/25</a:t>
            </a:r>
          </a:p>
        </p:txBody>
      </p:sp>
      <p:sp>
        <p:nvSpPr>
          <p:cNvPr id="236" name="cell|N: Read - RNA-seq (MED4)|COG1472|absent"/>
          <p:cNvSpPr/>
          <p:nvPr/>
        </p:nvSpPr>
        <p:spPr>
          <a:xfrm>
            <a:off x="12536200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cell|N: Read - RNA-seq (MED4)|COG3754|absent"/>
          <p:cNvSpPr/>
          <p:nvPr/>
        </p:nvSpPr>
        <p:spPr>
          <a:xfrm>
            <a:off x="12942105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cell|N: Read - RNA-seq (MED4)|COG0399|up"/>
          <p:cNvSpPr/>
          <p:nvPr/>
        </p:nvSpPr>
        <p:spPr>
          <a:xfrm>
            <a:off x="13348009" y="3145536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13348009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2/4/4</a:t>
            </a:r>
          </a:p>
        </p:txBody>
      </p:sp>
      <p:sp>
        <p:nvSpPr>
          <p:cNvPr id="240" name="cell|N: Read - RNA-seq (MED4)|COG0673|ns"/>
          <p:cNvSpPr/>
          <p:nvPr/>
        </p:nvSpPr>
        <p:spPr>
          <a:xfrm>
            <a:off x="13753914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3753914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0/1/2</a:t>
            </a:r>
          </a:p>
        </p:txBody>
      </p:sp>
      <p:sp>
        <p:nvSpPr>
          <p:cNvPr id="242" name="cell|N: Read - RNA-seq (MED4)|COG0810|absent"/>
          <p:cNvSpPr/>
          <p:nvPr/>
        </p:nvSpPr>
        <p:spPr>
          <a:xfrm>
            <a:off x="14159818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cell|N: Read - RNA-seq (MED4)|COG3206|absent"/>
          <p:cNvSpPr/>
          <p:nvPr/>
        </p:nvSpPr>
        <p:spPr>
          <a:xfrm>
            <a:off x="14565722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cell|N: Read - RNA-seq (MED4)|COG1596|nodata"/>
          <p:cNvSpPr/>
          <p:nvPr/>
        </p:nvSpPr>
        <p:spPr>
          <a:xfrm>
            <a:off x="14971627" y="314553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cell|N: Read - RNA-seq (MED4)|COG1462|absent"/>
          <p:cNvSpPr/>
          <p:nvPr/>
        </p:nvSpPr>
        <p:spPr>
          <a:xfrm>
            <a:off x="15377531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cell|N: Read - RNA-seq (MED4)|COG3210|nodata"/>
          <p:cNvSpPr/>
          <p:nvPr/>
        </p:nvSpPr>
        <p:spPr>
          <a:xfrm>
            <a:off x="15783436" y="314553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cell|N: Read - RNA-seq (MED4)|COG2010|nodata"/>
          <p:cNvSpPr/>
          <p:nvPr/>
        </p:nvSpPr>
        <p:spPr>
          <a:xfrm>
            <a:off x="16189340" y="314553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cell|N: Read - RNA-seq (MED4)|COG2114|absent"/>
          <p:cNvSpPr/>
          <p:nvPr/>
        </p:nvSpPr>
        <p:spPr>
          <a:xfrm>
            <a:off x="16595244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cell|N: Read - RNA-seq (MED4)|COG0454|ns"/>
          <p:cNvSpPr/>
          <p:nvPr/>
        </p:nvSpPr>
        <p:spPr>
          <a:xfrm>
            <a:off x="17001149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17001149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0/2/5</a:t>
            </a:r>
          </a:p>
        </p:txBody>
      </p:sp>
      <p:sp>
        <p:nvSpPr>
          <p:cNvPr id="251" name="cell|N: Read - RNA-seq (MED4)|COG2931|absent"/>
          <p:cNvSpPr/>
          <p:nvPr/>
        </p:nvSpPr>
        <p:spPr>
          <a:xfrm>
            <a:off x="17407053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cell|N: Read - RNA-seq (MED4)|COG0412|absent"/>
          <p:cNvSpPr/>
          <p:nvPr/>
        </p:nvSpPr>
        <p:spPr>
          <a:xfrm>
            <a:off x="17812958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cell|N: Read - RNA-seq (MED4)|COG4252|absent"/>
          <p:cNvSpPr/>
          <p:nvPr/>
        </p:nvSpPr>
        <p:spPr>
          <a:xfrm>
            <a:off x="18218862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cell|N: Read - RNA-seq (MED4)|COG2192|ns"/>
          <p:cNvSpPr/>
          <p:nvPr/>
        </p:nvSpPr>
        <p:spPr>
          <a:xfrm>
            <a:off x="18624766" y="314553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18624766" y="314553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0/1/2</a:t>
            </a:r>
          </a:p>
        </p:txBody>
      </p:sp>
      <p:sp>
        <p:nvSpPr>
          <p:cNvPr id="256" name="cell|N: Read - RNA-seq (MED4)|COG2159|nodata"/>
          <p:cNvSpPr/>
          <p:nvPr/>
        </p:nvSpPr>
        <p:spPr>
          <a:xfrm>
            <a:off x="19030671" y="314553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cell|N: Read - RNA-seq (MED4)|COG5651|absent"/>
          <p:cNvSpPr/>
          <p:nvPr/>
        </p:nvSpPr>
        <p:spPr>
          <a:xfrm>
            <a:off x="19436575" y="314553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137160" y="3529584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N: Tolonen - Microarray (MED4)</a:t>
            </a:r>
          </a:p>
        </p:txBody>
      </p:sp>
      <p:sp>
        <p:nvSpPr>
          <p:cNvPr id="259" name="cell|N: Tolonen - Microarray (MED4)|COG0188|down"/>
          <p:cNvSpPr/>
          <p:nvPr/>
        </p:nvSpPr>
        <p:spPr>
          <a:xfrm>
            <a:off x="3200400" y="3529584"/>
            <a:ext cx="405904" cy="384048"/>
          </a:xfrm>
          <a:prstGeom prst="rect">
            <a:avLst/>
          </a:prstGeom>
          <a:solidFill>
            <a:srgbClr val="8AA6C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3200400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1/6/6</a:t>
            </a:r>
          </a:p>
        </p:txBody>
      </p:sp>
      <p:sp>
        <p:nvSpPr>
          <p:cNvPr id="261" name="cell|N: Tolonen - Microarray (MED4)|COG1787|ns"/>
          <p:cNvSpPr/>
          <p:nvPr/>
        </p:nvSpPr>
        <p:spPr>
          <a:xfrm>
            <a:off x="3606304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3606304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63" name="cell|N: Tolonen - Microarray (MED4)|COG3727|absent"/>
          <p:cNvSpPr/>
          <p:nvPr/>
        </p:nvSpPr>
        <p:spPr>
          <a:xfrm>
            <a:off x="4012208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cell|N: Tolonen - Microarray (MED4)|COG1793|ns"/>
          <p:cNvSpPr/>
          <p:nvPr/>
        </p:nvSpPr>
        <p:spPr>
          <a:xfrm>
            <a:off x="4418113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4418113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266" name="cell|N: Tolonen - Microarray (MED4)|COG0640|ns"/>
          <p:cNvSpPr/>
          <p:nvPr/>
        </p:nvSpPr>
        <p:spPr>
          <a:xfrm>
            <a:off x="4824017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4824017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68" name="cell|N: Tolonen - Microarray (MED4)|COG1403|ns"/>
          <p:cNvSpPr/>
          <p:nvPr/>
        </p:nvSpPr>
        <p:spPr>
          <a:xfrm>
            <a:off x="5229921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5229921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270" name="cell|N: Tolonen - Microarray (MED4)|COG2214|ns"/>
          <p:cNvSpPr/>
          <p:nvPr/>
        </p:nvSpPr>
        <p:spPr>
          <a:xfrm>
            <a:off x="5635826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635826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272" name="cell|N: Tolonen - Microarray (MED4)|COG0443|ns"/>
          <p:cNvSpPr/>
          <p:nvPr/>
        </p:nvSpPr>
        <p:spPr>
          <a:xfrm>
            <a:off x="6041730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041730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274" name="cell|N: Tolonen - Microarray (MED4)|COG0484|ns"/>
          <p:cNvSpPr/>
          <p:nvPr/>
        </p:nvSpPr>
        <p:spPr>
          <a:xfrm>
            <a:off x="6447635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6447635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276" name="cell|N: Tolonen - Microarray (MED4)|COG0330|ns"/>
          <p:cNvSpPr/>
          <p:nvPr/>
        </p:nvSpPr>
        <p:spPr>
          <a:xfrm>
            <a:off x="6853539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6853539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78" name="cell|N: Tolonen - Microarray (MED4)|COG1187|ns"/>
          <p:cNvSpPr/>
          <p:nvPr/>
        </p:nvSpPr>
        <p:spPr>
          <a:xfrm>
            <a:off x="7259443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259443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280" name="cell|N: Tolonen - Microarray (MED4)|COG1454|absent"/>
          <p:cNvSpPr/>
          <p:nvPr/>
        </p:nvSpPr>
        <p:spPr>
          <a:xfrm>
            <a:off x="7665348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cell|N: Tolonen - Microarray (MED4)|COG2370|ns"/>
          <p:cNvSpPr/>
          <p:nvPr/>
        </p:nvSpPr>
        <p:spPr>
          <a:xfrm>
            <a:off x="8071252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8071252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83" name="cell|N: Tolonen - Microarray (MED4)|COG0367|absent"/>
          <p:cNvSpPr/>
          <p:nvPr/>
        </p:nvSpPr>
        <p:spPr>
          <a:xfrm>
            <a:off x="8477157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cell|N: Tolonen - Microarray (MED4)|COG0082|ns"/>
          <p:cNvSpPr/>
          <p:nvPr/>
        </p:nvSpPr>
        <p:spPr>
          <a:xfrm>
            <a:off x="8883061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8883061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286" name="cell|N: Tolonen - Microarray (MED4)|COG2274|absent"/>
          <p:cNvSpPr/>
          <p:nvPr/>
        </p:nvSpPr>
        <p:spPr>
          <a:xfrm>
            <a:off x="9288965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cell|N: Tolonen - Microarray (MED4)|COG1989|absent"/>
          <p:cNvSpPr/>
          <p:nvPr/>
        </p:nvSpPr>
        <p:spPr>
          <a:xfrm>
            <a:off x="9694870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cell|N: Tolonen - Microarray (MED4)|COG0845|ns"/>
          <p:cNvSpPr/>
          <p:nvPr/>
        </p:nvSpPr>
        <p:spPr>
          <a:xfrm>
            <a:off x="10100774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10100774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290" name="cell|N: Tolonen - Microarray (MED4)|COG0488|ns"/>
          <p:cNvSpPr/>
          <p:nvPr/>
        </p:nvSpPr>
        <p:spPr>
          <a:xfrm>
            <a:off x="10506679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0506679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292" name="cell|N: Tolonen - Microarray (MED4)|COG0697|ns"/>
          <p:cNvSpPr/>
          <p:nvPr/>
        </p:nvSpPr>
        <p:spPr>
          <a:xfrm>
            <a:off x="10912583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0912583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0/9/9</a:t>
            </a:r>
          </a:p>
        </p:txBody>
      </p:sp>
      <p:sp>
        <p:nvSpPr>
          <p:cNvPr id="294" name="cell|N: Tolonen - Microarray (MED4)|COG3839|absent"/>
          <p:cNvSpPr/>
          <p:nvPr/>
        </p:nvSpPr>
        <p:spPr>
          <a:xfrm>
            <a:off x="11318487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cell|N: Tolonen - Microarray (MED4)|COG1212|absent"/>
          <p:cNvSpPr/>
          <p:nvPr/>
        </p:nvSpPr>
        <p:spPr>
          <a:xfrm>
            <a:off x="11724392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cell|N: Tolonen - Microarray (MED4)|COG0477|down"/>
          <p:cNvSpPr/>
          <p:nvPr/>
        </p:nvSpPr>
        <p:spPr>
          <a:xfrm>
            <a:off x="12130296" y="3529584"/>
            <a:ext cx="405904" cy="384048"/>
          </a:xfrm>
          <a:prstGeom prst="rect">
            <a:avLst/>
          </a:prstGeom>
          <a:solidFill>
            <a:srgbClr val="86A4C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2130296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5/25/25</a:t>
            </a:r>
          </a:p>
        </p:txBody>
      </p:sp>
      <p:sp>
        <p:nvSpPr>
          <p:cNvPr id="298" name="cell|N: Tolonen - Microarray (MED4)|COG1472|absent"/>
          <p:cNvSpPr/>
          <p:nvPr/>
        </p:nvSpPr>
        <p:spPr>
          <a:xfrm>
            <a:off x="12536200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cell|N: Tolonen - Microarray (MED4)|COG3754|absent"/>
          <p:cNvSpPr/>
          <p:nvPr/>
        </p:nvSpPr>
        <p:spPr>
          <a:xfrm>
            <a:off x="12942105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cell|N: Tolonen - Microarray (MED4)|COG0399|ns"/>
          <p:cNvSpPr/>
          <p:nvPr/>
        </p:nvSpPr>
        <p:spPr>
          <a:xfrm>
            <a:off x="13348009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3348009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302" name="cell|N: Tolonen - Microarray (MED4)|COG0673|down"/>
          <p:cNvSpPr/>
          <p:nvPr/>
        </p:nvSpPr>
        <p:spPr>
          <a:xfrm>
            <a:off x="13753914" y="3529584"/>
            <a:ext cx="405904" cy="384048"/>
          </a:xfrm>
          <a:prstGeom prst="rect">
            <a:avLst/>
          </a:prstGeom>
          <a:solidFill>
            <a:srgbClr val="6394C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13753914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</a:t>
            </a:r>
          </a:p>
        </p:txBody>
      </p:sp>
      <p:sp>
        <p:nvSpPr>
          <p:cNvPr id="304" name="cell|N: Tolonen - Microarray (MED4)|COG0810|absent"/>
          <p:cNvSpPr/>
          <p:nvPr/>
        </p:nvSpPr>
        <p:spPr>
          <a:xfrm>
            <a:off x="14159818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cell|N: Tolonen - Microarray (MED4)|COG3206|absent"/>
          <p:cNvSpPr/>
          <p:nvPr/>
        </p:nvSpPr>
        <p:spPr>
          <a:xfrm>
            <a:off x="14565722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cell|N: Tolonen - Microarray (MED4)|COG1596|ns"/>
          <p:cNvSpPr/>
          <p:nvPr/>
        </p:nvSpPr>
        <p:spPr>
          <a:xfrm>
            <a:off x="14971627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14971627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08" name="cell|N: Tolonen - Microarray (MED4)|COG1462|absent"/>
          <p:cNvSpPr/>
          <p:nvPr/>
        </p:nvSpPr>
        <p:spPr>
          <a:xfrm>
            <a:off x="15377531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cell|N: Tolonen - Microarray (MED4)|COG3210|ns"/>
          <p:cNvSpPr/>
          <p:nvPr/>
        </p:nvSpPr>
        <p:spPr>
          <a:xfrm>
            <a:off x="15783436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15783436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11" name="cell|N: Tolonen - Microarray (MED4)|COG2010|ns"/>
          <p:cNvSpPr/>
          <p:nvPr/>
        </p:nvSpPr>
        <p:spPr>
          <a:xfrm>
            <a:off x="16189340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16189340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13" name="cell|N: Tolonen - Microarray (MED4)|COG2114|absent"/>
          <p:cNvSpPr/>
          <p:nvPr/>
        </p:nvSpPr>
        <p:spPr>
          <a:xfrm>
            <a:off x="16595244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cell|N: Tolonen - Microarray (MED4)|COG0454|ns"/>
          <p:cNvSpPr/>
          <p:nvPr/>
        </p:nvSpPr>
        <p:spPr>
          <a:xfrm>
            <a:off x="17001149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17001149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316" name="cell|N: Tolonen - Microarray (MED4)|COG2931|absent"/>
          <p:cNvSpPr/>
          <p:nvPr/>
        </p:nvSpPr>
        <p:spPr>
          <a:xfrm>
            <a:off x="17407053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cell|N: Tolonen - Microarray (MED4)|COG0412|absent"/>
          <p:cNvSpPr/>
          <p:nvPr/>
        </p:nvSpPr>
        <p:spPr>
          <a:xfrm>
            <a:off x="17812958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cell|N: Tolonen - Microarray (MED4)|COG4252|absent"/>
          <p:cNvSpPr/>
          <p:nvPr/>
        </p:nvSpPr>
        <p:spPr>
          <a:xfrm>
            <a:off x="18218862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cell|N: Tolonen - Microarray (MED4)|COG2192|down"/>
          <p:cNvSpPr/>
          <p:nvPr/>
        </p:nvSpPr>
        <p:spPr>
          <a:xfrm>
            <a:off x="18624766" y="3529584"/>
            <a:ext cx="405904" cy="384048"/>
          </a:xfrm>
          <a:prstGeom prst="rect">
            <a:avLst/>
          </a:prstGeom>
          <a:solidFill>
            <a:srgbClr val="6394C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18624766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</a:t>
            </a:r>
          </a:p>
        </p:txBody>
      </p:sp>
      <p:sp>
        <p:nvSpPr>
          <p:cNvPr id="321" name="cell|N: Tolonen - Microarray (MED4)|COG2159|ns"/>
          <p:cNvSpPr/>
          <p:nvPr/>
        </p:nvSpPr>
        <p:spPr>
          <a:xfrm>
            <a:off x="19030671" y="352958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19030671" y="352958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23" name="cell|N: Tolonen - Microarray (MED4)|COG5651|absent"/>
          <p:cNvSpPr/>
          <p:nvPr/>
        </p:nvSpPr>
        <p:spPr>
          <a:xfrm>
            <a:off x="19436575" y="352958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137160" y="3913632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N: Tolonen - Microarray (MIT9313)</a:t>
            </a:r>
          </a:p>
        </p:txBody>
      </p:sp>
      <p:sp>
        <p:nvSpPr>
          <p:cNvPr id="325" name="cell|N: Tolonen - Microarray (MIT9313)|COG0188|ns"/>
          <p:cNvSpPr/>
          <p:nvPr/>
        </p:nvSpPr>
        <p:spPr>
          <a:xfrm>
            <a:off x="3200400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3200400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0/4/5</a:t>
            </a:r>
          </a:p>
        </p:txBody>
      </p:sp>
      <p:sp>
        <p:nvSpPr>
          <p:cNvPr id="327" name="cell|N: Tolonen - Microarray (MIT9313)|COG1787|absent"/>
          <p:cNvSpPr/>
          <p:nvPr/>
        </p:nvSpPr>
        <p:spPr>
          <a:xfrm>
            <a:off x="3606304" y="39136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cell|N: Tolonen - Microarray (MIT9313)|COG3727|absent"/>
          <p:cNvSpPr/>
          <p:nvPr/>
        </p:nvSpPr>
        <p:spPr>
          <a:xfrm>
            <a:off x="4012208" y="39136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cell|N: Tolonen - Microarray (MIT9313)|COG1793|ns"/>
          <p:cNvSpPr/>
          <p:nvPr/>
        </p:nvSpPr>
        <p:spPr>
          <a:xfrm>
            <a:off x="4418113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4418113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31" name="cell|N: Tolonen - Microarray (MIT9313)|COG0640|ns"/>
          <p:cNvSpPr/>
          <p:nvPr/>
        </p:nvSpPr>
        <p:spPr>
          <a:xfrm>
            <a:off x="4824017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4824017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33" name="cell|N: Tolonen - Microarray (MIT9313)|COG1403|ns"/>
          <p:cNvSpPr/>
          <p:nvPr/>
        </p:nvSpPr>
        <p:spPr>
          <a:xfrm>
            <a:off x="5229921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5229921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35" name="cell|N: Tolonen - Microarray (MIT9313)|COG2214|ns"/>
          <p:cNvSpPr/>
          <p:nvPr/>
        </p:nvSpPr>
        <p:spPr>
          <a:xfrm>
            <a:off x="5635826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5635826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0/6/7</a:t>
            </a:r>
          </a:p>
        </p:txBody>
      </p:sp>
      <p:sp>
        <p:nvSpPr>
          <p:cNvPr id="337" name="cell|N: Tolonen - Microarray (MIT9313)|COG0443|ns"/>
          <p:cNvSpPr/>
          <p:nvPr/>
        </p:nvSpPr>
        <p:spPr>
          <a:xfrm>
            <a:off x="6041730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041730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339" name="cell|N: Tolonen - Microarray (MIT9313)|COG0484|ns"/>
          <p:cNvSpPr/>
          <p:nvPr/>
        </p:nvSpPr>
        <p:spPr>
          <a:xfrm>
            <a:off x="6447635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447635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341" name="cell|N: Tolonen - Microarray (MIT9313)|COG0330|up"/>
          <p:cNvSpPr/>
          <p:nvPr/>
        </p:nvSpPr>
        <p:spPr>
          <a:xfrm>
            <a:off x="6853539" y="3913632"/>
            <a:ext cx="405904" cy="384048"/>
          </a:xfrm>
          <a:prstGeom prst="rect">
            <a:avLst/>
          </a:prstGeom>
          <a:solidFill>
            <a:srgbClr val="D386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853539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1/3/3</a:t>
            </a:r>
          </a:p>
        </p:txBody>
      </p:sp>
      <p:sp>
        <p:nvSpPr>
          <p:cNvPr id="343" name="cell|N: Tolonen - Microarray (MIT9313)|COG1187|ns"/>
          <p:cNvSpPr/>
          <p:nvPr/>
        </p:nvSpPr>
        <p:spPr>
          <a:xfrm>
            <a:off x="7259443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7259443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345" name="cell|N: Tolonen - Microarray (MIT9313)|COG1454|nodata"/>
          <p:cNvSpPr/>
          <p:nvPr/>
        </p:nvSpPr>
        <p:spPr>
          <a:xfrm>
            <a:off x="7665348" y="3913632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cell|N: Tolonen - Microarray (MIT9313)|COG2370|ns"/>
          <p:cNvSpPr/>
          <p:nvPr/>
        </p:nvSpPr>
        <p:spPr>
          <a:xfrm>
            <a:off x="8071252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8071252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48" name="cell|N: Tolonen - Microarray (MIT9313)|COG0367|absent"/>
          <p:cNvSpPr/>
          <p:nvPr/>
        </p:nvSpPr>
        <p:spPr>
          <a:xfrm>
            <a:off x="8477157" y="39136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cell|N: Tolonen - Microarray (MIT9313)|COG0082|ns"/>
          <p:cNvSpPr/>
          <p:nvPr/>
        </p:nvSpPr>
        <p:spPr>
          <a:xfrm>
            <a:off x="8883061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883061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351" name="cell|N: Tolonen - Microarray (MIT9313)|COG2274|ns"/>
          <p:cNvSpPr/>
          <p:nvPr/>
        </p:nvSpPr>
        <p:spPr>
          <a:xfrm>
            <a:off x="9288965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9288965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353" name="cell|N: Tolonen - Microarray (MIT9313)|COG1989|ns"/>
          <p:cNvSpPr/>
          <p:nvPr/>
        </p:nvSpPr>
        <p:spPr>
          <a:xfrm>
            <a:off x="9694870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9694870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55" name="cell|N: Tolonen - Microarray (MIT9313)|COG0845|down"/>
          <p:cNvSpPr/>
          <p:nvPr/>
        </p:nvSpPr>
        <p:spPr>
          <a:xfrm>
            <a:off x="10100774" y="3913632"/>
            <a:ext cx="405904" cy="384048"/>
          </a:xfrm>
          <a:prstGeom prst="rect">
            <a:avLst/>
          </a:prstGeom>
          <a:solidFill>
            <a:srgbClr val="91AAC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100774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1/10/11</a:t>
            </a:r>
          </a:p>
        </p:txBody>
      </p:sp>
      <p:sp>
        <p:nvSpPr>
          <p:cNvPr id="357" name="cell|N: Tolonen - Microarray (MIT9313)|COG0488|ns"/>
          <p:cNvSpPr/>
          <p:nvPr/>
        </p:nvSpPr>
        <p:spPr>
          <a:xfrm>
            <a:off x="10506679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10506679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359" name="cell|N: Tolonen - Microarray (MIT9313)|COG0697|ns"/>
          <p:cNvSpPr/>
          <p:nvPr/>
        </p:nvSpPr>
        <p:spPr>
          <a:xfrm>
            <a:off x="10912583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10912583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0/10/11</a:t>
            </a:r>
          </a:p>
        </p:txBody>
      </p:sp>
      <p:sp>
        <p:nvSpPr>
          <p:cNvPr id="361" name="cell|N: Tolonen - Microarray (MIT9313)|COG3839|ns"/>
          <p:cNvSpPr/>
          <p:nvPr/>
        </p:nvSpPr>
        <p:spPr>
          <a:xfrm>
            <a:off x="11318487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11318487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363" name="cell|N: Tolonen - Microarray (MIT9313)|COG1212|ns"/>
          <p:cNvSpPr/>
          <p:nvPr/>
        </p:nvSpPr>
        <p:spPr>
          <a:xfrm>
            <a:off x="11724392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11724392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65" name="cell|N: Tolonen - Microarray (MIT9313)|COG0477|down"/>
          <p:cNvSpPr/>
          <p:nvPr/>
        </p:nvSpPr>
        <p:spPr>
          <a:xfrm>
            <a:off x="12130296" y="3913632"/>
            <a:ext cx="405904" cy="384048"/>
          </a:xfrm>
          <a:prstGeom prst="rect">
            <a:avLst/>
          </a:prstGeom>
          <a:solidFill>
            <a:srgbClr val="99AEB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12130296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1/33/34</a:t>
            </a:r>
          </a:p>
        </p:txBody>
      </p:sp>
      <p:sp>
        <p:nvSpPr>
          <p:cNvPr id="367" name="cell|N: Tolonen - Microarray (MIT9313)|COG1472|ns"/>
          <p:cNvSpPr/>
          <p:nvPr/>
        </p:nvSpPr>
        <p:spPr>
          <a:xfrm>
            <a:off x="12536200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12536200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69" name="cell|N: Tolonen - Microarray (MIT9313)|COG3754|ns"/>
          <p:cNvSpPr/>
          <p:nvPr/>
        </p:nvSpPr>
        <p:spPr>
          <a:xfrm>
            <a:off x="12942105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12942105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71" name="cell|N: Tolonen - Microarray (MIT9313)|COG0399|ns"/>
          <p:cNvSpPr/>
          <p:nvPr/>
        </p:nvSpPr>
        <p:spPr>
          <a:xfrm>
            <a:off x="13348009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13348009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73" name="cell|N: Tolonen - Microarray (MIT9313)|COG0673|ns"/>
          <p:cNvSpPr/>
          <p:nvPr/>
        </p:nvSpPr>
        <p:spPr>
          <a:xfrm>
            <a:off x="13753914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13753914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75" name="cell|N: Tolonen - Microarray (MIT9313)|COG0810|ns"/>
          <p:cNvSpPr/>
          <p:nvPr/>
        </p:nvSpPr>
        <p:spPr>
          <a:xfrm>
            <a:off x="14159818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14159818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77" name="cell|N: Tolonen - Microarray (MIT9313)|COG3206|absent"/>
          <p:cNvSpPr/>
          <p:nvPr/>
        </p:nvSpPr>
        <p:spPr>
          <a:xfrm>
            <a:off x="14565722" y="39136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cell|N: Tolonen - Microarray (MIT9313)|COG1596|absent"/>
          <p:cNvSpPr/>
          <p:nvPr/>
        </p:nvSpPr>
        <p:spPr>
          <a:xfrm>
            <a:off x="14971627" y="39136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cell|N: Tolonen - Microarray (MIT9313)|COG1462|ns"/>
          <p:cNvSpPr/>
          <p:nvPr/>
        </p:nvSpPr>
        <p:spPr>
          <a:xfrm>
            <a:off x="15377531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15377531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81" name="cell|N: Tolonen - Microarray (MIT9313)|COG3210|ns"/>
          <p:cNvSpPr/>
          <p:nvPr/>
        </p:nvSpPr>
        <p:spPr>
          <a:xfrm>
            <a:off x="15783436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15783436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383" name="cell|N: Tolonen - Microarray (MIT9313)|COG2010|ns"/>
          <p:cNvSpPr/>
          <p:nvPr/>
        </p:nvSpPr>
        <p:spPr>
          <a:xfrm>
            <a:off x="16189340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6189340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385" name="cell|N: Tolonen - Microarray (MIT9313)|COG2114|ns"/>
          <p:cNvSpPr/>
          <p:nvPr/>
        </p:nvSpPr>
        <p:spPr>
          <a:xfrm>
            <a:off x="16595244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16595244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87" name="cell|N: Tolonen - Microarray (MIT9313)|COG0454|ns"/>
          <p:cNvSpPr/>
          <p:nvPr/>
        </p:nvSpPr>
        <p:spPr>
          <a:xfrm>
            <a:off x="17001149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17001149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0/7/8</a:t>
            </a:r>
          </a:p>
        </p:txBody>
      </p:sp>
      <p:sp>
        <p:nvSpPr>
          <p:cNvPr id="389" name="cell|N: Tolonen - Microarray (MIT9313)|COG2931|ns"/>
          <p:cNvSpPr/>
          <p:nvPr/>
        </p:nvSpPr>
        <p:spPr>
          <a:xfrm>
            <a:off x="17407053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17407053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0/3/4</a:t>
            </a:r>
          </a:p>
        </p:txBody>
      </p:sp>
      <p:sp>
        <p:nvSpPr>
          <p:cNvPr id="391" name="cell|N: Tolonen - Microarray (MIT9313)|COG0412|ns"/>
          <p:cNvSpPr/>
          <p:nvPr/>
        </p:nvSpPr>
        <p:spPr>
          <a:xfrm>
            <a:off x="17812958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17812958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93" name="cell|N: Tolonen - Microarray (MIT9313)|COG4252|ns"/>
          <p:cNvSpPr/>
          <p:nvPr/>
        </p:nvSpPr>
        <p:spPr>
          <a:xfrm>
            <a:off x="18218862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18218862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95" name="cell|N: Tolonen - Microarray (MIT9313)|COG2192|absent"/>
          <p:cNvSpPr/>
          <p:nvPr/>
        </p:nvSpPr>
        <p:spPr>
          <a:xfrm>
            <a:off x="18624766" y="39136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cell|N: Tolonen - Microarray (MIT9313)|COG2159|absent"/>
          <p:cNvSpPr/>
          <p:nvPr/>
        </p:nvSpPr>
        <p:spPr>
          <a:xfrm>
            <a:off x="19030671" y="391363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cell|N: Tolonen - Microarray (MIT9313)|COG5651|ns"/>
          <p:cNvSpPr/>
          <p:nvPr/>
        </p:nvSpPr>
        <p:spPr>
          <a:xfrm>
            <a:off x="19436575" y="391363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19436575" y="391363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137160" y="4297680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P: Lin - RNA-seq (NATL2A), 59h</a:t>
            </a:r>
          </a:p>
        </p:txBody>
      </p:sp>
      <p:sp>
        <p:nvSpPr>
          <p:cNvPr id="400" name="cell|P: Lin - RNA-seq (NATL2A), 59h|COG0188|nodata"/>
          <p:cNvSpPr/>
          <p:nvPr/>
        </p:nvSpPr>
        <p:spPr>
          <a:xfrm>
            <a:off x="3200400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cell|P: Lin - RNA-seq (NATL2A), 59h|COG1787|absent"/>
          <p:cNvSpPr/>
          <p:nvPr/>
        </p:nvSpPr>
        <p:spPr>
          <a:xfrm>
            <a:off x="3606304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cell|P: Lin - RNA-seq (NATL2A), 59h|COG3727|absent"/>
          <p:cNvSpPr/>
          <p:nvPr/>
        </p:nvSpPr>
        <p:spPr>
          <a:xfrm>
            <a:off x="4012208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cell|P: Lin - RNA-seq (NATL2A), 59h|COG1793|nodata"/>
          <p:cNvSpPr/>
          <p:nvPr/>
        </p:nvSpPr>
        <p:spPr>
          <a:xfrm>
            <a:off x="4418113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cell|P: Lin - RNA-seq (NATL2A), 59h|COG0640|nodata"/>
          <p:cNvSpPr/>
          <p:nvPr/>
        </p:nvSpPr>
        <p:spPr>
          <a:xfrm>
            <a:off x="4824017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cell|P: Lin - RNA-seq (NATL2A), 59h|COG1403|nodata"/>
          <p:cNvSpPr/>
          <p:nvPr/>
        </p:nvSpPr>
        <p:spPr>
          <a:xfrm>
            <a:off x="5229921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cell|P: Lin - RNA-seq (NATL2A), 59h|COG2214|nodata"/>
          <p:cNvSpPr/>
          <p:nvPr/>
        </p:nvSpPr>
        <p:spPr>
          <a:xfrm>
            <a:off x="5635826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cell|P: Lin - RNA-seq (NATL2A), 59h|COG0443|nodata"/>
          <p:cNvSpPr/>
          <p:nvPr/>
        </p:nvSpPr>
        <p:spPr>
          <a:xfrm>
            <a:off x="6041730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cell|P: Lin - RNA-seq (NATL2A), 59h|COG0484|nodata"/>
          <p:cNvSpPr/>
          <p:nvPr/>
        </p:nvSpPr>
        <p:spPr>
          <a:xfrm>
            <a:off x="6447635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cell|P: Lin - RNA-seq (NATL2A), 59h|COG0330|nodata"/>
          <p:cNvSpPr/>
          <p:nvPr/>
        </p:nvSpPr>
        <p:spPr>
          <a:xfrm>
            <a:off x="6853539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cell|P: Lin - RNA-seq (NATL2A), 59h|COG1187|nodata"/>
          <p:cNvSpPr/>
          <p:nvPr/>
        </p:nvSpPr>
        <p:spPr>
          <a:xfrm>
            <a:off x="7259443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cell|P: Lin - RNA-seq (NATL2A), 59h|COG1454|nodata"/>
          <p:cNvSpPr/>
          <p:nvPr/>
        </p:nvSpPr>
        <p:spPr>
          <a:xfrm>
            <a:off x="7665348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cell|P: Lin - RNA-seq (NATL2A), 59h|COG2370|nodata"/>
          <p:cNvSpPr/>
          <p:nvPr/>
        </p:nvSpPr>
        <p:spPr>
          <a:xfrm>
            <a:off x="8071252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cell|P: Lin - RNA-seq (NATL2A), 59h|COG0367|absent"/>
          <p:cNvSpPr/>
          <p:nvPr/>
        </p:nvSpPr>
        <p:spPr>
          <a:xfrm>
            <a:off x="8477157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cell|P: Lin - RNA-seq (NATL2A), 59h|COG0082|nodata"/>
          <p:cNvSpPr/>
          <p:nvPr/>
        </p:nvSpPr>
        <p:spPr>
          <a:xfrm>
            <a:off x="8883061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cell|P: Lin - RNA-seq (NATL2A), 59h|COG2274|nodata"/>
          <p:cNvSpPr/>
          <p:nvPr/>
        </p:nvSpPr>
        <p:spPr>
          <a:xfrm>
            <a:off x="9288965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cell|P: Lin - RNA-seq (NATL2A), 59h|COG1989|nodata"/>
          <p:cNvSpPr/>
          <p:nvPr/>
        </p:nvSpPr>
        <p:spPr>
          <a:xfrm>
            <a:off x="9694870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cell|P: Lin - RNA-seq (NATL2A), 59h|COG0845|nodata"/>
          <p:cNvSpPr/>
          <p:nvPr/>
        </p:nvSpPr>
        <p:spPr>
          <a:xfrm>
            <a:off x="10100774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cell|P: Lin - RNA-seq (NATL2A), 59h|COG0488|nodata"/>
          <p:cNvSpPr/>
          <p:nvPr/>
        </p:nvSpPr>
        <p:spPr>
          <a:xfrm>
            <a:off x="10506679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cell|P: Lin - RNA-seq (NATL2A), 59h|COG0697|nodata"/>
          <p:cNvSpPr/>
          <p:nvPr/>
        </p:nvSpPr>
        <p:spPr>
          <a:xfrm>
            <a:off x="10912583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cell|P: Lin - RNA-seq (NATL2A), 59h|COG3839|nodata"/>
          <p:cNvSpPr/>
          <p:nvPr/>
        </p:nvSpPr>
        <p:spPr>
          <a:xfrm>
            <a:off x="11318487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cell|P: Lin - RNA-seq (NATL2A), 59h|COG1212|absent"/>
          <p:cNvSpPr/>
          <p:nvPr/>
        </p:nvSpPr>
        <p:spPr>
          <a:xfrm>
            <a:off x="11724392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cell|P: Lin - RNA-seq (NATL2A), 59h|COG0477|up"/>
          <p:cNvSpPr/>
          <p:nvPr/>
        </p:nvSpPr>
        <p:spPr>
          <a:xfrm>
            <a:off x="12130296" y="4297680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12130296" y="4297680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1/2/28</a:t>
            </a:r>
          </a:p>
        </p:txBody>
      </p:sp>
      <p:sp>
        <p:nvSpPr>
          <p:cNvPr id="424" name="cell|P: Lin - RNA-seq (NATL2A), 59h|COG1472|nodata"/>
          <p:cNvSpPr/>
          <p:nvPr/>
        </p:nvSpPr>
        <p:spPr>
          <a:xfrm>
            <a:off x="12536200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cell|P: Lin - RNA-seq (NATL2A), 59h|COG3754|absent"/>
          <p:cNvSpPr/>
          <p:nvPr/>
        </p:nvSpPr>
        <p:spPr>
          <a:xfrm>
            <a:off x="12942105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cell|P: Lin - RNA-seq (NATL2A), 59h|COG0399|nodata"/>
          <p:cNvSpPr/>
          <p:nvPr/>
        </p:nvSpPr>
        <p:spPr>
          <a:xfrm>
            <a:off x="13348009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cell|P: Lin - RNA-seq (NATL2A), 59h|COG0673|nodata"/>
          <p:cNvSpPr/>
          <p:nvPr/>
        </p:nvSpPr>
        <p:spPr>
          <a:xfrm>
            <a:off x="13753914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cell|P: Lin - RNA-seq (NATL2A), 59h|COG0810|nodata"/>
          <p:cNvSpPr/>
          <p:nvPr/>
        </p:nvSpPr>
        <p:spPr>
          <a:xfrm>
            <a:off x="14159818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cell|P: Lin - RNA-seq (NATL2A), 59h|COG3206|absent"/>
          <p:cNvSpPr/>
          <p:nvPr/>
        </p:nvSpPr>
        <p:spPr>
          <a:xfrm>
            <a:off x="14565722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cell|P: Lin - RNA-seq (NATL2A), 59h|COG1596|absent"/>
          <p:cNvSpPr/>
          <p:nvPr/>
        </p:nvSpPr>
        <p:spPr>
          <a:xfrm>
            <a:off x="14971627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cell|P: Lin - RNA-seq (NATL2A), 59h|COG1462|absent"/>
          <p:cNvSpPr/>
          <p:nvPr/>
        </p:nvSpPr>
        <p:spPr>
          <a:xfrm>
            <a:off x="15377531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cell|P: Lin - RNA-seq (NATL2A), 59h|COG3210|nodata"/>
          <p:cNvSpPr/>
          <p:nvPr/>
        </p:nvSpPr>
        <p:spPr>
          <a:xfrm>
            <a:off x="15783436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cell|P: Lin - RNA-seq (NATL2A), 59h|COG2010|nodata"/>
          <p:cNvSpPr/>
          <p:nvPr/>
        </p:nvSpPr>
        <p:spPr>
          <a:xfrm>
            <a:off x="16189340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cell|P: Lin - RNA-seq (NATL2A), 59h|COG2114|absent"/>
          <p:cNvSpPr/>
          <p:nvPr/>
        </p:nvSpPr>
        <p:spPr>
          <a:xfrm>
            <a:off x="16595244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cell|P: Lin - RNA-seq (NATL2A), 59h|COG0454|nodata"/>
          <p:cNvSpPr/>
          <p:nvPr/>
        </p:nvSpPr>
        <p:spPr>
          <a:xfrm>
            <a:off x="17001149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cell|P: Lin - RNA-seq (NATL2A), 59h|COG2931|nodata"/>
          <p:cNvSpPr/>
          <p:nvPr/>
        </p:nvSpPr>
        <p:spPr>
          <a:xfrm>
            <a:off x="17407053" y="4297680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cell|P: Lin - RNA-seq (NATL2A), 59h|COG0412|absent"/>
          <p:cNvSpPr/>
          <p:nvPr/>
        </p:nvSpPr>
        <p:spPr>
          <a:xfrm>
            <a:off x="17812958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cell|P: Lin - RNA-seq (NATL2A), 59h|COG4252|absent"/>
          <p:cNvSpPr/>
          <p:nvPr/>
        </p:nvSpPr>
        <p:spPr>
          <a:xfrm>
            <a:off x="18218862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cell|P: Lin - RNA-seq (NATL2A), 59h|COG2192|absent"/>
          <p:cNvSpPr/>
          <p:nvPr/>
        </p:nvSpPr>
        <p:spPr>
          <a:xfrm>
            <a:off x="18624766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cell|P: Lin - RNA-seq (NATL2A), 59h|COG2159|absent"/>
          <p:cNvSpPr/>
          <p:nvPr/>
        </p:nvSpPr>
        <p:spPr>
          <a:xfrm>
            <a:off x="19030671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cell|P: Lin - RNA-seq (NATL2A), 59h|COG5651|absent"/>
          <p:cNvSpPr/>
          <p:nvPr/>
        </p:nvSpPr>
        <p:spPr>
          <a:xfrm>
            <a:off x="19436575" y="4297680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TextBox 441"/>
          <p:cNvSpPr txBox="1"/>
          <p:nvPr/>
        </p:nvSpPr>
        <p:spPr>
          <a:xfrm>
            <a:off x="137160" y="4681728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P: Fuszard - Proteomics (MIT9312)</a:t>
            </a:r>
          </a:p>
        </p:txBody>
      </p:sp>
      <p:sp>
        <p:nvSpPr>
          <p:cNvPr id="443" name="cell|P: Fuszard - Proteomics (MIT9312)|COG0188|ns"/>
          <p:cNvSpPr/>
          <p:nvPr/>
        </p:nvSpPr>
        <p:spPr>
          <a:xfrm>
            <a:off x="3200400" y="468172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TextBox 443"/>
          <p:cNvSpPr txBox="1"/>
          <p:nvPr/>
        </p:nvSpPr>
        <p:spPr>
          <a:xfrm>
            <a:off x="3200400" y="468172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0/1/6</a:t>
            </a:r>
          </a:p>
        </p:txBody>
      </p:sp>
      <p:sp>
        <p:nvSpPr>
          <p:cNvPr id="445" name="cell|P: Fuszard - Proteomics (MIT9312)|COG1787|nodata"/>
          <p:cNvSpPr/>
          <p:nvPr/>
        </p:nvSpPr>
        <p:spPr>
          <a:xfrm>
            <a:off x="3606304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cell|P: Fuszard - Proteomics (MIT9312)|COG3727|nodata"/>
          <p:cNvSpPr/>
          <p:nvPr/>
        </p:nvSpPr>
        <p:spPr>
          <a:xfrm>
            <a:off x="4012208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cell|P: Fuszard - Proteomics (MIT9312)|COG1793|nodata"/>
          <p:cNvSpPr/>
          <p:nvPr/>
        </p:nvSpPr>
        <p:spPr>
          <a:xfrm>
            <a:off x="4418113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cell|P: Fuszard - Proteomics (MIT9312)|COG0640|nodata"/>
          <p:cNvSpPr/>
          <p:nvPr/>
        </p:nvSpPr>
        <p:spPr>
          <a:xfrm>
            <a:off x="4824017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cell|P: Fuszard - Proteomics (MIT9312)|COG1403|nodata"/>
          <p:cNvSpPr/>
          <p:nvPr/>
        </p:nvSpPr>
        <p:spPr>
          <a:xfrm>
            <a:off x="5229921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cell|P: Fuszard - Proteomics (MIT9312)|COG2214|ns"/>
          <p:cNvSpPr/>
          <p:nvPr/>
        </p:nvSpPr>
        <p:spPr>
          <a:xfrm>
            <a:off x="5635826" y="468172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5635826" y="468172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0/1/5</a:t>
            </a:r>
          </a:p>
        </p:txBody>
      </p:sp>
      <p:sp>
        <p:nvSpPr>
          <p:cNvPr id="452" name="cell|P: Fuszard - Proteomics (MIT9312)|COG0443|nodata"/>
          <p:cNvSpPr/>
          <p:nvPr/>
        </p:nvSpPr>
        <p:spPr>
          <a:xfrm>
            <a:off x="6041730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cell|P: Fuszard - Proteomics (MIT9312)|COG0484|ns"/>
          <p:cNvSpPr/>
          <p:nvPr/>
        </p:nvSpPr>
        <p:spPr>
          <a:xfrm>
            <a:off x="6447635" y="468172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TextBox 453"/>
          <p:cNvSpPr txBox="1"/>
          <p:nvPr/>
        </p:nvSpPr>
        <p:spPr>
          <a:xfrm>
            <a:off x="6447635" y="468172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0/1/5</a:t>
            </a:r>
          </a:p>
        </p:txBody>
      </p:sp>
      <p:sp>
        <p:nvSpPr>
          <p:cNvPr id="455" name="cell|P: Fuszard - Proteomics (MIT9312)|COG0330|ns"/>
          <p:cNvSpPr/>
          <p:nvPr/>
        </p:nvSpPr>
        <p:spPr>
          <a:xfrm>
            <a:off x="6853539" y="4681728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6853539" y="468172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457" name="cell|P: Fuszard - Proteomics (MIT9312)|COG1187|nodata"/>
          <p:cNvSpPr/>
          <p:nvPr/>
        </p:nvSpPr>
        <p:spPr>
          <a:xfrm>
            <a:off x="7259443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cell|P: Fuszard - Proteomics (MIT9312)|COG1454|absent"/>
          <p:cNvSpPr/>
          <p:nvPr/>
        </p:nvSpPr>
        <p:spPr>
          <a:xfrm>
            <a:off x="7665348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cell|P: Fuszard - Proteomics (MIT9312)|COG2370|absent"/>
          <p:cNvSpPr/>
          <p:nvPr/>
        </p:nvSpPr>
        <p:spPr>
          <a:xfrm>
            <a:off x="8071252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cell|P: Fuszard - Proteomics (MIT9312)|COG0367|nodata"/>
          <p:cNvSpPr/>
          <p:nvPr/>
        </p:nvSpPr>
        <p:spPr>
          <a:xfrm>
            <a:off x="8477157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cell|P: Fuszard - Proteomics (MIT9312)|COG0082|nodata"/>
          <p:cNvSpPr/>
          <p:nvPr/>
        </p:nvSpPr>
        <p:spPr>
          <a:xfrm>
            <a:off x="8883061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cell|P: Fuszard - Proteomics (MIT9312)|COG2274|nodata"/>
          <p:cNvSpPr/>
          <p:nvPr/>
        </p:nvSpPr>
        <p:spPr>
          <a:xfrm>
            <a:off x="9288965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cell|P: Fuszard - Proteomics (MIT9312)|COG1989|nodata"/>
          <p:cNvSpPr/>
          <p:nvPr/>
        </p:nvSpPr>
        <p:spPr>
          <a:xfrm>
            <a:off x="9694870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cell|P: Fuszard - Proteomics (MIT9312)|COG0845|nodata"/>
          <p:cNvSpPr/>
          <p:nvPr/>
        </p:nvSpPr>
        <p:spPr>
          <a:xfrm>
            <a:off x="10100774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cell|P: Fuszard - Proteomics (MIT9312)|COG0488|nodata"/>
          <p:cNvSpPr/>
          <p:nvPr/>
        </p:nvSpPr>
        <p:spPr>
          <a:xfrm>
            <a:off x="10506679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cell|P: Fuszard - Proteomics (MIT9312)|COG0697|nodata"/>
          <p:cNvSpPr/>
          <p:nvPr/>
        </p:nvSpPr>
        <p:spPr>
          <a:xfrm>
            <a:off x="10912583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cell|P: Fuszard - Proteomics (MIT9312)|COG3839|absent"/>
          <p:cNvSpPr/>
          <p:nvPr/>
        </p:nvSpPr>
        <p:spPr>
          <a:xfrm>
            <a:off x="11318487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cell|P: Fuszard - Proteomics (MIT9312)|COG1212|absent"/>
          <p:cNvSpPr/>
          <p:nvPr/>
        </p:nvSpPr>
        <p:spPr>
          <a:xfrm>
            <a:off x="11724392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cell|P: Fuszard - Proteomics (MIT9312)|COG0477|up"/>
          <p:cNvSpPr/>
          <p:nvPr/>
        </p:nvSpPr>
        <p:spPr>
          <a:xfrm>
            <a:off x="12130296" y="4681728"/>
            <a:ext cx="405904" cy="384048"/>
          </a:xfrm>
          <a:prstGeom prst="rect">
            <a:avLst/>
          </a:prstGeom>
          <a:solidFill>
            <a:srgbClr val="D7767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TextBox 469"/>
          <p:cNvSpPr txBox="1"/>
          <p:nvPr/>
        </p:nvSpPr>
        <p:spPr>
          <a:xfrm>
            <a:off x="12130296" y="4681728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1/2/25</a:t>
            </a:r>
          </a:p>
        </p:txBody>
      </p:sp>
      <p:sp>
        <p:nvSpPr>
          <p:cNvPr id="471" name="cell|P: Fuszard - Proteomics (MIT9312)|COG1472|absent"/>
          <p:cNvSpPr/>
          <p:nvPr/>
        </p:nvSpPr>
        <p:spPr>
          <a:xfrm>
            <a:off x="12536200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cell|P: Fuszard - Proteomics (MIT9312)|COG3754|absent"/>
          <p:cNvSpPr/>
          <p:nvPr/>
        </p:nvSpPr>
        <p:spPr>
          <a:xfrm>
            <a:off x="12942105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cell|P: Fuszard - Proteomics (MIT9312)|COG0399|nodata"/>
          <p:cNvSpPr/>
          <p:nvPr/>
        </p:nvSpPr>
        <p:spPr>
          <a:xfrm>
            <a:off x="13348009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cell|P: Fuszard - Proteomics (MIT9312)|COG0673|nodata"/>
          <p:cNvSpPr/>
          <p:nvPr/>
        </p:nvSpPr>
        <p:spPr>
          <a:xfrm>
            <a:off x="13753914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cell|P: Fuszard - Proteomics (MIT9312)|COG0810|absent"/>
          <p:cNvSpPr/>
          <p:nvPr/>
        </p:nvSpPr>
        <p:spPr>
          <a:xfrm>
            <a:off x="14159818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cell|P: Fuszard - Proteomics (MIT9312)|COG3206|nodata"/>
          <p:cNvSpPr/>
          <p:nvPr/>
        </p:nvSpPr>
        <p:spPr>
          <a:xfrm>
            <a:off x="14565722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cell|P: Fuszard - Proteomics (MIT9312)|COG1596|nodata"/>
          <p:cNvSpPr/>
          <p:nvPr/>
        </p:nvSpPr>
        <p:spPr>
          <a:xfrm>
            <a:off x="14971627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cell|P: Fuszard - Proteomics (MIT9312)|COG1462|absent"/>
          <p:cNvSpPr/>
          <p:nvPr/>
        </p:nvSpPr>
        <p:spPr>
          <a:xfrm>
            <a:off x="15377531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cell|P: Fuszard - Proteomics (MIT9312)|COG3210|absent"/>
          <p:cNvSpPr/>
          <p:nvPr/>
        </p:nvSpPr>
        <p:spPr>
          <a:xfrm>
            <a:off x="15783436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cell|P: Fuszard - Proteomics (MIT9312)|COG2010|nodata"/>
          <p:cNvSpPr/>
          <p:nvPr/>
        </p:nvSpPr>
        <p:spPr>
          <a:xfrm>
            <a:off x="16189340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cell|P: Fuszard - Proteomics (MIT9312)|COG2114|absent"/>
          <p:cNvSpPr/>
          <p:nvPr/>
        </p:nvSpPr>
        <p:spPr>
          <a:xfrm>
            <a:off x="16595244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cell|P: Fuszard - Proteomics (MIT9312)|COG0454|nodata"/>
          <p:cNvSpPr/>
          <p:nvPr/>
        </p:nvSpPr>
        <p:spPr>
          <a:xfrm>
            <a:off x="17001149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cell|P: Fuszard - Proteomics (MIT9312)|COG2931|absent"/>
          <p:cNvSpPr/>
          <p:nvPr/>
        </p:nvSpPr>
        <p:spPr>
          <a:xfrm>
            <a:off x="17407053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cell|P: Fuszard - Proteomics (MIT9312)|COG0412|nodata"/>
          <p:cNvSpPr/>
          <p:nvPr/>
        </p:nvSpPr>
        <p:spPr>
          <a:xfrm>
            <a:off x="17812958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cell|P: Fuszard - Proteomics (MIT9312)|COG4252|absent"/>
          <p:cNvSpPr/>
          <p:nvPr/>
        </p:nvSpPr>
        <p:spPr>
          <a:xfrm>
            <a:off x="18218862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cell|P: Fuszard - Proteomics (MIT9312)|COG2192|nodata"/>
          <p:cNvSpPr/>
          <p:nvPr/>
        </p:nvSpPr>
        <p:spPr>
          <a:xfrm>
            <a:off x="18624766" y="4681728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cell|P: Fuszard - Proteomics (MIT9312)|COG2159|absent"/>
          <p:cNvSpPr/>
          <p:nvPr/>
        </p:nvSpPr>
        <p:spPr>
          <a:xfrm>
            <a:off x="19030671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cell|P: Fuszard - Proteomics (MIT9312)|COG5651|absent"/>
          <p:cNvSpPr/>
          <p:nvPr/>
        </p:nvSpPr>
        <p:spPr>
          <a:xfrm>
            <a:off x="19436575" y="4681728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TextBox 488"/>
          <p:cNvSpPr txBox="1"/>
          <p:nvPr/>
        </p:nvSpPr>
        <p:spPr>
          <a:xfrm>
            <a:off x="137160" y="5065776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P: Fuszard - Proteomics (NATL2A)</a:t>
            </a:r>
          </a:p>
        </p:txBody>
      </p:sp>
      <p:sp>
        <p:nvSpPr>
          <p:cNvPr id="490" name="cell|P: Fuszard - Proteomics (NATL2A)|COG0188|nodata"/>
          <p:cNvSpPr/>
          <p:nvPr/>
        </p:nvSpPr>
        <p:spPr>
          <a:xfrm>
            <a:off x="3200400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cell|P: Fuszard - Proteomics (NATL2A)|COG1787|absent"/>
          <p:cNvSpPr/>
          <p:nvPr/>
        </p:nvSpPr>
        <p:spPr>
          <a:xfrm>
            <a:off x="3606304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cell|P: Fuszard - Proteomics (NATL2A)|COG3727|absent"/>
          <p:cNvSpPr/>
          <p:nvPr/>
        </p:nvSpPr>
        <p:spPr>
          <a:xfrm>
            <a:off x="4012208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cell|P: Fuszard - Proteomics (NATL2A)|COG1793|nodata"/>
          <p:cNvSpPr/>
          <p:nvPr/>
        </p:nvSpPr>
        <p:spPr>
          <a:xfrm>
            <a:off x="4418113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cell|P: Fuszard - Proteomics (NATL2A)|COG0640|nodata"/>
          <p:cNvSpPr/>
          <p:nvPr/>
        </p:nvSpPr>
        <p:spPr>
          <a:xfrm>
            <a:off x="4824017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cell|P: Fuszard - Proteomics (NATL2A)|COG1403|nodata"/>
          <p:cNvSpPr/>
          <p:nvPr/>
        </p:nvSpPr>
        <p:spPr>
          <a:xfrm>
            <a:off x="5229921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cell|P: Fuszard - Proteomics (NATL2A)|COG2214|nodata"/>
          <p:cNvSpPr/>
          <p:nvPr/>
        </p:nvSpPr>
        <p:spPr>
          <a:xfrm>
            <a:off x="5635826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cell|P: Fuszard - Proteomics (NATL2A)|COG0443|down"/>
          <p:cNvSpPr/>
          <p:nvPr/>
        </p:nvSpPr>
        <p:spPr>
          <a:xfrm>
            <a:off x="6041730" y="5065776"/>
            <a:ext cx="405904" cy="384048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TextBox 497"/>
          <p:cNvSpPr txBox="1"/>
          <p:nvPr/>
        </p:nvSpPr>
        <p:spPr>
          <a:xfrm>
            <a:off x="6041730" y="506577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2/2/4</a:t>
            </a:r>
          </a:p>
        </p:txBody>
      </p:sp>
      <p:sp>
        <p:nvSpPr>
          <p:cNvPr id="499" name="cell|P: Fuszard - Proteomics (NATL2A)|COG0484|nodata"/>
          <p:cNvSpPr/>
          <p:nvPr/>
        </p:nvSpPr>
        <p:spPr>
          <a:xfrm>
            <a:off x="6447635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cell|P: Fuszard - Proteomics (NATL2A)|COG0330|nodata"/>
          <p:cNvSpPr/>
          <p:nvPr/>
        </p:nvSpPr>
        <p:spPr>
          <a:xfrm>
            <a:off x="6853539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cell|P: Fuszard - Proteomics (NATL2A)|COG1187|nodata"/>
          <p:cNvSpPr/>
          <p:nvPr/>
        </p:nvSpPr>
        <p:spPr>
          <a:xfrm>
            <a:off x="7259443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cell|P: Fuszard - Proteomics (NATL2A)|COG1454|nodata"/>
          <p:cNvSpPr/>
          <p:nvPr/>
        </p:nvSpPr>
        <p:spPr>
          <a:xfrm>
            <a:off x="7665348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cell|P: Fuszard - Proteomics (NATL2A)|COG2370|nodata"/>
          <p:cNvSpPr/>
          <p:nvPr/>
        </p:nvSpPr>
        <p:spPr>
          <a:xfrm>
            <a:off x="8071252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cell|P: Fuszard - Proteomics (NATL2A)|COG0367|absent"/>
          <p:cNvSpPr/>
          <p:nvPr/>
        </p:nvSpPr>
        <p:spPr>
          <a:xfrm>
            <a:off x="8477157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cell|P: Fuszard - Proteomics (NATL2A)|COG0082|nodata"/>
          <p:cNvSpPr/>
          <p:nvPr/>
        </p:nvSpPr>
        <p:spPr>
          <a:xfrm>
            <a:off x="8883061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cell|P: Fuszard - Proteomics (NATL2A)|COG2274|nodata"/>
          <p:cNvSpPr/>
          <p:nvPr/>
        </p:nvSpPr>
        <p:spPr>
          <a:xfrm>
            <a:off x="9288965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cell|P: Fuszard - Proteomics (NATL2A)|COG1989|nodata"/>
          <p:cNvSpPr/>
          <p:nvPr/>
        </p:nvSpPr>
        <p:spPr>
          <a:xfrm>
            <a:off x="9694870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cell|P: Fuszard - Proteomics (NATL2A)|COG0845|nodata"/>
          <p:cNvSpPr/>
          <p:nvPr/>
        </p:nvSpPr>
        <p:spPr>
          <a:xfrm>
            <a:off x="10100774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cell|P: Fuszard - Proteomics (NATL2A)|COG0488|nodata"/>
          <p:cNvSpPr/>
          <p:nvPr/>
        </p:nvSpPr>
        <p:spPr>
          <a:xfrm>
            <a:off x="10506679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cell|P: Fuszard - Proteomics (NATL2A)|COG0697|nodata"/>
          <p:cNvSpPr/>
          <p:nvPr/>
        </p:nvSpPr>
        <p:spPr>
          <a:xfrm>
            <a:off x="10912583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cell|P: Fuszard - Proteomics (NATL2A)|COG3839|nodata"/>
          <p:cNvSpPr/>
          <p:nvPr/>
        </p:nvSpPr>
        <p:spPr>
          <a:xfrm>
            <a:off x="11318487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cell|P: Fuszard - Proteomics (NATL2A)|COG1212|absent"/>
          <p:cNvSpPr/>
          <p:nvPr/>
        </p:nvSpPr>
        <p:spPr>
          <a:xfrm>
            <a:off x="11724392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cell|P: Fuszard - Proteomics (NATL2A)|COG0477|ns"/>
          <p:cNvSpPr/>
          <p:nvPr/>
        </p:nvSpPr>
        <p:spPr>
          <a:xfrm>
            <a:off x="12130296" y="5065776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12130296" y="5065776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0/1/28</a:t>
            </a:r>
          </a:p>
        </p:txBody>
      </p:sp>
      <p:sp>
        <p:nvSpPr>
          <p:cNvPr id="515" name="cell|P: Fuszard - Proteomics (NATL2A)|COG1472|nodata"/>
          <p:cNvSpPr/>
          <p:nvPr/>
        </p:nvSpPr>
        <p:spPr>
          <a:xfrm>
            <a:off x="12536200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cell|P: Fuszard - Proteomics (NATL2A)|COG3754|absent"/>
          <p:cNvSpPr/>
          <p:nvPr/>
        </p:nvSpPr>
        <p:spPr>
          <a:xfrm>
            <a:off x="12942105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cell|P: Fuszard - Proteomics (NATL2A)|COG0399|nodata"/>
          <p:cNvSpPr/>
          <p:nvPr/>
        </p:nvSpPr>
        <p:spPr>
          <a:xfrm>
            <a:off x="13348009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cell|P: Fuszard - Proteomics (NATL2A)|COG0673|nodata"/>
          <p:cNvSpPr/>
          <p:nvPr/>
        </p:nvSpPr>
        <p:spPr>
          <a:xfrm>
            <a:off x="13753914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cell|P: Fuszard - Proteomics (NATL2A)|COG0810|nodata"/>
          <p:cNvSpPr/>
          <p:nvPr/>
        </p:nvSpPr>
        <p:spPr>
          <a:xfrm>
            <a:off x="14159818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cell|P: Fuszard - Proteomics (NATL2A)|COG3206|absent"/>
          <p:cNvSpPr/>
          <p:nvPr/>
        </p:nvSpPr>
        <p:spPr>
          <a:xfrm>
            <a:off x="14565722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cell|P: Fuszard - Proteomics (NATL2A)|COG1596|absent"/>
          <p:cNvSpPr/>
          <p:nvPr/>
        </p:nvSpPr>
        <p:spPr>
          <a:xfrm>
            <a:off x="14971627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cell|P: Fuszard - Proteomics (NATL2A)|COG1462|absent"/>
          <p:cNvSpPr/>
          <p:nvPr/>
        </p:nvSpPr>
        <p:spPr>
          <a:xfrm>
            <a:off x="15377531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cell|P: Fuszard - Proteomics (NATL2A)|COG3210|nodata"/>
          <p:cNvSpPr/>
          <p:nvPr/>
        </p:nvSpPr>
        <p:spPr>
          <a:xfrm>
            <a:off x="15783436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cell|P: Fuszard - Proteomics (NATL2A)|COG2010|nodata"/>
          <p:cNvSpPr/>
          <p:nvPr/>
        </p:nvSpPr>
        <p:spPr>
          <a:xfrm>
            <a:off x="16189340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cell|P: Fuszard - Proteomics (NATL2A)|COG2114|absent"/>
          <p:cNvSpPr/>
          <p:nvPr/>
        </p:nvSpPr>
        <p:spPr>
          <a:xfrm>
            <a:off x="16595244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cell|P: Fuszard - Proteomics (NATL2A)|COG0454|nodata"/>
          <p:cNvSpPr/>
          <p:nvPr/>
        </p:nvSpPr>
        <p:spPr>
          <a:xfrm>
            <a:off x="17001149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cell|P: Fuszard - Proteomics (NATL2A)|COG2931|nodata"/>
          <p:cNvSpPr/>
          <p:nvPr/>
        </p:nvSpPr>
        <p:spPr>
          <a:xfrm>
            <a:off x="17407053" y="5065776"/>
            <a:ext cx="405904" cy="384048"/>
          </a:xfrm>
          <a:prstGeom prst="rect">
            <a:avLst/>
          </a:prstGeom>
          <a:solidFill>
            <a:srgbClr val="F4F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cell|P: Fuszard - Proteomics (NATL2A)|COG0412|absent"/>
          <p:cNvSpPr/>
          <p:nvPr/>
        </p:nvSpPr>
        <p:spPr>
          <a:xfrm>
            <a:off x="17812958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cell|P: Fuszard - Proteomics (NATL2A)|COG4252|absent"/>
          <p:cNvSpPr/>
          <p:nvPr/>
        </p:nvSpPr>
        <p:spPr>
          <a:xfrm>
            <a:off x="18218862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cell|P: Fuszard - Proteomics (NATL2A)|COG2192|absent"/>
          <p:cNvSpPr/>
          <p:nvPr/>
        </p:nvSpPr>
        <p:spPr>
          <a:xfrm>
            <a:off x="18624766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cell|P: Fuszard - Proteomics (NATL2A)|COG2159|absent"/>
          <p:cNvSpPr/>
          <p:nvPr/>
        </p:nvSpPr>
        <p:spPr>
          <a:xfrm>
            <a:off x="19030671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cell|P: Fuszard - Proteomics (NATL2A)|COG5651|absent"/>
          <p:cNvSpPr/>
          <p:nvPr/>
        </p:nvSpPr>
        <p:spPr>
          <a:xfrm>
            <a:off x="19436575" y="5065776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TextBox 532"/>
          <p:cNvSpPr txBox="1"/>
          <p:nvPr/>
        </p:nvSpPr>
        <p:spPr>
          <a:xfrm>
            <a:off x="137160" y="5449824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P: Martiny - Microarray (MED4)</a:t>
            </a:r>
          </a:p>
        </p:txBody>
      </p:sp>
      <p:sp>
        <p:nvSpPr>
          <p:cNvPr id="534" name="cell|P: Martiny - Microarray (MED4)|COG0188|up"/>
          <p:cNvSpPr/>
          <p:nvPr/>
        </p:nvSpPr>
        <p:spPr>
          <a:xfrm>
            <a:off x="3200400" y="5449824"/>
            <a:ext cx="405904" cy="384048"/>
          </a:xfrm>
          <a:prstGeom prst="rect">
            <a:avLst/>
          </a:prstGeom>
          <a:solidFill>
            <a:srgbClr val="CF958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3200400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1/6/6</a:t>
            </a:r>
          </a:p>
        </p:txBody>
      </p:sp>
      <p:sp>
        <p:nvSpPr>
          <p:cNvPr id="536" name="cell|P: Martiny - Microarray (MED4)|COG1787|ns"/>
          <p:cNvSpPr/>
          <p:nvPr/>
        </p:nvSpPr>
        <p:spPr>
          <a:xfrm>
            <a:off x="3606304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3606304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38" name="cell|P: Martiny - Microarray (MED4)|COG3727|absent"/>
          <p:cNvSpPr/>
          <p:nvPr/>
        </p:nvSpPr>
        <p:spPr>
          <a:xfrm>
            <a:off x="4012208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cell|P: Martiny - Microarray (MED4)|COG1793|ns"/>
          <p:cNvSpPr/>
          <p:nvPr/>
        </p:nvSpPr>
        <p:spPr>
          <a:xfrm>
            <a:off x="4418113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4418113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541" name="cell|P: Martiny - Microarray (MED4)|COG0640|ns"/>
          <p:cNvSpPr/>
          <p:nvPr/>
        </p:nvSpPr>
        <p:spPr>
          <a:xfrm>
            <a:off x="4824017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TextBox 541"/>
          <p:cNvSpPr txBox="1"/>
          <p:nvPr/>
        </p:nvSpPr>
        <p:spPr>
          <a:xfrm>
            <a:off x="4824017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43" name="cell|P: Martiny - Microarray (MED4)|COG1403|up"/>
          <p:cNvSpPr/>
          <p:nvPr/>
        </p:nvSpPr>
        <p:spPr>
          <a:xfrm>
            <a:off x="5229921" y="5449824"/>
            <a:ext cx="405904" cy="384048"/>
          </a:xfrm>
          <a:prstGeom prst="rect">
            <a:avLst/>
          </a:prstGeom>
          <a:solidFill>
            <a:srgbClr val="D18D8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TextBox 543"/>
          <p:cNvSpPr txBox="1"/>
          <p:nvPr/>
        </p:nvSpPr>
        <p:spPr>
          <a:xfrm>
            <a:off x="5229921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1/4/4</a:t>
            </a:r>
          </a:p>
        </p:txBody>
      </p:sp>
      <p:sp>
        <p:nvSpPr>
          <p:cNvPr id="545" name="cell|P: Martiny - Microarray (MED4)|COG2214|ns"/>
          <p:cNvSpPr/>
          <p:nvPr/>
        </p:nvSpPr>
        <p:spPr>
          <a:xfrm>
            <a:off x="5635826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5635826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547" name="cell|P: Martiny - Microarray (MED4)|COG0443|ns"/>
          <p:cNvSpPr/>
          <p:nvPr/>
        </p:nvSpPr>
        <p:spPr>
          <a:xfrm>
            <a:off x="6041730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TextBox 547"/>
          <p:cNvSpPr txBox="1"/>
          <p:nvPr/>
        </p:nvSpPr>
        <p:spPr>
          <a:xfrm>
            <a:off x="6041730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549" name="cell|P: Martiny - Microarray (MED4)|COG0484|ns"/>
          <p:cNvSpPr/>
          <p:nvPr/>
        </p:nvSpPr>
        <p:spPr>
          <a:xfrm>
            <a:off x="6447635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TextBox 549"/>
          <p:cNvSpPr txBox="1"/>
          <p:nvPr/>
        </p:nvSpPr>
        <p:spPr>
          <a:xfrm>
            <a:off x="6447635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551" name="cell|P: Martiny - Microarray (MED4)|COG0330|ns"/>
          <p:cNvSpPr/>
          <p:nvPr/>
        </p:nvSpPr>
        <p:spPr>
          <a:xfrm>
            <a:off x="6853539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TextBox 551"/>
          <p:cNvSpPr txBox="1"/>
          <p:nvPr/>
        </p:nvSpPr>
        <p:spPr>
          <a:xfrm>
            <a:off x="6853539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53" name="cell|P: Martiny - Microarray (MED4)|COG1187|ns"/>
          <p:cNvSpPr/>
          <p:nvPr/>
        </p:nvSpPr>
        <p:spPr>
          <a:xfrm>
            <a:off x="7259443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TextBox 553"/>
          <p:cNvSpPr txBox="1"/>
          <p:nvPr/>
        </p:nvSpPr>
        <p:spPr>
          <a:xfrm>
            <a:off x="7259443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555" name="cell|P: Martiny - Microarray (MED4)|COG1454|absent"/>
          <p:cNvSpPr/>
          <p:nvPr/>
        </p:nvSpPr>
        <p:spPr>
          <a:xfrm>
            <a:off x="7665348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cell|P: Martiny - Microarray (MED4)|COG2370|ns"/>
          <p:cNvSpPr/>
          <p:nvPr/>
        </p:nvSpPr>
        <p:spPr>
          <a:xfrm>
            <a:off x="8071252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TextBox 556"/>
          <p:cNvSpPr txBox="1"/>
          <p:nvPr/>
        </p:nvSpPr>
        <p:spPr>
          <a:xfrm>
            <a:off x="8071252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58" name="cell|P: Martiny - Microarray (MED4)|COG0367|absent"/>
          <p:cNvSpPr/>
          <p:nvPr/>
        </p:nvSpPr>
        <p:spPr>
          <a:xfrm>
            <a:off x="8477157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cell|P: Martiny - Microarray (MED4)|COG0082|ns"/>
          <p:cNvSpPr/>
          <p:nvPr/>
        </p:nvSpPr>
        <p:spPr>
          <a:xfrm>
            <a:off x="8883061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8883061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61" name="cell|P: Martiny - Microarray (MED4)|COG2274|absent"/>
          <p:cNvSpPr/>
          <p:nvPr/>
        </p:nvSpPr>
        <p:spPr>
          <a:xfrm>
            <a:off x="9288965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cell|P: Martiny - Microarray (MED4)|COG1989|absent"/>
          <p:cNvSpPr/>
          <p:nvPr/>
        </p:nvSpPr>
        <p:spPr>
          <a:xfrm>
            <a:off x="9694870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cell|P: Martiny - Microarray (MED4)|COG0845|ns"/>
          <p:cNvSpPr/>
          <p:nvPr/>
        </p:nvSpPr>
        <p:spPr>
          <a:xfrm>
            <a:off x="10100774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TextBox 563"/>
          <p:cNvSpPr txBox="1"/>
          <p:nvPr/>
        </p:nvSpPr>
        <p:spPr>
          <a:xfrm>
            <a:off x="10100774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565" name="cell|P: Martiny - Microarray (MED4)|COG0488|ns"/>
          <p:cNvSpPr/>
          <p:nvPr/>
        </p:nvSpPr>
        <p:spPr>
          <a:xfrm>
            <a:off x="10506679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TextBox 565"/>
          <p:cNvSpPr txBox="1"/>
          <p:nvPr/>
        </p:nvSpPr>
        <p:spPr>
          <a:xfrm>
            <a:off x="10506679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567" name="cell|P: Martiny - Microarray (MED4)|COG0697|ns"/>
          <p:cNvSpPr/>
          <p:nvPr/>
        </p:nvSpPr>
        <p:spPr>
          <a:xfrm>
            <a:off x="10912583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TextBox 567"/>
          <p:cNvSpPr txBox="1"/>
          <p:nvPr/>
        </p:nvSpPr>
        <p:spPr>
          <a:xfrm>
            <a:off x="10912583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0/9/9</a:t>
            </a:r>
          </a:p>
        </p:txBody>
      </p:sp>
      <p:sp>
        <p:nvSpPr>
          <p:cNvPr id="569" name="cell|P: Martiny - Microarray (MED4)|COG3839|absent"/>
          <p:cNvSpPr/>
          <p:nvPr/>
        </p:nvSpPr>
        <p:spPr>
          <a:xfrm>
            <a:off x="11318487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cell|P: Martiny - Microarray (MED4)|COG1212|absent"/>
          <p:cNvSpPr/>
          <p:nvPr/>
        </p:nvSpPr>
        <p:spPr>
          <a:xfrm>
            <a:off x="11724392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cell|P: Martiny - Microarray (MED4)|COG0477|up"/>
          <p:cNvSpPr/>
          <p:nvPr/>
        </p:nvSpPr>
        <p:spPr>
          <a:xfrm>
            <a:off x="12130296" y="5449824"/>
            <a:ext cx="405904" cy="384048"/>
          </a:xfrm>
          <a:prstGeom prst="rect">
            <a:avLst/>
          </a:prstGeom>
          <a:solidFill>
            <a:srgbClr val="CD9C9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TextBox 571"/>
          <p:cNvSpPr txBox="1"/>
          <p:nvPr/>
        </p:nvSpPr>
        <p:spPr>
          <a:xfrm>
            <a:off x="12130296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2/25/25</a:t>
            </a:r>
          </a:p>
        </p:txBody>
      </p:sp>
      <p:sp>
        <p:nvSpPr>
          <p:cNvPr id="573" name="cell|P: Martiny - Microarray (MED4)|COG1472|absent"/>
          <p:cNvSpPr/>
          <p:nvPr/>
        </p:nvSpPr>
        <p:spPr>
          <a:xfrm>
            <a:off x="12536200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cell|P: Martiny - Microarray (MED4)|COG3754|absent"/>
          <p:cNvSpPr/>
          <p:nvPr/>
        </p:nvSpPr>
        <p:spPr>
          <a:xfrm>
            <a:off x="12942105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cell|P: Martiny - Microarray (MED4)|COG0399|ns"/>
          <p:cNvSpPr/>
          <p:nvPr/>
        </p:nvSpPr>
        <p:spPr>
          <a:xfrm>
            <a:off x="13348009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TextBox 575"/>
          <p:cNvSpPr txBox="1"/>
          <p:nvPr/>
        </p:nvSpPr>
        <p:spPr>
          <a:xfrm>
            <a:off x="13348009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577" name="cell|P: Martiny - Microarray (MED4)|COG0673|ns"/>
          <p:cNvSpPr/>
          <p:nvPr/>
        </p:nvSpPr>
        <p:spPr>
          <a:xfrm>
            <a:off x="13753914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TextBox 577"/>
          <p:cNvSpPr txBox="1"/>
          <p:nvPr/>
        </p:nvSpPr>
        <p:spPr>
          <a:xfrm>
            <a:off x="13753914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579" name="cell|P: Martiny - Microarray (MED4)|COG0810|absent"/>
          <p:cNvSpPr/>
          <p:nvPr/>
        </p:nvSpPr>
        <p:spPr>
          <a:xfrm>
            <a:off x="14159818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cell|P: Martiny - Microarray (MED4)|COG3206|absent"/>
          <p:cNvSpPr/>
          <p:nvPr/>
        </p:nvSpPr>
        <p:spPr>
          <a:xfrm>
            <a:off x="14565722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cell|P: Martiny - Microarray (MED4)|COG1596|ns"/>
          <p:cNvSpPr/>
          <p:nvPr/>
        </p:nvSpPr>
        <p:spPr>
          <a:xfrm>
            <a:off x="14971627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TextBox 581"/>
          <p:cNvSpPr txBox="1"/>
          <p:nvPr/>
        </p:nvSpPr>
        <p:spPr>
          <a:xfrm>
            <a:off x="14971627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583" name="cell|P: Martiny - Microarray (MED4)|COG1462|absent"/>
          <p:cNvSpPr/>
          <p:nvPr/>
        </p:nvSpPr>
        <p:spPr>
          <a:xfrm>
            <a:off x="15377531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cell|P: Martiny - Microarray (MED4)|COG3210|ns"/>
          <p:cNvSpPr/>
          <p:nvPr/>
        </p:nvSpPr>
        <p:spPr>
          <a:xfrm>
            <a:off x="15783436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TextBox 584"/>
          <p:cNvSpPr txBox="1"/>
          <p:nvPr/>
        </p:nvSpPr>
        <p:spPr>
          <a:xfrm>
            <a:off x="15783436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86" name="cell|P: Martiny - Microarray (MED4)|COG2010|ns"/>
          <p:cNvSpPr/>
          <p:nvPr/>
        </p:nvSpPr>
        <p:spPr>
          <a:xfrm>
            <a:off x="16189340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TextBox 586"/>
          <p:cNvSpPr txBox="1"/>
          <p:nvPr/>
        </p:nvSpPr>
        <p:spPr>
          <a:xfrm>
            <a:off x="16189340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88" name="cell|P: Martiny - Microarray (MED4)|COG2114|absent"/>
          <p:cNvSpPr/>
          <p:nvPr/>
        </p:nvSpPr>
        <p:spPr>
          <a:xfrm>
            <a:off x="16595244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cell|P: Martiny - Microarray (MED4)|COG0454|ns"/>
          <p:cNvSpPr/>
          <p:nvPr/>
        </p:nvSpPr>
        <p:spPr>
          <a:xfrm>
            <a:off x="17001149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TextBox 589"/>
          <p:cNvSpPr txBox="1"/>
          <p:nvPr/>
        </p:nvSpPr>
        <p:spPr>
          <a:xfrm>
            <a:off x="17001149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591" name="cell|P: Martiny - Microarray (MED4)|COG2931|absent"/>
          <p:cNvSpPr/>
          <p:nvPr/>
        </p:nvSpPr>
        <p:spPr>
          <a:xfrm>
            <a:off x="17407053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cell|P: Martiny - Microarray (MED4)|COG0412|absent"/>
          <p:cNvSpPr/>
          <p:nvPr/>
        </p:nvSpPr>
        <p:spPr>
          <a:xfrm>
            <a:off x="17812958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cell|P: Martiny - Microarray (MED4)|COG4252|absent"/>
          <p:cNvSpPr/>
          <p:nvPr/>
        </p:nvSpPr>
        <p:spPr>
          <a:xfrm>
            <a:off x="18218862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cell|P: Martiny - Microarray (MED4)|COG2192|ns"/>
          <p:cNvSpPr/>
          <p:nvPr/>
        </p:nvSpPr>
        <p:spPr>
          <a:xfrm>
            <a:off x="18624766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18624766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596" name="cell|P: Martiny - Microarray (MED4)|COG2159|ns"/>
          <p:cNvSpPr/>
          <p:nvPr/>
        </p:nvSpPr>
        <p:spPr>
          <a:xfrm>
            <a:off x="19030671" y="5449824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19030671" y="5449824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598" name="cell|P: Martiny - Microarray (MED4)|COG5651|absent"/>
          <p:cNvSpPr/>
          <p:nvPr/>
        </p:nvSpPr>
        <p:spPr>
          <a:xfrm>
            <a:off x="19436575" y="5449824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137160" y="5833872"/>
            <a:ext cx="28803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52514E"/>
                </a:solidFill>
                <a:latin typeface="Calibri"/>
              </a:rPr>
              <a:t>P: Martiny - Microarray (MIT9313)*</a:t>
            </a:r>
          </a:p>
        </p:txBody>
      </p:sp>
      <p:sp>
        <p:nvSpPr>
          <p:cNvPr id="600" name="cell|P: Martiny - Microarray (MIT9313)*|COG0188|ns"/>
          <p:cNvSpPr/>
          <p:nvPr/>
        </p:nvSpPr>
        <p:spPr>
          <a:xfrm>
            <a:off x="3200400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TextBox 600"/>
          <p:cNvSpPr txBox="1"/>
          <p:nvPr/>
        </p:nvSpPr>
        <p:spPr>
          <a:xfrm>
            <a:off x="3200400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602" name="cell|P: Martiny - Microarray (MIT9313)*|COG1787|absent"/>
          <p:cNvSpPr/>
          <p:nvPr/>
        </p:nvSpPr>
        <p:spPr>
          <a:xfrm>
            <a:off x="3606304" y="58338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cell|P: Martiny - Microarray (MIT9313)*|COG3727|absent"/>
          <p:cNvSpPr/>
          <p:nvPr/>
        </p:nvSpPr>
        <p:spPr>
          <a:xfrm>
            <a:off x="4012208" y="58338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cell|P: Martiny - Microarray (MIT9313)*|COG1793|ns"/>
          <p:cNvSpPr/>
          <p:nvPr/>
        </p:nvSpPr>
        <p:spPr>
          <a:xfrm>
            <a:off x="4418113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TextBox 604"/>
          <p:cNvSpPr txBox="1"/>
          <p:nvPr/>
        </p:nvSpPr>
        <p:spPr>
          <a:xfrm>
            <a:off x="4418113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06" name="cell|P: Martiny - Microarray (MIT9313)*|COG0640|ns"/>
          <p:cNvSpPr/>
          <p:nvPr/>
        </p:nvSpPr>
        <p:spPr>
          <a:xfrm>
            <a:off x="4824017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TextBox 606"/>
          <p:cNvSpPr txBox="1"/>
          <p:nvPr/>
        </p:nvSpPr>
        <p:spPr>
          <a:xfrm>
            <a:off x="4824017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08" name="cell|P: Martiny - Microarray (MIT9313)*|COG1403|ns"/>
          <p:cNvSpPr/>
          <p:nvPr/>
        </p:nvSpPr>
        <p:spPr>
          <a:xfrm>
            <a:off x="5229921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TextBox 608"/>
          <p:cNvSpPr txBox="1"/>
          <p:nvPr/>
        </p:nvSpPr>
        <p:spPr>
          <a:xfrm>
            <a:off x="5229921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10" name="cell|P: Martiny - Microarray (MIT9313)*|COG2214|ns"/>
          <p:cNvSpPr/>
          <p:nvPr/>
        </p:nvSpPr>
        <p:spPr>
          <a:xfrm>
            <a:off x="5635826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TextBox 610"/>
          <p:cNvSpPr txBox="1"/>
          <p:nvPr/>
        </p:nvSpPr>
        <p:spPr>
          <a:xfrm>
            <a:off x="5635826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0/7/7</a:t>
            </a:r>
          </a:p>
        </p:txBody>
      </p:sp>
      <p:sp>
        <p:nvSpPr>
          <p:cNvPr id="612" name="cell|P: Martiny - Microarray (MIT9313)*|COG0443|ns"/>
          <p:cNvSpPr/>
          <p:nvPr/>
        </p:nvSpPr>
        <p:spPr>
          <a:xfrm>
            <a:off x="6041730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TextBox 612"/>
          <p:cNvSpPr txBox="1"/>
          <p:nvPr/>
        </p:nvSpPr>
        <p:spPr>
          <a:xfrm>
            <a:off x="6041730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0/5/5</a:t>
            </a:r>
          </a:p>
        </p:txBody>
      </p:sp>
      <p:sp>
        <p:nvSpPr>
          <p:cNvPr id="614" name="cell|P: Martiny - Microarray (MIT9313)*|COG0484|ns"/>
          <p:cNvSpPr/>
          <p:nvPr/>
        </p:nvSpPr>
        <p:spPr>
          <a:xfrm>
            <a:off x="6447635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TextBox 614"/>
          <p:cNvSpPr txBox="1"/>
          <p:nvPr/>
        </p:nvSpPr>
        <p:spPr>
          <a:xfrm>
            <a:off x="6447635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616" name="cell|P: Martiny - Microarray (MIT9313)*|COG0330|ns"/>
          <p:cNvSpPr/>
          <p:nvPr/>
        </p:nvSpPr>
        <p:spPr>
          <a:xfrm>
            <a:off x="6853539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TextBox 616"/>
          <p:cNvSpPr txBox="1"/>
          <p:nvPr/>
        </p:nvSpPr>
        <p:spPr>
          <a:xfrm>
            <a:off x="6853539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618" name="cell|P: Martiny - Microarray (MIT9313)*|COG1187|ns"/>
          <p:cNvSpPr/>
          <p:nvPr/>
        </p:nvSpPr>
        <p:spPr>
          <a:xfrm>
            <a:off x="7259443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TextBox 618"/>
          <p:cNvSpPr txBox="1"/>
          <p:nvPr/>
        </p:nvSpPr>
        <p:spPr>
          <a:xfrm>
            <a:off x="7259443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620" name="cell|P: Martiny - Microarray (MIT9313)*|COG1454|ns"/>
          <p:cNvSpPr/>
          <p:nvPr/>
        </p:nvSpPr>
        <p:spPr>
          <a:xfrm>
            <a:off x="7665348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TextBox 620"/>
          <p:cNvSpPr txBox="1"/>
          <p:nvPr/>
        </p:nvSpPr>
        <p:spPr>
          <a:xfrm>
            <a:off x="7665348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22" name="cell|P: Martiny - Microarray (MIT9313)*|COG2370|down"/>
          <p:cNvSpPr/>
          <p:nvPr/>
        </p:nvSpPr>
        <p:spPr>
          <a:xfrm>
            <a:off x="8071252" y="5833872"/>
            <a:ext cx="405904" cy="384048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TextBox 622"/>
          <p:cNvSpPr txBox="1"/>
          <p:nvPr/>
        </p:nvSpPr>
        <p:spPr>
          <a:xfrm>
            <a:off x="8071252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624" name="cell|P: Martiny - Microarray (MIT9313)*|COG0367|absent"/>
          <p:cNvSpPr/>
          <p:nvPr/>
        </p:nvSpPr>
        <p:spPr>
          <a:xfrm>
            <a:off x="8477157" y="58338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cell|P: Martiny - Microarray (MIT9313)*|COG0082|ns"/>
          <p:cNvSpPr/>
          <p:nvPr/>
        </p:nvSpPr>
        <p:spPr>
          <a:xfrm>
            <a:off x="8883061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TextBox 625"/>
          <p:cNvSpPr txBox="1"/>
          <p:nvPr/>
        </p:nvSpPr>
        <p:spPr>
          <a:xfrm>
            <a:off x="8883061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627" name="cell|P: Martiny - Microarray (MIT9313)*|COG2274|ns"/>
          <p:cNvSpPr/>
          <p:nvPr/>
        </p:nvSpPr>
        <p:spPr>
          <a:xfrm>
            <a:off x="9288965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TextBox 627"/>
          <p:cNvSpPr txBox="1"/>
          <p:nvPr/>
        </p:nvSpPr>
        <p:spPr>
          <a:xfrm>
            <a:off x="9288965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629" name="cell|P: Martiny - Microarray (MIT9313)*|COG1989|ns"/>
          <p:cNvSpPr/>
          <p:nvPr/>
        </p:nvSpPr>
        <p:spPr>
          <a:xfrm>
            <a:off x="9694870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TextBox 629"/>
          <p:cNvSpPr txBox="1"/>
          <p:nvPr/>
        </p:nvSpPr>
        <p:spPr>
          <a:xfrm>
            <a:off x="9694870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31" name="cell|P: Martiny - Microarray (MIT9313)*|COG0845|ns"/>
          <p:cNvSpPr/>
          <p:nvPr/>
        </p:nvSpPr>
        <p:spPr>
          <a:xfrm>
            <a:off x="10100774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TextBox 631"/>
          <p:cNvSpPr txBox="1"/>
          <p:nvPr/>
        </p:nvSpPr>
        <p:spPr>
          <a:xfrm>
            <a:off x="10100774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0/11/11</a:t>
            </a:r>
          </a:p>
        </p:txBody>
      </p:sp>
      <p:sp>
        <p:nvSpPr>
          <p:cNvPr id="633" name="cell|P: Martiny - Microarray (MIT9313)*|COG0488|ns"/>
          <p:cNvSpPr/>
          <p:nvPr/>
        </p:nvSpPr>
        <p:spPr>
          <a:xfrm>
            <a:off x="10506679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TextBox 633"/>
          <p:cNvSpPr txBox="1"/>
          <p:nvPr/>
        </p:nvSpPr>
        <p:spPr>
          <a:xfrm>
            <a:off x="10506679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0/6/6</a:t>
            </a:r>
          </a:p>
        </p:txBody>
      </p:sp>
      <p:sp>
        <p:nvSpPr>
          <p:cNvPr id="635" name="cell|P: Martiny - Microarray (MIT9313)*|COG0697|down"/>
          <p:cNvSpPr/>
          <p:nvPr/>
        </p:nvSpPr>
        <p:spPr>
          <a:xfrm>
            <a:off x="10912583" y="5833872"/>
            <a:ext cx="405904" cy="384048"/>
          </a:xfrm>
          <a:prstGeom prst="rect">
            <a:avLst/>
          </a:prstGeom>
          <a:solidFill>
            <a:srgbClr val="92AAC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TextBox 635"/>
          <p:cNvSpPr txBox="1"/>
          <p:nvPr/>
        </p:nvSpPr>
        <p:spPr>
          <a:xfrm>
            <a:off x="10912583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1/11/11</a:t>
            </a:r>
          </a:p>
        </p:txBody>
      </p:sp>
      <p:sp>
        <p:nvSpPr>
          <p:cNvPr id="637" name="cell|P: Martiny - Microarray (MIT9313)*|COG3839|up"/>
          <p:cNvSpPr/>
          <p:nvPr/>
        </p:nvSpPr>
        <p:spPr>
          <a:xfrm>
            <a:off x="11318487" y="5833872"/>
            <a:ext cx="405904" cy="384048"/>
          </a:xfrm>
          <a:prstGeom prst="rect">
            <a:avLst/>
          </a:prstGeom>
          <a:solidFill>
            <a:srgbClr val="D386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TextBox 637"/>
          <p:cNvSpPr txBox="1"/>
          <p:nvPr/>
        </p:nvSpPr>
        <p:spPr>
          <a:xfrm>
            <a:off x="11318487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1/3/3</a:t>
            </a:r>
          </a:p>
        </p:txBody>
      </p:sp>
      <p:sp>
        <p:nvSpPr>
          <p:cNvPr id="639" name="cell|P: Martiny - Microarray (MIT9313)*|COG1212|ns"/>
          <p:cNvSpPr/>
          <p:nvPr/>
        </p:nvSpPr>
        <p:spPr>
          <a:xfrm>
            <a:off x="11724392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TextBox 639"/>
          <p:cNvSpPr txBox="1"/>
          <p:nvPr/>
        </p:nvSpPr>
        <p:spPr>
          <a:xfrm>
            <a:off x="11724392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41" name="cell|P: Martiny - Microarray (MIT9313)*|COG0477|up"/>
          <p:cNvSpPr/>
          <p:nvPr/>
        </p:nvSpPr>
        <p:spPr>
          <a:xfrm>
            <a:off x="12130296" y="5833872"/>
            <a:ext cx="405904" cy="384048"/>
          </a:xfrm>
          <a:prstGeom prst="rect">
            <a:avLst/>
          </a:prstGeom>
          <a:solidFill>
            <a:srgbClr val="CCA19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TextBox 641"/>
          <p:cNvSpPr txBox="1"/>
          <p:nvPr/>
        </p:nvSpPr>
        <p:spPr>
          <a:xfrm>
            <a:off x="12130296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1/34/34</a:t>
            </a:r>
          </a:p>
        </p:txBody>
      </p:sp>
      <p:sp>
        <p:nvSpPr>
          <p:cNvPr id="643" name="cell|P: Martiny - Microarray (MIT9313)*|COG1472|ns"/>
          <p:cNvSpPr/>
          <p:nvPr/>
        </p:nvSpPr>
        <p:spPr>
          <a:xfrm>
            <a:off x="12536200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TextBox 643"/>
          <p:cNvSpPr txBox="1"/>
          <p:nvPr/>
        </p:nvSpPr>
        <p:spPr>
          <a:xfrm>
            <a:off x="12536200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45" name="cell|P: Martiny - Microarray (MIT9313)*|COG3754|ns"/>
          <p:cNvSpPr/>
          <p:nvPr/>
        </p:nvSpPr>
        <p:spPr>
          <a:xfrm>
            <a:off x="12942105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TextBox 645"/>
          <p:cNvSpPr txBox="1"/>
          <p:nvPr/>
        </p:nvSpPr>
        <p:spPr>
          <a:xfrm>
            <a:off x="12942105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47" name="cell|P: Martiny - Microarray (MIT9313)*|COG0399|ns"/>
          <p:cNvSpPr/>
          <p:nvPr/>
        </p:nvSpPr>
        <p:spPr>
          <a:xfrm>
            <a:off x="13348009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TextBox 647"/>
          <p:cNvSpPr txBox="1"/>
          <p:nvPr/>
        </p:nvSpPr>
        <p:spPr>
          <a:xfrm>
            <a:off x="13348009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49" name="cell|P: Martiny - Microarray (MIT9313)*|COG0673|ns"/>
          <p:cNvSpPr/>
          <p:nvPr/>
        </p:nvSpPr>
        <p:spPr>
          <a:xfrm>
            <a:off x="13753914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TextBox 649"/>
          <p:cNvSpPr txBox="1"/>
          <p:nvPr/>
        </p:nvSpPr>
        <p:spPr>
          <a:xfrm>
            <a:off x="13753914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51" name="cell|P: Martiny - Microarray (MIT9313)*|COG0810|ns"/>
          <p:cNvSpPr/>
          <p:nvPr/>
        </p:nvSpPr>
        <p:spPr>
          <a:xfrm>
            <a:off x="14159818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TextBox 651"/>
          <p:cNvSpPr txBox="1"/>
          <p:nvPr/>
        </p:nvSpPr>
        <p:spPr>
          <a:xfrm>
            <a:off x="14159818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53" name="cell|P: Martiny - Microarray (MIT9313)*|COG3206|absent"/>
          <p:cNvSpPr/>
          <p:nvPr/>
        </p:nvSpPr>
        <p:spPr>
          <a:xfrm>
            <a:off x="14565722" y="58338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cell|P: Martiny - Microarray (MIT9313)*|COG1596|absent"/>
          <p:cNvSpPr/>
          <p:nvPr/>
        </p:nvSpPr>
        <p:spPr>
          <a:xfrm>
            <a:off x="14971627" y="58338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cell|P: Martiny - Microarray (MIT9313)*|COG1462|down"/>
          <p:cNvSpPr/>
          <p:nvPr/>
        </p:nvSpPr>
        <p:spPr>
          <a:xfrm>
            <a:off x="15377531" y="5833872"/>
            <a:ext cx="405904" cy="384048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TextBox 655"/>
          <p:cNvSpPr txBox="1"/>
          <p:nvPr/>
        </p:nvSpPr>
        <p:spPr>
          <a:xfrm>
            <a:off x="15377531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1/1/1</a:t>
            </a:r>
          </a:p>
        </p:txBody>
      </p:sp>
      <p:sp>
        <p:nvSpPr>
          <p:cNvPr id="657" name="cell|P: Martiny - Microarray (MIT9313)*|COG3210|ns"/>
          <p:cNvSpPr/>
          <p:nvPr/>
        </p:nvSpPr>
        <p:spPr>
          <a:xfrm>
            <a:off x="15783436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TextBox 657"/>
          <p:cNvSpPr txBox="1"/>
          <p:nvPr/>
        </p:nvSpPr>
        <p:spPr>
          <a:xfrm>
            <a:off x="15783436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0/2/2</a:t>
            </a:r>
          </a:p>
        </p:txBody>
      </p:sp>
      <p:sp>
        <p:nvSpPr>
          <p:cNvPr id="659" name="cell|P: Martiny - Microarray (MIT9313)*|COG2010|ns"/>
          <p:cNvSpPr/>
          <p:nvPr/>
        </p:nvSpPr>
        <p:spPr>
          <a:xfrm>
            <a:off x="16189340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TextBox 659"/>
          <p:cNvSpPr txBox="1"/>
          <p:nvPr/>
        </p:nvSpPr>
        <p:spPr>
          <a:xfrm>
            <a:off x="16189340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0/3/3</a:t>
            </a:r>
          </a:p>
        </p:txBody>
      </p:sp>
      <p:sp>
        <p:nvSpPr>
          <p:cNvPr id="661" name="cell|P: Martiny - Microarray (MIT9313)*|COG2114|ns"/>
          <p:cNvSpPr/>
          <p:nvPr/>
        </p:nvSpPr>
        <p:spPr>
          <a:xfrm>
            <a:off x="16595244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TextBox 661"/>
          <p:cNvSpPr txBox="1"/>
          <p:nvPr/>
        </p:nvSpPr>
        <p:spPr>
          <a:xfrm>
            <a:off x="16595244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63" name="cell|P: Martiny - Microarray (MIT9313)*|COG0454|ns"/>
          <p:cNvSpPr/>
          <p:nvPr/>
        </p:nvSpPr>
        <p:spPr>
          <a:xfrm>
            <a:off x="17001149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TextBox 663"/>
          <p:cNvSpPr txBox="1"/>
          <p:nvPr/>
        </p:nvSpPr>
        <p:spPr>
          <a:xfrm>
            <a:off x="17001149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0/8/8</a:t>
            </a:r>
          </a:p>
        </p:txBody>
      </p:sp>
      <p:sp>
        <p:nvSpPr>
          <p:cNvPr id="665" name="cell|P: Martiny - Microarray (MIT9313)*|COG2931|ns"/>
          <p:cNvSpPr/>
          <p:nvPr/>
        </p:nvSpPr>
        <p:spPr>
          <a:xfrm>
            <a:off x="17407053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TextBox 665"/>
          <p:cNvSpPr txBox="1"/>
          <p:nvPr/>
        </p:nvSpPr>
        <p:spPr>
          <a:xfrm>
            <a:off x="17407053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0/4/4</a:t>
            </a:r>
          </a:p>
        </p:txBody>
      </p:sp>
      <p:sp>
        <p:nvSpPr>
          <p:cNvPr id="667" name="cell|P: Martiny - Microarray (MIT9313)*|COG0412|ns"/>
          <p:cNvSpPr/>
          <p:nvPr/>
        </p:nvSpPr>
        <p:spPr>
          <a:xfrm>
            <a:off x="17812958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TextBox 667"/>
          <p:cNvSpPr txBox="1"/>
          <p:nvPr/>
        </p:nvSpPr>
        <p:spPr>
          <a:xfrm>
            <a:off x="17812958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69" name="cell|P: Martiny - Microarray (MIT9313)*|COG4252|ns"/>
          <p:cNvSpPr/>
          <p:nvPr/>
        </p:nvSpPr>
        <p:spPr>
          <a:xfrm>
            <a:off x="18218862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TextBox 669"/>
          <p:cNvSpPr txBox="1"/>
          <p:nvPr/>
        </p:nvSpPr>
        <p:spPr>
          <a:xfrm>
            <a:off x="18218862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71" name="cell|P: Martiny - Microarray (MIT9313)*|COG2192|absent"/>
          <p:cNvSpPr/>
          <p:nvPr/>
        </p:nvSpPr>
        <p:spPr>
          <a:xfrm>
            <a:off x="18624766" y="58338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cell|P: Martiny - Microarray (MIT9313)*|COG2159|absent"/>
          <p:cNvSpPr/>
          <p:nvPr/>
        </p:nvSpPr>
        <p:spPr>
          <a:xfrm>
            <a:off x="19030671" y="5833872"/>
            <a:ext cx="405904" cy="384048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cell|P: Martiny - Microarray (MIT9313)*|COG5651|ns"/>
          <p:cNvSpPr/>
          <p:nvPr/>
        </p:nvSpPr>
        <p:spPr>
          <a:xfrm>
            <a:off x="19436575" y="5833872"/>
            <a:ext cx="405904" cy="384048"/>
          </a:xfrm>
          <a:prstGeom prst="rect">
            <a:avLst/>
          </a:prstGeom>
          <a:solidFill>
            <a:srgbClr val="C3C2B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19436575" y="5833872"/>
            <a:ext cx="405904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B0B0B"/>
                </a:solidFill>
                <a:latin typeface="Calibri"/>
              </a:rPr>
              <a:t>0/1/1</a:t>
            </a:r>
          </a:p>
        </p:txBody>
      </p:sp>
      <p:sp>
        <p:nvSpPr>
          <p:cNvPr id="675" name="Rectangle 674"/>
          <p:cNvSpPr/>
          <p:nvPr/>
        </p:nvSpPr>
        <p:spPr>
          <a:xfrm>
            <a:off x="3200400" y="4286707"/>
            <a:ext cx="16642080" cy="25603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5624853" y="23774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7654375" y="23774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11713419" y="23774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14148845" y="23774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14554750" y="23774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15366558" y="23774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16178367" y="23774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16584272" y="23774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17396080" y="23774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17801985" y="2377440"/>
            <a:ext cx="18288" cy="3840480"/>
          </a:xfrm>
          <a:prstGeom prst="rect">
            <a:avLst/>
          </a:prstGeom>
          <a:solidFill>
            <a:srgbClr val="9A99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3200400" y="7772400"/>
            <a:ext cx="256032" cy="256032"/>
          </a:xfrm>
          <a:prstGeom prst="rect">
            <a:avLst/>
          </a:prstGeom>
          <a:solidFill>
            <a:srgbClr val="E34948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3529584" y="7754112"/>
            <a:ext cx="31089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B0B0B"/>
                </a:solidFill>
                <a:latin typeface="Calibri"/>
              </a:rPr>
              <a:t>Upregulated (most of COG's genes)</a:t>
            </a:r>
          </a:p>
        </p:txBody>
      </p:sp>
      <p:sp>
        <p:nvSpPr>
          <p:cNvPr id="688" name="Rectangle 687"/>
          <p:cNvSpPr/>
          <p:nvPr/>
        </p:nvSpPr>
        <p:spPr>
          <a:xfrm>
            <a:off x="5828385" y="7772400"/>
            <a:ext cx="256032" cy="256032"/>
          </a:xfrm>
          <a:prstGeom prst="rect">
            <a:avLst/>
          </a:prstGeom>
          <a:solidFill>
            <a:srgbClr val="2A78D6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6157569" y="7754112"/>
            <a:ext cx="31089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B0B0B"/>
                </a:solidFill>
                <a:latin typeface="Calibri"/>
              </a:rPr>
              <a:t>Downregulated</a:t>
            </a:r>
          </a:p>
        </p:txBody>
      </p:sp>
      <p:sp>
        <p:nvSpPr>
          <p:cNvPr id="690" name="Rectangle 689"/>
          <p:cNvSpPr/>
          <p:nvPr/>
        </p:nvSpPr>
        <p:spPr>
          <a:xfrm>
            <a:off x="7395667" y="7772400"/>
            <a:ext cx="256032" cy="256032"/>
          </a:xfrm>
          <a:prstGeom prst="rect">
            <a:avLst/>
          </a:prstGeom>
          <a:solidFill>
            <a:srgbClr val="C3C2B7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TextBox 690"/>
          <p:cNvSpPr txBox="1"/>
          <p:nvPr/>
        </p:nvSpPr>
        <p:spPr>
          <a:xfrm>
            <a:off x="7724851" y="7754112"/>
            <a:ext cx="31089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B0B0B"/>
                </a:solidFill>
                <a:latin typeface="Calibri"/>
              </a:rPr>
              <a:t>Tested, no gene significant</a:t>
            </a:r>
          </a:p>
        </p:txBody>
      </p:sp>
      <p:sp>
        <p:nvSpPr>
          <p:cNvPr id="692" name="Rectangle 691"/>
          <p:cNvSpPr/>
          <p:nvPr/>
        </p:nvSpPr>
        <p:spPr>
          <a:xfrm>
            <a:off x="9705441" y="7772400"/>
            <a:ext cx="256032" cy="256032"/>
          </a:xfrm>
          <a:prstGeom prst="rect">
            <a:avLst/>
          </a:prstGeom>
          <a:solidFill>
            <a:srgbClr val="F4F3EF"/>
          </a:solid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10034625" y="7754112"/>
            <a:ext cx="31089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B0B0B"/>
                </a:solidFill>
                <a:latin typeface="Calibri"/>
              </a:rPr>
              <a:t>No data (COG present, not in table)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12439497" y="7772400"/>
            <a:ext cx="256032" cy="256032"/>
          </a:xfrm>
          <a:prstGeom prst="rect">
            <a:avLst/>
          </a:prstGeom>
          <a:pattFill prst="ltUpDiag">
            <a:fgClr>
              <a:srgbClr val="B7B5AC"/>
            </a:fgClr>
            <a:bgClr>
              <a:srgbClr val="FAF9F5"/>
            </a:bgClr>
          </a:pattFill>
          <a:ln w="9525">
            <a:solidFill>
              <a:srgbClr val="8987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TextBox 694"/>
          <p:cNvSpPr txBox="1"/>
          <p:nvPr/>
        </p:nvSpPr>
        <p:spPr>
          <a:xfrm>
            <a:off x="12768681" y="7754112"/>
            <a:ext cx="31089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0B0B0B"/>
                </a:solidFill>
                <a:latin typeface="Calibri"/>
              </a:rPr>
              <a:t>COG absent from strain genome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
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453128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531280" cy="100584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379976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0B0B0B"/>
                </a:solidFill>
                <a:latin typeface="Arial"/>
              </a:rPr>
              <a:t>41 candidate starvation-sensitivity COGs vs. nutrient-starvation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4379976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98781"/>
                </a:solidFill>
                <a:latin typeface="Arial"/>
              </a:rPr>
              <a:t>cell text k / n / m = significant / measured in this experiment / copies in that strain's genome  ·  fill = dominant direction, blended toward grey by k/n  ·  orange = the COG's genes split direction (k shown as up/down arrows)  ·  columns grouped by functional category, N / mixed strip = that COG's Direction tag  ·  * Martiny MIT9313 at 24h (no 48h row); table-absent COGs = not significant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3752" y="2286000"/>
            <a:ext cx="5712546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645919"/>
            <a:ext cx="6864690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Quality control - DNA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41162" y="2286000"/>
            <a:ext cx="4751311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65090" y="1645919"/>
            <a:ext cx="5903455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Quality control - Protein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47338" y="2286000"/>
            <a:ext cx="9557487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71266" y="1645919"/>
            <a:ext cx="10709631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Amino acid &amp; mixotrophy biosynthesis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59689" y="2286000"/>
            <a:ext cx="5712546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83617" y="1645919"/>
            <a:ext cx="6864690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LPS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27100" y="2286000"/>
            <a:ext cx="906371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51028" y="1645919"/>
            <a:ext cx="2058515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Membrane linker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88335" y="2286000"/>
            <a:ext cx="1867606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12263" y="1645919"/>
            <a:ext cx="3019750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Exopolysaccharide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10805" y="2286000"/>
            <a:ext cx="1867606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34733" y="1645919"/>
            <a:ext cx="3019750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Biofilm / Attachment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33275" y="2286000"/>
            <a:ext cx="906371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57203" y="1645919"/>
            <a:ext cx="2058515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Energy production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94511" y="2286000"/>
            <a:ext cx="1867606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18439" y="1645919"/>
            <a:ext cx="3019750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Translation, transcription &amp; signalling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516981" y="2286000"/>
            <a:ext cx="906371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0909" y="1645919"/>
            <a:ext cx="2058515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RTX toxins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78216" y="2286000"/>
            <a:ext cx="4751311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902144" y="1645919"/>
            <a:ext cx="5903455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7555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8790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0025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1260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2495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13730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74965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36200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97436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58671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419906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381141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42376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303611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64846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226081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187317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48552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109787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071022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032257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993492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954727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915962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77198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838433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799668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760903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722138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683373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644608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605843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67079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528314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89549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450784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412019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373254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334489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295724" y="2459736"/>
            <a:ext cx="96123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8" name="TextBox 67"/>
          <p:cNvSpPr txBox="1"/>
          <p:nvPr/>
        </p:nvSpPr>
        <p:spPr>
          <a:xfrm rot="18000000">
            <a:off x="4412537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GyrA  COG0188</a:t>
            </a:r>
          </a:p>
        </p:txBody>
      </p:sp>
      <p:sp>
        <p:nvSpPr>
          <p:cNvPr id="69" name="TextBox 68"/>
          <p:cNvSpPr txBox="1"/>
          <p:nvPr/>
        </p:nvSpPr>
        <p:spPr>
          <a:xfrm rot="18000000">
            <a:off x="5373772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Mrr  COG1787</a:t>
            </a:r>
          </a:p>
        </p:txBody>
      </p:sp>
      <p:sp>
        <p:nvSpPr>
          <p:cNvPr id="70" name="TextBox 69"/>
          <p:cNvSpPr txBox="1"/>
          <p:nvPr/>
        </p:nvSpPr>
        <p:spPr>
          <a:xfrm rot="18000000">
            <a:off x="6335007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Vsr  COG3727</a:t>
            </a:r>
          </a:p>
        </p:txBody>
      </p:sp>
      <p:sp>
        <p:nvSpPr>
          <p:cNvPr id="71" name="TextBox 70"/>
          <p:cNvSpPr txBox="1"/>
          <p:nvPr/>
        </p:nvSpPr>
        <p:spPr>
          <a:xfrm rot="18000000">
            <a:off x="7296242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CDC9  COG1793</a:t>
            </a:r>
          </a:p>
        </p:txBody>
      </p:sp>
      <p:sp>
        <p:nvSpPr>
          <p:cNvPr id="72" name="TextBox 71"/>
          <p:cNvSpPr txBox="1"/>
          <p:nvPr/>
        </p:nvSpPr>
        <p:spPr>
          <a:xfrm rot="18000000">
            <a:off x="8257478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smtB/ArsR  COG0640</a:t>
            </a:r>
          </a:p>
        </p:txBody>
      </p:sp>
      <p:sp>
        <p:nvSpPr>
          <p:cNvPr id="73" name="TextBox 72"/>
          <p:cNvSpPr txBox="1"/>
          <p:nvPr/>
        </p:nvSpPr>
        <p:spPr>
          <a:xfrm rot="18000000">
            <a:off x="9218713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McrA  COG1403</a:t>
            </a:r>
          </a:p>
        </p:txBody>
      </p:sp>
      <p:sp>
        <p:nvSpPr>
          <p:cNvPr id="74" name="TextBox 73"/>
          <p:cNvSpPr txBox="1"/>
          <p:nvPr/>
        </p:nvSpPr>
        <p:spPr>
          <a:xfrm rot="18000000">
            <a:off x="10179948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CbpA  COG2214</a:t>
            </a:r>
          </a:p>
        </p:txBody>
      </p:sp>
      <p:sp>
        <p:nvSpPr>
          <p:cNvPr id="75" name="TextBox 74"/>
          <p:cNvSpPr txBox="1"/>
          <p:nvPr/>
        </p:nvSpPr>
        <p:spPr>
          <a:xfrm rot="18000000">
            <a:off x="11141183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DnaK  COG0443</a:t>
            </a:r>
          </a:p>
        </p:txBody>
      </p:sp>
      <p:sp>
        <p:nvSpPr>
          <p:cNvPr id="76" name="TextBox 75"/>
          <p:cNvSpPr txBox="1"/>
          <p:nvPr/>
        </p:nvSpPr>
        <p:spPr>
          <a:xfrm rot="18000000">
            <a:off x="12102418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DnaJ  COG0484</a:t>
            </a:r>
          </a:p>
        </p:txBody>
      </p:sp>
      <p:sp>
        <p:nvSpPr>
          <p:cNvPr id="77" name="TextBox 76"/>
          <p:cNvSpPr txBox="1"/>
          <p:nvPr/>
        </p:nvSpPr>
        <p:spPr>
          <a:xfrm rot="18000000">
            <a:off x="13063653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HflC  COG0330</a:t>
            </a:r>
          </a:p>
        </p:txBody>
      </p:sp>
      <p:sp>
        <p:nvSpPr>
          <p:cNvPr id="78" name="TextBox 77"/>
          <p:cNvSpPr txBox="1"/>
          <p:nvPr/>
        </p:nvSpPr>
        <p:spPr>
          <a:xfrm rot="18000000">
            <a:off x="14024888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RsuA  COG1187</a:t>
            </a:r>
          </a:p>
        </p:txBody>
      </p:sp>
      <p:sp>
        <p:nvSpPr>
          <p:cNvPr id="79" name="TextBox 78"/>
          <p:cNvSpPr txBox="1"/>
          <p:nvPr/>
        </p:nvSpPr>
        <p:spPr>
          <a:xfrm rot="18000000">
            <a:off x="14986123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EutG  COG1454</a:t>
            </a:r>
          </a:p>
        </p:txBody>
      </p:sp>
      <p:sp>
        <p:nvSpPr>
          <p:cNvPr id="80" name="TextBox 79"/>
          <p:cNvSpPr txBox="1"/>
          <p:nvPr/>
        </p:nvSpPr>
        <p:spPr>
          <a:xfrm rot="18000000">
            <a:off x="15947359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HupE  COG2370</a:t>
            </a:r>
          </a:p>
        </p:txBody>
      </p:sp>
      <p:sp>
        <p:nvSpPr>
          <p:cNvPr id="81" name="TextBox 80"/>
          <p:cNvSpPr txBox="1"/>
          <p:nvPr/>
        </p:nvSpPr>
        <p:spPr>
          <a:xfrm rot="18000000">
            <a:off x="16908594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AsnB  COG0367</a:t>
            </a:r>
          </a:p>
        </p:txBody>
      </p:sp>
      <p:sp>
        <p:nvSpPr>
          <p:cNvPr id="82" name="TextBox 81"/>
          <p:cNvSpPr txBox="1"/>
          <p:nvPr/>
        </p:nvSpPr>
        <p:spPr>
          <a:xfrm rot="18000000">
            <a:off x="17869829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AroC  COG0082</a:t>
            </a:r>
          </a:p>
        </p:txBody>
      </p:sp>
      <p:sp>
        <p:nvSpPr>
          <p:cNvPr id="83" name="TextBox 82"/>
          <p:cNvSpPr txBox="1"/>
          <p:nvPr/>
        </p:nvSpPr>
        <p:spPr>
          <a:xfrm rot="18000000">
            <a:off x="18831064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SunT  COG2274</a:t>
            </a:r>
          </a:p>
        </p:txBody>
      </p:sp>
      <p:sp>
        <p:nvSpPr>
          <p:cNvPr id="84" name="TextBox 83"/>
          <p:cNvSpPr txBox="1"/>
          <p:nvPr/>
        </p:nvSpPr>
        <p:spPr>
          <a:xfrm rot="18000000">
            <a:off x="19792299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PulO  COG1989</a:t>
            </a:r>
          </a:p>
        </p:txBody>
      </p:sp>
      <p:sp>
        <p:nvSpPr>
          <p:cNvPr id="85" name="TextBox 84"/>
          <p:cNvSpPr txBox="1"/>
          <p:nvPr/>
        </p:nvSpPr>
        <p:spPr>
          <a:xfrm rot="18000000">
            <a:off x="20753534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AcrA  COG0845</a:t>
            </a:r>
          </a:p>
        </p:txBody>
      </p:sp>
      <p:sp>
        <p:nvSpPr>
          <p:cNvPr id="86" name="TextBox 85"/>
          <p:cNvSpPr txBox="1"/>
          <p:nvPr/>
        </p:nvSpPr>
        <p:spPr>
          <a:xfrm rot="18000000">
            <a:off x="21714769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Uup  COG0488</a:t>
            </a:r>
          </a:p>
        </p:txBody>
      </p:sp>
      <p:sp>
        <p:nvSpPr>
          <p:cNvPr id="87" name="TextBox 86"/>
          <p:cNvSpPr txBox="1"/>
          <p:nvPr/>
        </p:nvSpPr>
        <p:spPr>
          <a:xfrm rot="18000000">
            <a:off x="22676004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RhaT  COG0697</a:t>
            </a:r>
          </a:p>
        </p:txBody>
      </p:sp>
      <p:sp>
        <p:nvSpPr>
          <p:cNvPr id="88" name="TextBox 87"/>
          <p:cNvSpPr txBox="1"/>
          <p:nvPr/>
        </p:nvSpPr>
        <p:spPr>
          <a:xfrm rot="18000000">
            <a:off x="23637240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MalK  COG3839</a:t>
            </a:r>
          </a:p>
        </p:txBody>
      </p:sp>
      <p:sp>
        <p:nvSpPr>
          <p:cNvPr id="89" name="TextBox 88"/>
          <p:cNvSpPr txBox="1"/>
          <p:nvPr/>
        </p:nvSpPr>
        <p:spPr>
          <a:xfrm rot="18000000">
            <a:off x="24598475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kdsB  COG1212</a:t>
            </a:r>
          </a:p>
        </p:txBody>
      </p:sp>
      <p:sp>
        <p:nvSpPr>
          <p:cNvPr id="90" name="TextBox 89"/>
          <p:cNvSpPr txBox="1"/>
          <p:nvPr/>
        </p:nvSpPr>
        <p:spPr>
          <a:xfrm rot="18000000">
            <a:off x="25559710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prop  COG0477</a:t>
            </a:r>
          </a:p>
        </p:txBody>
      </p:sp>
      <p:sp>
        <p:nvSpPr>
          <p:cNvPr id="91" name="TextBox 90"/>
          <p:cNvSpPr txBox="1"/>
          <p:nvPr/>
        </p:nvSpPr>
        <p:spPr>
          <a:xfrm rot="18000000">
            <a:off x="26520945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BglX  COG1472</a:t>
            </a:r>
          </a:p>
        </p:txBody>
      </p:sp>
      <p:sp>
        <p:nvSpPr>
          <p:cNvPr id="92" name="TextBox 91"/>
          <p:cNvSpPr txBox="1"/>
          <p:nvPr/>
        </p:nvSpPr>
        <p:spPr>
          <a:xfrm rot="18000000">
            <a:off x="27482180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RgpF  COG3754</a:t>
            </a:r>
          </a:p>
        </p:txBody>
      </p:sp>
      <p:sp>
        <p:nvSpPr>
          <p:cNvPr id="93" name="TextBox 92"/>
          <p:cNvSpPr txBox="1"/>
          <p:nvPr/>
        </p:nvSpPr>
        <p:spPr>
          <a:xfrm rot="18000000">
            <a:off x="28443415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WecE  COG0399</a:t>
            </a:r>
          </a:p>
        </p:txBody>
      </p:sp>
      <p:sp>
        <p:nvSpPr>
          <p:cNvPr id="94" name="TextBox 93"/>
          <p:cNvSpPr txBox="1"/>
          <p:nvPr/>
        </p:nvSpPr>
        <p:spPr>
          <a:xfrm rot="18000000">
            <a:off x="29404650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MviM  COG0673</a:t>
            </a:r>
          </a:p>
        </p:txBody>
      </p:sp>
      <p:sp>
        <p:nvSpPr>
          <p:cNvPr id="95" name="TextBox 94"/>
          <p:cNvSpPr txBox="1"/>
          <p:nvPr/>
        </p:nvSpPr>
        <p:spPr>
          <a:xfrm rot="18000000">
            <a:off x="30365885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TonB  COG0810</a:t>
            </a:r>
          </a:p>
        </p:txBody>
      </p:sp>
      <p:sp>
        <p:nvSpPr>
          <p:cNvPr id="96" name="TextBox 95"/>
          <p:cNvSpPr txBox="1"/>
          <p:nvPr/>
        </p:nvSpPr>
        <p:spPr>
          <a:xfrm rot="18000000">
            <a:off x="31327120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GumC  COG3206</a:t>
            </a:r>
          </a:p>
        </p:txBody>
      </p:sp>
      <p:sp>
        <p:nvSpPr>
          <p:cNvPr id="97" name="TextBox 96"/>
          <p:cNvSpPr txBox="1"/>
          <p:nvPr/>
        </p:nvSpPr>
        <p:spPr>
          <a:xfrm rot="18000000">
            <a:off x="32288356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Wza  COG1596</a:t>
            </a:r>
          </a:p>
        </p:txBody>
      </p:sp>
      <p:sp>
        <p:nvSpPr>
          <p:cNvPr id="98" name="TextBox 97"/>
          <p:cNvSpPr txBox="1"/>
          <p:nvPr/>
        </p:nvSpPr>
        <p:spPr>
          <a:xfrm rot="18000000">
            <a:off x="33249591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CsgG  COG1462</a:t>
            </a:r>
          </a:p>
        </p:txBody>
      </p:sp>
      <p:sp>
        <p:nvSpPr>
          <p:cNvPr id="99" name="TextBox 98"/>
          <p:cNvSpPr txBox="1"/>
          <p:nvPr/>
        </p:nvSpPr>
        <p:spPr>
          <a:xfrm rot="18000000">
            <a:off x="34210826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FhaB  COG3210</a:t>
            </a:r>
          </a:p>
        </p:txBody>
      </p:sp>
      <p:sp>
        <p:nvSpPr>
          <p:cNvPr id="100" name="TextBox 99"/>
          <p:cNvSpPr txBox="1"/>
          <p:nvPr/>
        </p:nvSpPr>
        <p:spPr>
          <a:xfrm rot="18000000">
            <a:off x="35172061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CccA  COG2010</a:t>
            </a:r>
          </a:p>
        </p:txBody>
      </p:sp>
      <p:sp>
        <p:nvSpPr>
          <p:cNvPr id="101" name="TextBox 100"/>
          <p:cNvSpPr txBox="1"/>
          <p:nvPr/>
        </p:nvSpPr>
        <p:spPr>
          <a:xfrm rot="18000000">
            <a:off x="36133296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AcyC  COG2114</a:t>
            </a:r>
          </a:p>
        </p:txBody>
      </p:sp>
      <p:sp>
        <p:nvSpPr>
          <p:cNvPr id="102" name="TextBox 101"/>
          <p:cNvSpPr txBox="1"/>
          <p:nvPr/>
        </p:nvSpPr>
        <p:spPr>
          <a:xfrm rot="18000000">
            <a:off x="37094531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PhnO  COG0454</a:t>
            </a:r>
          </a:p>
        </p:txBody>
      </p:sp>
      <p:sp>
        <p:nvSpPr>
          <p:cNvPr id="103" name="TextBox 102"/>
          <p:cNvSpPr txBox="1"/>
          <p:nvPr/>
        </p:nvSpPr>
        <p:spPr>
          <a:xfrm rot="18000000">
            <a:off x="38055766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COG2931  COG2931</a:t>
            </a:r>
          </a:p>
        </p:txBody>
      </p:sp>
      <p:sp>
        <p:nvSpPr>
          <p:cNvPr id="104" name="TextBox 103"/>
          <p:cNvSpPr txBox="1"/>
          <p:nvPr/>
        </p:nvSpPr>
        <p:spPr>
          <a:xfrm rot="18000000">
            <a:off x="39017001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DLH  COG0412</a:t>
            </a:r>
          </a:p>
        </p:txBody>
      </p:sp>
      <p:sp>
        <p:nvSpPr>
          <p:cNvPr id="105" name="TextBox 104"/>
          <p:cNvSpPr txBox="1"/>
          <p:nvPr/>
        </p:nvSpPr>
        <p:spPr>
          <a:xfrm rot="18000000">
            <a:off x="39978237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CHASE2  COG4252</a:t>
            </a:r>
          </a:p>
        </p:txBody>
      </p:sp>
      <p:sp>
        <p:nvSpPr>
          <p:cNvPr id="106" name="TextBox 105"/>
          <p:cNvSpPr txBox="1"/>
          <p:nvPr/>
        </p:nvSpPr>
        <p:spPr>
          <a:xfrm rot="18000000">
            <a:off x="40939472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COG2192  COG2192</a:t>
            </a:r>
          </a:p>
        </p:txBody>
      </p:sp>
      <p:sp>
        <p:nvSpPr>
          <p:cNvPr id="107" name="TextBox 106"/>
          <p:cNvSpPr txBox="1"/>
          <p:nvPr/>
        </p:nvSpPr>
        <p:spPr>
          <a:xfrm rot="18000000">
            <a:off x="41900707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LigW  COG2159</a:t>
            </a:r>
          </a:p>
        </p:txBody>
      </p:sp>
      <p:sp>
        <p:nvSpPr>
          <p:cNvPr id="108" name="TextBox 107"/>
          <p:cNvSpPr txBox="1"/>
          <p:nvPr/>
        </p:nvSpPr>
        <p:spPr>
          <a:xfrm rot="18000000">
            <a:off x="42861942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PPE  COG5651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2788920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Weissberg et al., 2025 - Proteomics - MED4</a:t>
            </a:r>
          </a:p>
        </p:txBody>
      </p:sp>
      <p:sp>
        <p:nvSpPr>
          <p:cNvPr id="110" name="cell|Weissberg et al., 2025 - Proteomics - MED4|COG0188|ns"/>
          <p:cNvSpPr/>
          <p:nvPr/>
        </p:nvSpPr>
        <p:spPr>
          <a:xfrm>
            <a:off x="4846320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46320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0/5/6</a:t>
            </a:r>
          </a:p>
        </p:txBody>
      </p:sp>
      <p:sp>
        <p:nvSpPr>
          <p:cNvPr id="112" name="cell|Weissberg et al., 2025 - Proteomics - MED4|COG1787|ns"/>
          <p:cNvSpPr/>
          <p:nvPr/>
        </p:nvSpPr>
        <p:spPr>
          <a:xfrm>
            <a:off x="5807555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07555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4" name="cell|Weissberg et al., 2025 - Proteomics - MED4|COG3727|absent"/>
          <p:cNvSpPr/>
          <p:nvPr/>
        </p:nvSpPr>
        <p:spPr>
          <a:xfrm>
            <a:off x="6768790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 flipV="1">
            <a:off x="6768790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768790" y="278892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7249407" y="307238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cell|Weissberg et al., 2025 - Proteomics - MED4|COG1793|ns"/>
          <p:cNvSpPr/>
          <p:nvPr/>
        </p:nvSpPr>
        <p:spPr>
          <a:xfrm>
            <a:off x="7730025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730025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0/1/3</a:t>
            </a:r>
          </a:p>
        </p:txBody>
      </p:sp>
      <p:sp>
        <p:nvSpPr>
          <p:cNvPr id="120" name="cell|Weissberg et al., 2025 - Proteomics - MED4|COG0640|nodata"/>
          <p:cNvSpPr/>
          <p:nvPr/>
        </p:nvSpPr>
        <p:spPr>
          <a:xfrm>
            <a:off x="8691260" y="2788920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cell|Weissberg et al., 2025 - Proteomics - MED4|COG1403|ns"/>
          <p:cNvSpPr/>
          <p:nvPr/>
        </p:nvSpPr>
        <p:spPr>
          <a:xfrm>
            <a:off x="9652495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652495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0/2/4</a:t>
            </a:r>
          </a:p>
        </p:txBody>
      </p:sp>
      <p:sp>
        <p:nvSpPr>
          <p:cNvPr id="123" name="cell|Weissberg et al., 2025 - Proteomics - MED4|COG2214|ns"/>
          <p:cNvSpPr/>
          <p:nvPr/>
        </p:nvSpPr>
        <p:spPr>
          <a:xfrm>
            <a:off x="10613730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613730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125" name="cell|Weissberg et al., 2025 - Proteomics - MED4|COG0443|ns"/>
          <p:cNvSpPr/>
          <p:nvPr/>
        </p:nvSpPr>
        <p:spPr>
          <a:xfrm>
            <a:off x="11574965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574965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127" name="cell|Weissberg et al., 2025 - Proteomics - MED4|COG0484|ns"/>
          <p:cNvSpPr/>
          <p:nvPr/>
        </p:nvSpPr>
        <p:spPr>
          <a:xfrm>
            <a:off x="12536200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2536200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129" name="cell|Weissberg et al., 2025 - Proteomics - MED4|COG0330|ns"/>
          <p:cNvSpPr/>
          <p:nvPr/>
        </p:nvSpPr>
        <p:spPr>
          <a:xfrm>
            <a:off x="13497436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3497436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31" name="cell|Weissberg et al., 2025 - Proteomics - MED4|COG1187|ns"/>
          <p:cNvSpPr/>
          <p:nvPr/>
        </p:nvSpPr>
        <p:spPr>
          <a:xfrm>
            <a:off x="14458671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4458671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33" name="cell|Weissberg et al., 2025 - Proteomics - MED4|COG1454|absent"/>
          <p:cNvSpPr/>
          <p:nvPr/>
        </p:nvSpPr>
        <p:spPr>
          <a:xfrm>
            <a:off x="15419906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 flipV="1">
            <a:off x="15419906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5419906" y="278892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5900523" y="307238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cell|Weissberg et al., 2025 - Proteomics - MED4|COG2370|nodata"/>
          <p:cNvSpPr/>
          <p:nvPr/>
        </p:nvSpPr>
        <p:spPr>
          <a:xfrm>
            <a:off x="16381141" y="2788920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cell|Weissberg et al., 2025 - Proteomics - MED4|COG0367|absent"/>
          <p:cNvSpPr/>
          <p:nvPr/>
        </p:nvSpPr>
        <p:spPr>
          <a:xfrm>
            <a:off x="17342376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 flipV="1">
            <a:off x="17342376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7342376" y="278892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7822994" y="307238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cell|Weissberg et al., 2025 - Proteomics - MED4|COG0082|ns"/>
          <p:cNvSpPr/>
          <p:nvPr/>
        </p:nvSpPr>
        <p:spPr>
          <a:xfrm>
            <a:off x="18303611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303611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44" name="cell|Weissberg et al., 2025 - Proteomics - MED4|COG2274|absent"/>
          <p:cNvSpPr/>
          <p:nvPr/>
        </p:nvSpPr>
        <p:spPr>
          <a:xfrm>
            <a:off x="19264846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 flipV="1">
            <a:off x="19264846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9264846" y="278892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9745464" y="307238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ell|Weissberg et al., 2025 - Proteomics - MED4|COG1989|absent"/>
          <p:cNvSpPr/>
          <p:nvPr/>
        </p:nvSpPr>
        <p:spPr>
          <a:xfrm>
            <a:off x="20226081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 flipV="1">
            <a:off x="20226081" y="2788920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0226081" y="278892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0706699" y="307238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cell|Weissberg et al., 2025 - Proteomics - MED4|COG0845|ns"/>
          <p:cNvSpPr/>
          <p:nvPr/>
        </p:nvSpPr>
        <p:spPr>
          <a:xfrm>
            <a:off x="21187317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1187317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154" name="cell|Weissberg et al., 2025 - Proteomics - MED4|COG0488|ns"/>
          <p:cNvSpPr/>
          <p:nvPr/>
        </p:nvSpPr>
        <p:spPr>
          <a:xfrm>
            <a:off x="22148552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2148552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156" name="cell|Weissberg et al., 2025 - Proteomics - MED4|COG0697|ns"/>
          <p:cNvSpPr/>
          <p:nvPr/>
        </p:nvSpPr>
        <p:spPr>
          <a:xfrm>
            <a:off x="23109787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3109787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0/3/9</a:t>
            </a:r>
          </a:p>
        </p:txBody>
      </p:sp>
      <p:sp>
        <p:nvSpPr>
          <p:cNvPr id="158" name="cell|Weissberg et al., 2025 - Proteomics - MED4|COG3839|absent"/>
          <p:cNvSpPr/>
          <p:nvPr/>
        </p:nvSpPr>
        <p:spPr>
          <a:xfrm>
            <a:off x="24071022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 flipV="1">
            <a:off x="24071022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4071022" y="278892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4551640" y="307238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cell|Weissberg et al., 2025 - Proteomics - MED4|COG1212|absent"/>
          <p:cNvSpPr/>
          <p:nvPr/>
        </p:nvSpPr>
        <p:spPr>
          <a:xfrm>
            <a:off x="25032257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 flipV="1">
            <a:off x="25032257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25032257" y="278892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25512875" y="307238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cell|Weissberg et al., 2025 - Proteomics - MED4|COG0477|ns"/>
          <p:cNvSpPr/>
          <p:nvPr/>
        </p:nvSpPr>
        <p:spPr>
          <a:xfrm>
            <a:off x="25993492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5993492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0/15/25</a:t>
            </a:r>
          </a:p>
        </p:txBody>
      </p:sp>
      <p:sp>
        <p:nvSpPr>
          <p:cNvPr id="168" name="cell|Weissberg et al., 2025 - Proteomics - MED4|COG1472|absent"/>
          <p:cNvSpPr/>
          <p:nvPr/>
        </p:nvSpPr>
        <p:spPr>
          <a:xfrm>
            <a:off x="26954727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 flipV="1">
            <a:off x="26954727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26954727" y="278892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27435345" y="307238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cell|Weissberg et al., 2025 - Proteomics - MED4|COG3754|absent"/>
          <p:cNvSpPr/>
          <p:nvPr/>
        </p:nvSpPr>
        <p:spPr>
          <a:xfrm>
            <a:off x="27915962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 flipV="1">
            <a:off x="27915962" y="2788920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27915962" y="278892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28396580" y="307238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cell|Weissberg et al., 2025 - Proteomics - MED4|COG0399|ns"/>
          <p:cNvSpPr/>
          <p:nvPr/>
        </p:nvSpPr>
        <p:spPr>
          <a:xfrm>
            <a:off x="28877198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8877198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178" name="cell|Weissberg et al., 2025 - Proteomics - MED4|COG0673|ns"/>
          <p:cNvSpPr/>
          <p:nvPr/>
        </p:nvSpPr>
        <p:spPr>
          <a:xfrm>
            <a:off x="29838433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9838433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80" name="cell|Weissberg et al., 2025 - Proteomics - MED4|COG0810|absent"/>
          <p:cNvSpPr/>
          <p:nvPr/>
        </p:nvSpPr>
        <p:spPr>
          <a:xfrm>
            <a:off x="30799668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 flipV="1">
            <a:off x="30799668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30799668" y="278892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31280285" y="307238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cell|Weissberg et al., 2025 - Proteomics - MED4|COG3206|absent"/>
          <p:cNvSpPr/>
          <p:nvPr/>
        </p:nvSpPr>
        <p:spPr>
          <a:xfrm>
            <a:off x="31760903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31760903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31760903" y="278892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32241520" y="307238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ell|Weissberg et al., 2025 - Proteomics - MED4|COG1596|ns"/>
          <p:cNvSpPr/>
          <p:nvPr/>
        </p:nvSpPr>
        <p:spPr>
          <a:xfrm>
            <a:off x="32722138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2722138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0/1/2</a:t>
            </a:r>
          </a:p>
        </p:txBody>
      </p:sp>
      <p:sp>
        <p:nvSpPr>
          <p:cNvPr id="190" name="cell|Weissberg et al., 2025 - Proteomics - MED4|COG1462|absent"/>
          <p:cNvSpPr/>
          <p:nvPr/>
        </p:nvSpPr>
        <p:spPr>
          <a:xfrm>
            <a:off x="33683373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33683373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33683373" y="278892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34163991" y="307238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cell|Weissberg et al., 2025 - Proteomics - MED4|COG3210|nodata"/>
          <p:cNvSpPr/>
          <p:nvPr/>
        </p:nvSpPr>
        <p:spPr>
          <a:xfrm>
            <a:off x="34644608" y="2788920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cell|Weissberg et al., 2025 - Proteomics - MED4|COG2010|ns"/>
          <p:cNvSpPr/>
          <p:nvPr/>
        </p:nvSpPr>
        <p:spPr>
          <a:xfrm>
            <a:off x="35605843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5605843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97" name="cell|Weissberg et al., 2025 - Proteomics - MED4|COG2114|absent"/>
          <p:cNvSpPr/>
          <p:nvPr/>
        </p:nvSpPr>
        <p:spPr>
          <a:xfrm>
            <a:off x="36567079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8" name="Connector 197"/>
          <p:cNvCxnSpPr/>
          <p:nvPr/>
        </p:nvCxnSpPr>
        <p:spPr>
          <a:xfrm flipV="1">
            <a:off x="36567079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36567079" y="278892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7047696" y="307238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cell|Weissberg et al., 2025 - Proteomics - MED4|COG0454|ns"/>
          <p:cNvSpPr/>
          <p:nvPr/>
        </p:nvSpPr>
        <p:spPr>
          <a:xfrm>
            <a:off x="37528314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7528314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0/3/5</a:t>
            </a:r>
          </a:p>
        </p:txBody>
      </p:sp>
      <p:sp>
        <p:nvSpPr>
          <p:cNvPr id="203" name="cell|Weissberg et al., 2025 - Proteomics - MED4|COG2931|absent"/>
          <p:cNvSpPr/>
          <p:nvPr/>
        </p:nvSpPr>
        <p:spPr>
          <a:xfrm>
            <a:off x="38489549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Connector 203"/>
          <p:cNvCxnSpPr/>
          <p:nvPr/>
        </p:nvCxnSpPr>
        <p:spPr>
          <a:xfrm flipV="1">
            <a:off x="38489549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38489549" y="278892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38970166" y="307238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cell|Weissberg et al., 2025 - Proteomics - MED4|COG0412|absent"/>
          <p:cNvSpPr/>
          <p:nvPr/>
        </p:nvSpPr>
        <p:spPr>
          <a:xfrm>
            <a:off x="39450784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 flipV="1">
            <a:off x="39450784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39450784" y="278892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39931401" y="307238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cell|Weissberg et al., 2025 - Proteomics - MED4|COG4252|absent"/>
          <p:cNvSpPr/>
          <p:nvPr/>
        </p:nvSpPr>
        <p:spPr>
          <a:xfrm>
            <a:off x="40412019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2" name="Connector 211"/>
          <p:cNvCxnSpPr/>
          <p:nvPr/>
        </p:nvCxnSpPr>
        <p:spPr>
          <a:xfrm flipV="1">
            <a:off x="40412019" y="278892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40412019" y="278892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40892637" y="307238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cell|Weissberg et al., 2025 - Proteomics - MED4|COG2192|ns"/>
          <p:cNvSpPr/>
          <p:nvPr/>
        </p:nvSpPr>
        <p:spPr>
          <a:xfrm>
            <a:off x="41373254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41373254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217" name="cell|Weissberg et al., 2025 - Proteomics - MED4|COG2159|ns"/>
          <p:cNvSpPr/>
          <p:nvPr/>
        </p:nvSpPr>
        <p:spPr>
          <a:xfrm>
            <a:off x="42334489" y="278892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2334489" y="278892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219" name="cell|Weissberg et al., 2025 - Proteomics - MED4|COG5651|absent"/>
          <p:cNvSpPr/>
          <p:nvPr/>
        </p:nvSpPr>
        <p:spPr>
          <a:xfrm>
            <a:off x="43295724" y="278892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Connector 219"/>
          <p:cNvCxnSpPr/>
          <p:nvPr/>
        </p:nvCxnSpPr>
        <p:spPr>
          <a:xfrm flipV="1">
            <a:off x="43295724" y="2788920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43295724" y="278892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43776342" y="307238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914400" y="3355848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Weissberg et al., 2025 - RNA-seq - MED4</a:t>
            </a:r>
          </a:p>
        </p:txBody>
      </p:sp>
      <p:sp>
        <p:nvSpPr>
          <p:cNvPr id="224" name="cell|Weissberg et al., 2025 - RNA-seq - MED4|COG0188|both"/>
          <p:cNvSpPr/>
          <p:nvPr/>
        </p:nvSpPr>
        <p:spPr>
          <a:xfrm>
            <a:off x="4846320" y="3355848"/>
            <a:ext cx="961235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846320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↑3↓2/6/6</a:t>
            </a:r>
          </a:p>
        </p:txBody>
      </p:sp>
      <p:sp>
        <p:nvSpPr>
          <p:cNvPr id="226" name="cell|Weissberg et al., 2025 - RNA-seq - MED4|COG1787|up"/>
          <p:cNvSpPr/>
          <p:nvPr/>
        </p:nvSpPr>
        <p:spPr>
          <a:xfrm>
            <a:off x="5807555" y="3355848"/>
            <a:ext cx="961235" cy="566928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5807555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228" name="cell|Weissberg et al., 2025 - RNA-seq - MED4|COG3727|absent"/>
          <p:cNvSpPr/>
          <p:nvPr/>
        </p:nvSpPr>
        <p:spPr>
          <a:xfrm>
            <a:off x="6768790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9" name="Connector 228"/>
          <p:cNvCxnSpPr/>
          <p:nvPr/>
        </p:nvCxnSpPr>
        <p:spPr>
          <a:xfrm flipV="1">
            <a:off x="6768790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6768790" y="335584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7249407" y="3639312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cell|Weissberg et al., 2025 - RNA-seq - MED4|COG1793|both"/>
          <p:cNvSpPr/>
          <p:nvPr/>
        </p:nvSpPr>
        <p:spPr>
          <a:xfrm>
            <a:off x="7730025" y="3355848"/>
            <a:ext cx="961235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730025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↑1↓1/3/3</a:t>
            </a:r>
          </a:p>
        </p:txBody>
      </p:sp>
      <p:sp>
        <p:nvSpPr>
          <p:cNvPr id="234" name="cell|Weissberg et al., 2025 - RNA-seq - MED4|COG0640|up"/>
          <p:cNvSpPr/>
          <p:nvPr/>
        </p:nvSpPr>
        <p:spPr>
          <a:xfrm>
            <a:off x="8691260" y="3355848"/>
            <a:ext cx="961235" cy="566928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691260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236" name="cell|Weissberg et al., 2025 - RNA-seq - MED4|COG1403|up"/>
          <p:cNvSpPr/>
          <p:nvPr/>
        </p:nvSpPr>
        <p:spPr>
          <a:xfrm>
            <a:off x="9652495" y="3355848"/>
            <a:ext cx="961235" cy="566928"/>
          </a:xfrm>
          <a:prstGeom prst="rect">
            <a:avLst/>
          </a:prstGeom>
          <a:solidFill>
            <a:srgbClr val="CD6C67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652495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2/4/4</a:t>
            </a:r>
          </a:p>
        </p:txBody>
      </p:sp>
      <p:sp>
        <p:nvSpPr>
          <p:cNvPr id="238" name="cell|Weissberg et al., 2025 - RNA-seq - MED4|COG2214|up"/>
          <p:cNvSpPr/>
          <p:nvPr/>
        </p:nvSpPr>
        <p:spPr>
          <a:xfrm>
            <a:off x="10613730" y="3355848"/>
            <a:ext cx="961235" cy="566928"/>
          </a:xfrm>
          <a:prstGeom prst="rect">
            <a:avLst/>
          </a:prstGeom>
          <a:solidFill>
            <a:srgbClr val="D16561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0613730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3/5/5</a:t>
            </a:r>
          </a:p>
        </p:txBody>
      </p:sp>
      <p:sp>
        <p:nvSpPr>
          <p:cNvPr id="240" name="cell|Weissberg et al., 2025 - RNA-seq - MED4|COG0443|both"/>
          <p:cNvSpPr/>
          <p:nvPr/>
        </p:nvSpPr>
        <p:spPr>
          <a:xfrm>
            <a:off x="11574965" y="3355848"/>
            <a:ext cx="961235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1574965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↑1↓1/4/4</a:t>
            </a:r>
          </a:p>
        </p:txBody>
      </p:sp>
      <p:sp>
        <p:nvSpPr>
          <p:cNvPr id="242" name="cell|Weissberg et al., 2025 - RNA-seq - MED4|COG0484|up"/>
          <p:cNvSpPr/>
          <p:nvPr/>
        </p:nvSpPr>
        <p:spPr>
          <a:xfrm>
            <a:off x="12536200" y="3355848"/>
            <a:ext cx="961235" cy="566928"/>
          </a:xfrm>
          <a:prstGeom prst="rect">
            <a:avLst/>
          </a:prstGeom>
          <a:solidFill>
            <a:srgbClr val="C8736D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2536200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2/5/5</a:t>
            </a:r>
          </a:p>
        </p:txBody>
      </p:sp>
      <p:sp>
        <p:nvSpPr>
          <p:cNvPr id="244" name="cell|Weissberg et al., 2025 - RNA-seq - MED4|COG0330|ns"/>
          <p:cNvSpPr/>
          <p:nvPr/>
        </p:nvSpPr>
        <p:spPr>
          <a:xfrm>
            <a:off x="13497436" y="3355848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3497436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246" name="cell|Weissberg et al., 2025 - RNA-seq - MED4|COG1187|ns"/>
          <p:cNvSpPr/>
          <p:nvPr/>
        </p:nvSpPr>
        <p:spPr>
          <a:xfrm>
            <a:off x="14458671" y="3355848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4458671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248" name="cell|Weissberg et al., 2025 - RNA-seq - MED4|COG1454|absent"/>
          <p:cNvSpPr/>
          <p:nvPr/>
        </p:nvSpPr>
        <p:spPr>
          <a:xfrm>
            <a:off x="15419906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9" name="Connector 248"/>
          <p:cNvCxnSpPr/>
          <p:nvPr/>
        </p:nvCxnSpPr>
        <p:spPr>
          <a:xfrm flipV="1">
            <a:off x="15419906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15419906" y="335584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15900523" y="3639312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cell|Weissberg et al., 2025 - RNA-seq - MED4|COG2370|up"/>
          <p:cNvSpPr/>
          <p:nvPr/>
        </p:nvSpPr>
        <p:spPr>
          <a:xfrm>
            <a:off x="16381141" y="3355848"/>
            <a:ext cx="961235" cy="566928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6381141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254" name="cell|Weissberg et al., 2025 - RNA-seq - MED4|COG0367|absent"/>
          <p:cNvSpPr/>
          <p:nvPr/>
        </p:nvSpPr>
        <p:spPr>
          <a:xfrm>
            <a:off x="17342376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 flipV="1">
            <a:off x="17342376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17342376" y="335584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17822994" y="3639312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cell|Weissberg et al., 2025 - RNA-seq - MED4|COG0082|up"/>
          <p:cNvSpPr/>
          <p:nvPr/>
        </p:nvSpPr>
        <p:spPr>
          <a:xfrm>
            <a:off x="18303611" y="3355848"/>
            <a:ext cx="961235" cy="566928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8303611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260" name="cell|Weissberg et al., 2025 - RNA-seq - MED4|COG2274|absent"/>
          <p:cNvSpPr/>
          <p:nvPr/>
        </p:nvSpPr>
        <p:spPr>
          <a:xfrm>
            <a:off x="19264846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Connector 260"/>
          <p:cNvCxnSpPr/>
          <p:nvPr/>
        </p:nvCxnSpPr>
        <p:spPr>
          <a:xfrm flipV="1">
            <a:off x="19264846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9264846" y="335584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9745464" y="3639312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cell|Weissberg et al., 2025 - RNA-seq - MED4|COG1989|absent"/>
          <p:cNvSpPr/>
          <p:nvPr/>
        </p:nvSpPr>
        <p:spPr>
          <a:xfrm>
            <a:off x="20226081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5" name="Connector 264"/>
          <p:cNvCxnSpPr/>
          <p:nvPr/>
        </p:nvCxnSpPr>
        <p:spPr>
          <a:xfrm flipV="1">
            <a:off x="20226081" y="3355848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20226081" y="335584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20706699" y="3639312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cell|Weissberg et al., 2025 - RNA-seq - MED4|COG0845|up"/>
          <p:cNvSpPr/>
          <p:nvPr/>
        </p:nvSpPr>
        <p:spPr>
          <a:xfrm>
            <a:off x="21187317" y="3355848"/>
            <a:ext cx="961235" cy="566928"/>
          </a:xfrm>
          <a:prstGeom prst="rect">
            <a:avLst/>
          </a:prstGeom>
          <a:solidFill>
            <a:srgbClr val="C67872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21187317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1/3/3</a:t>
            </a:r>
          </a:p>
        </p:txBody>
      </p:sp>
      <p:sp>
        <p:nvSpPr>
          <p:cNvPr id="270" name="cell|Weissberg et al., 2025 - RNA-seq - MED4|COG0488|up"/>
          <p:cNvSpPr/>
          <p:nvPr/>
        </p:nvSpPr>
        <p:spPr>
          <a:xfrm>
            <a:off x="22148552" y="3355848"/>
            <a:ext cx="961235" cy="566928"/>
          </a:xfrm>
          <a:prstGeom prst="rect">
            <a:avLst/>
          </a:prstGeom>
          <a:solidFill>
            <a:srgbClr val="C67872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22148552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1/3/3</a:t>
            </a:r>
          </a:p>
        </p:txBody>
      </p:sp>
      <p:sp>
        <p:nvSpPr>
          <p:cNvPr id="272" name="cell|Weissberg et al., 2025 - RNA-seq - MED4|COG0697|both"/>
          <p:cNvSpPr/>
          <p:nvPr/>
        </p:nvSpPr>
        <p:spPr>
          <a:xfrm>
            <a:off x="23109787" y="3355848"/>
            <a:ext cx="961235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23109787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↑4↓3/9/9</a:t>
            </a:r>
          </a:p>
        </p:txBody>
      </p:sp>
      <p:sp>
        <p:nvSpPr>
          <p:cNvPr id="274" name="cell|Weissberg et al., 2025 - RNA-seq - MED4|COG3839|absent"/>
          <p:cNvSpPr/>
          <p:nvPr/>
        </p:nvSpPr>
        <p:spPr>
          <a:xfrm>
            <a:off x="24071022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 flipV="1">
            <a:off x="24071022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24071022" y="335584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24551640" y="3639312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cell|Weissberg et al., 2025 - RNA-seq - MED4|COG1212|absent"/>
          <p:cNvSpPr/>
          <p:nvPr/>
        </p:nvSpPr>
        <p:spPr>
          <a:xfrm>
            <a:off x="25032257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25032257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25032257" y="335584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25512875" y="3639312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cell|Weissberg et al., 2025 - RNA-seq - MED4|COG0477|both"/>
          <p:cNvSpPr/>
          <p:nvPr/>
        </p:nvSpPr>
        <p:spPr>
          <a:xfrm>
            <a:off x="25993492" y="3355848"/>
            <a:ext cx="961235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25993492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↑3↓6/25/25</a:t>
            </a:r>
          </a:p>
        </p:txBody>
      </p:sp>
      <p:sp>
        <p:nvSpPr>
          <p:cNvPr id="284" name="cell|Weissberg et al., 2025 - RNA-seq - MED4|COG1472|absent"/>
          <p:cNvSpPr/>
          <p:nvPr/>
        </p:nvSpPr>
        <p:spPr>
          <a:xfrm>
            <a:off x="26954727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5" name="Connector 284"/>
          <p:cNvCxnSpPr/>
          <p:nvPr/>
        </p:nvCxnSpPr>
        <p:spPr>
          <a:xfrm flipV="1">
            <a:off x="26954727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26954727" y="335584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27435345" y="3639312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cell|Weissberg et al., 2025 - RNA-seq - MED4|COG3754|absent"/>
          <p:cNvSpPr/>
          <p:nvPr/>
        </p:nvSpPr>
        <p:spPr>
          <a:xfrm>
            <a:off x="27915962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9" name="Connector 288"/>
          <p:cNvCxnSpPr/>
          <p:nvPr/>
        </p:nvCxnSpPr>
        <p:spPr>
          <a:xfrm flipV="1">
            <a:off x="27915962" y="3355848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27915962" y="335584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28396580" y="3639312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cell|Weissberg et al., 2025 - RNA-seq - MED4|COG0399|both"/>
          <p:cNvSpPr/>
          <p:nvPr/>
        </p:nvSpPr>
        <p:spPr>
          <a:xfrm>
            <a:off x="28877198" y="3355848"/>
            <a:ext cx="961235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28877198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↑1↓1/4/4</a:t>
            </a:r>
          </a:p>
        </p:txBody>
      </p:sp>
      <p:sp>
        <p:nvSpPr>
          <p:cNvPr id="294" name="cell|Weissberg et al., 2025 - RNA-seq - MED4|COG0673|down"/>
          <p:cNvSpPr/>
          <p:nvPr/>
        </p:nvSpPr>
        <p:spPr>
          <a:xfrm>
            <a:off x="29838433" y="3355848"/>
            <a:ext cx="961235" cy="566928"/>
          </a:xfrm>
          <a:prstGeom prst="rect">
            <a:avLst/>
          </a:prstGeom>
          <a:solidFill>
            <a:srgbClr val="5989C0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29838433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1/2/2</a:t>
            </a:r>
          </a:p>
        </p:txBody>
      </p:sp>
      <p:sp>
        <p:nvSpPr>
          <p:cNvPr id="296" name="cell|Weissberg et al., 2025 - RNA-seq - MED4|COG0810|absent"/>
          <p:cNvSpPr/>
          <p:nvPr/>
        </p:nvSpPr>
        <p:spPr>
          <a:xfrm>
            <a:off x="30799668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Connector 296"/>
          <p:cNvCxnSpPr/>
          <p:nvPr/>
        </p:nvCxnSpPr>
        <p:spPr>
          <a:xfrm flipV="1">
            <a:off x="30799668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30799668" y="335584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31280285" y="3639312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cell|Weissberg et al., 2025 - RNA-seq - MED4|COG3206|absent"/>
          <p:cNvSpPr/>
          <p:nvPr/>
        </p:nvSpPr>
        <p:spPr>
          <a:xfrm>
            <a:off x="31760903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1" name="Connector 300"/>
          <p:cNvCxnSpPr/>
          <p:nvPr/>
        </p:nvCxnSpPr>
        <p:spPr>
          <a:xfrm flipV="1">
            <a:off x="31760903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31760903" y="335584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32241520" y="3639312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cell|Weissberg et al., 2025 - RNA-seq - MED4|COG1596|both"/>
          <p:cNvSpPr/>
          <p:nvPr/>
        </p:nvSpPr>
        <p:spPr>
          <a:xfrm>
            <a:off x="32722138" y="3355848"/>
            <a:ext cx="961235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32722138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↑1↓1/2/2</a:t>
            </a:r>
          </a:p>
        </p:txBody>
      </p:sp>
      <p:sp>
        <p:nvSpPr>
          <p:cNvPr id="306" name="cell|Weissberg et al., 2025 - RNA-seq - MED4|COG1462|absent"/>
          <p:cNvSpPr/>
          <p:nvPr/>
        </p:nvSpPr>
        <p:spPr>
          <a:xfrm>
            <a:off x="33683373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7" name="Connector 306"/>
          <p:cNvCxnSpPr/>
          <p:nvPr/>
        </p:nvCxnSpPr>
        <p:spPr>
          <a:xfrm flipV="1">
            <a:off x="33683373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33683373" y="335584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34163991" y="3639312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cell|Weissberg et al., 2025 - RNA-seq - MED4|COG3210|up"/>
          <p:cNvSpPr/>
          <p:nvPr/>
        </p:nvSpPr>
        <p:spPr>
          <a:xfrm>
            <a:off x="34644608" y="3355848"/>
            <a:ext cx="961235" cy="566928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34644608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312" name="cell|Weissberg et al., 2025 - RNA-seq - MED4|COG2010|ns"/>
          <p:cNvSpPr/>
          <p:nvPr/>
        </p:nvSpPr>
        <p:spPr>
          <a:xfrm>
            <a:off x="35605843" y="3355848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35605843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314" name="cell|Weissberg et al., 2025 - RNA-seq - MED4|COG2114|absent"/>
          <p:cNvSpPr/>
          <p:nvPr/>
        </p:nvSpPr>
        <p:spPr>
          <a:xfrm>
            <a:off x="36567079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5" name="Connector 314"/>
          <p:cNvCxnSpPr/>
          <p:nvPr/>
        </p:nvCxnSpPr>
        <p:spPr>
          <a:xfrm flipV="1">
            <a:off x="36567079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36567079" y="335584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37047696" y="3639312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cell|Weissberg et al., 2025 - RNA-seq - MED4|COG0454|up"/>
          <p:cNvSpPr/>
          <p:nvPr/>
        </p:nvSpPr>
        <p:spPr>
          <a:xfrm>
            <a:off x="37528314" y="3355848"/>
            <a:ext cx="961235" cy="566928"/>
          </a:xfrm>
          <a:prstGeom prst="rect">
            <a:avLst/>
          </a:prstGeom>
          <a:solidFill>
            <a:srgbClr val="C8736D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37528314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2/5/5</a:t>
            </a:r>
          </a:p>
        </p:txBody>
      </p:sp>
      <p:sp>
        <p:nvSpPr>
          <p:cNvPr id="320" name="cell|Weissberg et al., 2025 - RNA-seq - MED4|COG2931|absent"/>
          <p:cNvSpPr/>
          <p:nvPr/>
        </p:nvSpPr>
        <p:spPr>
          <a:xfrm>
            <a:off x="38489549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1" name="Connector 320"/>
          <p:cNvCxnSpPr/>
          <p:nvPr/>
        </p:nvCxnSpPr>
        <p:spPr>
          <a:xfrm flipV="1">
            <a:off x="38489549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38489549" y="335584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38970166" y="3639312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cell|Weissberg et al., 2025 - RNA-seq - MED4|COG0412|absent"/>
          <p:cNvSpPr/>
          <p:nvPr/>
        </p:nvSpPr>
        <p:spPr>
          <a:xfrm>
            <a:off x="39450784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5" name="Connector 324"/>
          <p:cNvCxnSpPr/>
          <p:nvPr/>
        </p:nvCxnSpPr>
        <p:spPr>
          <a:xfrm flipV="1">
            <a:off x="39450784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39450784" y="335584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39931401" y="3639312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cell|Weissberg et al., 2025 - RNA-seq - MED4|COG4252|absent"/>
          <p:cNvSpPr/>
          <p:nvPr/>
        </p:nvSpPr>
        <p:spPr>
          <a:xfrm>
            <a:off x="40412019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9" name="Connector 328"/>
          <p:cNvCxnSpPr/>
          <p:nvPr/>
        </p:nvCxnSpPr>
        <p:spPr>
          <a:xfrm flipV="1">
            <a:off x="40412019" y="335584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40412019" y="335584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40892637" y="3639312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cell|Weissberg et al., 2025 - RNA-seq - MED4|COG2192|up"/>
          <p:cNvSpPr/>
          <p:nvPr/>
        </p:nvSpPr>
        <p:spPr>
          <a:xfrm>
            <a:off x="41373254" y="3355848"/>
            <a:ext cx="961235" cy="566928"/>
          </a:xfrm>
          <a:prstGeom prst="rect">
            <a:avLst/>
          </a:prstGeom>
          <a:solidFill>
            <a:srgbClr val="CD6C67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41373254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1/2/2</a:t>
            </a:r>
          </a:p>
        </p:txBody>
      </p:sp>
      <p:sp>
        <p:nvSpPr>
          <p:cNvPr id="334" name="cell|Weissberg et al., 2025 - RNA-seq - MED4|COG2159|ns"/>
          <p:cNvSpPr/>
          <p:nvPr/>
        </p:nvSpPr>
        <p:spPr>
          <a:xfrm>
            <a:off x="42334489" y="3355848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42334489" y="335584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336" name="cell|Weissberg et al., 2025 - RNA-seq - MED4|COG5651|absent"/>
          <p:cNvSpPr/>
          <p:nvPr/>
        </p:nvSpPr>
        <p:spPr>
          <a:xfrm>
            <a:off x="43295724" y="335584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 flipV="1">
            <a:off x="43295724" y="3355848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43295724" y="335584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43776342" y="3639312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TextBox 339"/>
          <p:cNvSpPr txBox="1"/>
          <p:nvPr/>
        </p:nvSpPr>
        <p:spPr>
          <a:xfrm>
            <a:off x="914400" y="3922776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Read et al., 2017 - RNA-seq - MED4</a:t>
            </a:r>
          </a:p>
        </p:txBody>
      </p:sp>
      <p:sp>
        <p:nvSpPr>
          <p:cNvPr id="341" name="cell|Read et al., 2017 - RNA-seq - MED4|COG0188|down"/>
          <p:cNvSpPr/>
          <p:nvPr/>
        </p:nvSpPr>
        <p:spPr>
          <a:xfrm>
            <a:off x="4846320" y="3922776"/>
            <a:ext cx="961235" cy="566928"/>
          </a:xfrm>
          <a:prstGeom prst="rect">
            <a:avLst/>
          </a:prstGeom>
          <a:solidFill>
            <a:srgbClr val="7694B3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4846320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1/5/6</a:t>
            </a:r>
          </a:p>
        </p:txBody>
      </p:sp>
      <p:sp>
        <p:nvSpPr>
          <p:cNvPr id="343" name="cell|Read et al., 2017 - RNA-seq - MED4|COG1787|nodata"/>
          <p:cNvSpPr/>
          <p:nvPr/>
        </p:nvSpPr>
        <p:spPr>
          <a:xfrm>
            <a:off x="5807555" y="392277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cell|Read et al., 2017 - RNA-seq - MED4|COG3727|absent"/>
          <p:cNvSpPr/>
          <p:nvPr/>
        </p:nvSpPr>
        <p:spPr>
          <a:xfrm>
            <a:off x="6768790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 flipV="1">
            <a:off x="6768790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6768790" y="3922776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7249407" y="420624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cell|Read et al., 2017 - RNA-seq - MED4|COG1793|ns"/>
          <p:cNvSpPr/>
          <p:nvPr/>
        </p:nvSpPr>
        <p:spPr>
          <a:xfrm>
            <a:off x="7730025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7730025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0/1/3</a:t>
            </a:r>
          </a:p>
        </p:txBody>
      </p:sp>
      <p:sp>
        <p:nvSpPr>
          <p:cNvPr id="350" name="cell|Read et al., 2017 - RNA-seq - MED4|COG0640|ns"/>
          <p:cNvSpPr/>
          <p:nvPr/>
        </p:nvSpPr>
        <p:spPr>
          <a:xfrm>
            <a:off x="8691260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8691260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352" name="cell|Read et al., 2017 - RNA-seq - MED4|COG1403|ns"/>
          <p:cNvSpPr/>
          <p:nvPr/>
        </p:nvSpPr>
        <p:spPr>
          <a:xfrm>
            <a:off x="9652495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9652495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0/3/4</a:t>
            </a:r>
          </a:p>
        </p:txBody>
      </p:sp>
      <p:sp>
        <p:nvSpPr>
          <p:cNvPr id="354" name="cell|Read et al., 2017 - RNA-seq - MED4|COG2214|ns"/>
          <p:cNvSpPr/>
          <p:nvPr/>
        </p:nvSpPr>
        <p:spPr>
          <a:xfrm>
            <a:off x="10613730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10613730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0/2/5</a:t>
            </a:r>
          </a:p>
        </p:txBody>
      </p:sp>
      <p:sp>
        <p:nvSpPr>
          <p:cNvPr id="356" name="cell|Read et al., 2017 - RNA-seq - MED4|COG0443|ns"/>
          <p:cNvSpPr/>
          <p:nvPr/>
        </p:nvSpPr>
        <p:spPr>
          <a:xfrm>
            <a:off x="11574965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11574965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0/3/4</a:t>
            </a:r>
          </a:p>
        </p:txBody>
      </p:sp>
      <p:sp>
        <p:nvSpPr>
          <p:cNvPr id="358" name="cell|Read et al., 2017 - RNA-seq - MED4|COG0484|ns"/>
          <p:cNvSpPr/>
          <p:nvPr/>
        </p:nvSpPr>
        <p:spPr>
          <a:xfrm>
            <a:off x="12536200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12536200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0/3/5</a:t>
            </a:r>
          </a:p>
        </p:txBody>
      </p:sp>
      <p:sp>
        <p:nvSpPr>
          <p:cNvPr id="360" name="cell|Read et al., 2017 - RNA-seq - MED4|COG0330|ns"/>
          <p:cNvSpPr/>
          <p:nvPr/>
        </p:nvSpPr>
        <p:spPr>
          <a:xfrm>
            <a:off x="13497436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13497436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362" name="cell|Read et al., 2017 - RNA-seq - MED4|COG1187|ns"/>
          <p:cNvSpPr/>
          <p:nvPr/>
        </p:nvSpPr>
        <p:spPr>
          <a:xfrm>
            <a:off x="14458671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4458671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0/1/2</a:t>
            </a:r>
          </a:p>
        </p:txBody>
      </p:sp>
      <p:sp>
        <p:nvSpPr>
          <p:cNvPr id="364" name="cell|Read et al., 2017 - RNA-seq - MED4|COG1454|absent"/>
          <p:cNvSpPr/>
          <p:nvPr/>
        </p:nvSpPr>
        <p:spPr>
          <a:xfrm>
            <a:off x="15419906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 flipV="1">
            <a:off x="15419906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15419906" y="3922776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15900523" y="420624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cell|Read et al., 2017 - RNA-seq - MED4|COG2370|ns"/>
          <p:cNvSpPr/>
          <p:nvPr/>
        </p:nvSpPr>
        <p:spPr>
          <a:xfrm>
            <a:off x="16381141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16381141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370" name="cell|Read et al., 2017 - RNA-seq - MED4|COG0367|absent"/>
          <p:cNvSpPr/>
          <p:nvPr/>
        </p:nvSpPr>
        <p:spPr>
          <a:xfrm>
            <a:off x="17342376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 flipV="1">
            <a:off x="17342376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17342376" y="3922776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17822994" y="420624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cell|Read et al., 2017 - RNA-seq - MED4|COG0082|ns"/>
          <p:cNvSpPr/>
          <p:nvPr/>
        </p:nvSpPr>
        <p:spPr>
          <a:xfrm>
            <a:off x="18303611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18303611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376" name="cell|Read et al., 2017 - RNA-seq - MED4|COG2274|absent"/>
          <p:cNvSpPr/>
          <p:nvPr/>
        </p:nvSpPr>
        <p:spPr>
          <a:xfrm>
            <a:off x="19264846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7" name="Connector 376"/>
          <p:cNvCxnSpPr/>
          <p:nvPr/>
        </p:nvCxnSpPr>
        <p:spPr>
          <a:xfrm flipV="1">
            <a:off x="19264846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19264846" y="3922776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19745464" y="420624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cell|Read et al., 2017 - RNA-seq - MED4|COG1989|absent"/>
          <p:cNvSpPr/>
          <p:nvPr/>
        </p:nvSpPr>
        <p:spPr>
          <a:xfrm>
            <a:off x="20226081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1" name="Connector 380"/>
          <p:cNvCxnSpPr/>
          <p:nvPr/>
        </p:nvCxnSpPr>
        <p:spPr>
          <a:xfrm flipV="1">
            <a:off x="20226081" y="3922776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20226081" y="3922776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20706699" y="420624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cell|Read et al., 2017 - RNA-seq - MED4|COG0845|ns"/>
          <p:cNvSpPr/>
          <p:nvPr/>
        </p:nvSpPr>
        <p:spPr>
          <a:xfrm>
            <a:off x="21187317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21187317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0/1/3</a:t>
            </a:r>
          </a:p>
        </p:txBody>
      </p:sp>
      <p:sp>
        <p:nvSpPr>
          <p:cNvPr id="386" name="cell|Read et al., 2017 - RNA-seq - MED4|COG0488|ns"/>
          <p:cNvSpPr/>
          <p:nvPr/>
        </p:nvSpPr>
        <p:spPr>
          <a:xfrm>
            <a:off x="22148552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22148552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0/1/3</a:t>
            </a:r>
          </a:p>
        </p:txBody>
      </p:sp>
      <p:sp>
        <p:nvSpPr>
          <p:cNvPr id="388" name="cell|Read et al., 2017 - RNA-seq - MED4|COG0697|both"/>
          <p:cNvSpPr/>
          <p:nvPr/>
        </p:nvSpPr>
        <p:spPr>
          <a:xfrm>
            <a:off x="23109787" y="3922776"/>
            <a:ext cx="961235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23109787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↑1↓1/6/9</a:t>
            </a:r>
          </a:p>
        </p:txBody>
      </p:sp>
      <p:sp>
        <p:nvSpPr>
          <p:cNvPr id="390" name="cell|Read et al., 2017 - RNA-seq - MED4|COG3839|absent"/>
          <p:cNvSpPr/>
          <p:nvPr/>
        </p:nvSpPr>
        <p:spPr>
          <a:xfrm>
            <a:off x="24071022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Connector 390"/>
          <p:cNvCxnSpPr/>
          <p:nvPr/>
        </p:nvCxnSpPr>
        <p:spPr>
          <a:xfrm flipV="1">
            <a:off x="24071022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24071022" y="3922776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24551640" y="420624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cell|Read et al., 2017 - RNA-seq - MED4|COG1212|absent"/>
          <p:cNvSpPr/>
          <p:nvPr/>
        </p:nvSpPr>
        <p:spPr>
          <a:xfrm>
            <a:off x="25032257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5" name="Connector 394"/>
          <p:cNvCxnSpPr/>
          <p:nvPr/>
        </p:nvCxnSpPr>
        <p:spPr>
          <a:xfrm flipV="1">
            <a:off x="25032257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25032257" y="3922776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25512875" y="420624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cell|Read et al., 2017 - RNA-seq - MED4|COG0477|both"/>
          <p:cNvSpPr/>
          <p:nvPr/>
        </p:nvSpPr>
        <p:spPr>
          <a:xfrm>
            <a:off x="25993492" y="3922776"/>
            <a:ext cx="961235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25993492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↑2↓3/16/25</a:t>
            </a:r>
          </a:p>
        </p:txBody>
      </p:sp>
      <p:sp>
        <p:nvSpPr>
          <p:cNvPr id="400" name="cell|Read et al., 2017 - RNA-seq - MED4|COG1472|absent"/>
          <p:cNvSpPr/>
          <p:nvPr/>
        </p:nvSpPr>
        <p:spPr>
          <a:xfrm>
            <a:off x="26954727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1" name="Connector 400"/>
          <p:cNvCxnSpPr/>
          <p:nvPr/>
        </p:nvCxnSpPr>
        <p:spPr>
          <a:xfrm flipV="1">
            <a:off x="26954727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26954727" y="3922776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27435345" y="420624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cell|Read et al., 2017 - RNA-seq - MED4|COG3754|absent"/>
          <p:cNvSpPr/>
          <p:nvPr/>
        </p:nvSpPr>
        <p:spPr>
          <a:xfrm>
            <a:off x="27915962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5" name="Connector 404"/>
          <p:cNvCxnSpPr/>
          <p:nvPr/>
        </p:nvCxnSpPr>
        <p:spPr>
          <a:xfrm flipV="1">
            <a:off x="27915962" y="3922776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27915962" y="3922776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28396580" y="420624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cell|Read et al., 2017 - RNA-seq - MED4|COG0399|both"/>
          <p:cNvSpPr/>
          <p:nvPr/>
        </p:nvSpPr>
        <p:spPr>
          <a:xfrm>
            <a:off x="28877198" y="3922776"/>
            <a:ext cx="961235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28877198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↑1↓1/4/4</a:t>
            </a:r>
          </a:p>
        </p:txBody>
      </p:sp>
      <p:sp>
        <p:nvSpPr>
          <p:cNvPr id="410" name="cell|Read et al., 2017 - RNA-seq - MED4|COG0673|ns"/>
          <p:cNvSpPr/>
          <p:nvPr/>
        </p:nvSpPr>
        <p:spPr>
          <a:xfrm>
            <a:off x="29838433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29838433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0/1/2</a:t>
            </a:r>
          </a:p>
        </p:txBody>
      </p:sp>
      <p:sp>
        <p:nvSpPr>
          <p:cNvPr id="412" name="cell|Read et al., 2017 - RNA-seq - MED4|COG0810|absent"/>
          <p:cNvSpPr/>
          <p:nvPr/>
        </p:nvSpPr>
        <p:spPr>
          <a:xfrm>
            <a:off x="30799668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3" name="Connector 412"/>
          <p:cNvCxnSpPr/>
          <p:nvPr/>
        </p:nvCxnSpPr>
        <p:spPr>
          <a:xfrm flipV="1">
            <a:off x="30799668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30799668" y="3922776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31280285" y="420624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cell|Read et al., 2017 - RNA-seq - MED4|COG3206|absent"/>
          <p:cNvSpPr/>
          <p:nvPr/>
        </p:nvSpPr>
        <p:spPr>
          <a:xfrm>
            <a:off x="31760903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7" name="Connector 416"/>
          <p:cNvCxnSpPr/>
          <p:nvPr/>
        </p:nvCxnSpPr>
        <p:spPr>
          <a:xfrm flipV="1">
            <a:off x="31760903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31760903" y="3922776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32241520" y="420624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cell|Read et al., 2017 - RNA-seq - MED4|COG1596|nodata"/>
          <p:cNvSpPr/>
          <p:nvPr/>
        </p:nvSpPr>
        <p:spPr>
          <a:xfrm>
            <a:off x="32722138" y="392277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cell|Read et al., 2017 - RNA-seq - MED4|COG1462|absent"/>
          <p:cNvSpPr/>
          <p:nvPr/>
        </p:nvSpPr>
        <p:spPr>
          <a:xfrm>
            <a:off x="33683373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2" name="Connector 421"/>
          <p:cNvCxnSpPr/>
          <p:nvPr/>
        </p:nvCxnSpPr>
        <p:spPr>
          <a:xfrm flipV="1">
            <a:off x="33683373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33683373" y="3922776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34163991" y="420624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cell|Read et al., 2017 - RNA-seq - MED4|COG3210|nodata"/>
          <p:cNvSpPr/>
          <p:nvPr/>
        </p:nvSpPr>
        <p:spPr>
          <a:xfrm>
            <a:off x="34644608" y="392277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cell|Read et al., 2017 - RNA-seq - MED4|COG2010|nodata"/>
          <p:cNvSpPr/>
          <p:nvPr/>
        </p:nvSpPr>
        <p:spPr>
          <a:xfrm>
            <a:off x="35605843" y="392277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cell|Read et al., 2017 - RNA-seq - MED4|COG2114|absent"/>
          <p:cNvSpPr/>
          <p:nvPr/>
        </p:nvSpPr>
        <p:spPr>
          <a:xfrm>
            <a:off x="36567079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8" name="Connector 427"/>
          <p:cNvCxnSpPr/>
          <p:nvPr/>
        </p:nvCxnSpPr>
        <p:spPr>
          <a:xfrm flipV="1">
            <a:off x="36567079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36567079" y="3922776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37047696" y="420624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cell|Read et al., 2017 - RNA-seq - MED4|COG0454|ns"/>
          <p:cNvSpPr/>
          <p:nvPr/>
        </p:nvSpPr>
        <p:spPr>
          <a:xfrm>
            <a:off x="37528314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37528314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0/2/5</a:t>
            </a:r>
          </a:p>
        </p:txBody>
      </p:sp>
      <p:sp>
        <p:nvSpPr>
          <p:cNvPr id="433" name="cell|Read et al., 2017 - RNA-seq - MED4|COG2931|absent"/>
          <p:cNvSpPr/>
          <p:nvPr/>
        </p:nvSpPr>
        <p:spPr>
          <a:xfrm>
            <a:off x="38489549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4" name="Connector 433"/>
          <p:cNvCxnSpPr/>
          <p:nvPr/>
        </p:nvCxnSpPr>
        <p:spPr>
          <a:xfrm flipV="1">
            <a:off x="38489549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38489549" y="3922776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38970166" y="420624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cell|Read et al., 2017 - RNA-seq - MED4|COG0412|absent"/>
          <p:cNvSpPr/>
          <p:nvPr/>
        </p:nvSpPr>
        <p:spPr>
          <a:xfrm>
            <a:off x="39450784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8" name="Connector 437"/>
          <p:cNvCxnSpPr/>
          <p:nvPr/>
        </p:nvCxnSpPr>
        <p:spPr>
          <a:xfrm flipV="1">
            <a:off x="39450784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39450784" y="3922776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39931401" y="420624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1" name="cell|Read et al., 2017 - RNA-seq - MED4|COG4252|absent"/>
          <p:cNvSpPr/>
          <p:nvPr/>
        </p:nvSpPr>
        <p:spPr>
          <a:xfrm>
            <a:off x="40412019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2" name="Connector 441"/>
          <p:cNvCxnSpPr/>
          <p:nvPr/>
        </p:nvCxnSpPr>
        <p:spPr>
          <a:xfrm flipV="1">
            <a:off x="40412019" y="392277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40412019" y="3922776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40892637" y="420624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cell|Read et al., 2017 - RNA-seq - MED4|COG2192|ns"/>
          <p:cNvSpPr/>
          <p:nvPr/>
        </p:nvSpPr>
        <p:spPr>
          <a:xfrm>
            <a:off x="41373254" y="392277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41373254" y="392277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0/1/2</a:t>
            </a:r>
          </a:p>
        </p:txBody>
      </p:sp>
      <p:sp>
        <p:nvSpPr>
          <p:cNvPr id="447" name="cell|Read et al., 2017 - RNA-seq - MED4|COG2159|nodata"/>
          <p:cNvSpPr/>
          <p:nvPr/>
        </p:nvSpPr>
        <p:spPr>
          <a:xfrm>
            <a:off x="42334489" y="392277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cell|Read et al., 2017 - RNA-seq - MED4|COG5651|absent"/>
          <p:cNvSpPr/>
          <p:nvPr/>
        </p:nvSpPr>
        <p:spPr>
          <a:xfrm>
            <a:off x="43295724" y="392277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 flipV="1">
            <a:off x="43295724" y="3922776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43295724" y="3922776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43776342" y="420624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914400" y="4489704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Tolonen et al., 2006 - Microarray - MED4</a:t>
            </a:r>
          </a:p>
        </p:txBody>
      </p:sp>
      <p:sp>
        <p:nvSpPr>
          <p:cNvPr id="453" name="cell|Tolonen et al., 2006 - Microarray - MED4|COG0188|down"/>
          <p:cNvSpPr/>
          <p:nvPr/>
        </p:nvSpPr>
        <p:spPr>
          <a:xfrm>
            <a:off x="4846320" y="4489704"/>
            <a:ext cx="961235" cy="566928"/>
          </a:xfrm>
          <a:prstGeom prst="rect">
            <a:avLst/>
          </a:prstGeom>
          <a:solidFill>
            <a:srgbClr val="7995B1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4846320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1/6/6</a:t>
            </a:r>
          </a:p>
        </p:txBody>
      </p:sp>
      <p:sp>
        <p:nvSpPr>
          <p:cNvPr id="455" name="cell|Tolonen et al., 2006 - Microarray - MED4|COG1787|ns"/>
          <p:cNvSpPr/>
          <p:nvPr/>
        </p:nvSpPr>
        <p:spPr>
          <a:xfrm>
            <a:off x="5807555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5807555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457" name="cell|Tolonen et al., 2006 - Microarray - MED4|COG3727|absent"/>
          <p:cNvSpPr/>
          <p:nvPr/>
        </p:nvSpPr>
        <p:spPr>
          <a:xfrm>
            <a:off x="6768790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8" name="Connector 457"/>
          <p:cNvCxnSpPr/>
          <p:nvPr/>
        </p:nvCxnSpPr>
        <p:spPr>
          <a:xfrm flipV="1">
            <a:off x="6768790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6768790" y="448970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7249407" y="477316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1" name="cell|Tolonen et al., 2006 - Microarray - MED4|COG1793|ns"/>
          <p:cNvSpPr/>
          <p:nvPr/>
        </p:nvSpPr>
        <p:spPr>
          <a:xfrm>
            <a:off x="7730025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7730025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463" name="cell|Tolonen et al., 2006 - Microarray - MED4|COG0640|ns"/>
          <p:cNvSpPr/>
          <p:nvPr/>
        </p:nvSpPr>
        <p:spPr>
          <a:xfrm>
            <a:off x="8691260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8691260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465" name="cell|Tolonen et al., 2006 - Microarray - MED4|COG1403|ns"/>
          <p:cNvSpPr/>
          <p:nvPr/>
        </p:nvSpPr>
        <p:spPr>
          <a:xfrm>
            <a:off x="9652495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9652495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467" name="cell|Tolonen et al., 2006 - Microarray - MED4|COG2214|ns"/>
          <p:cNvSpPr/>
          <p:nvPr/>
        </p:nvSpPr>
        <p:spPr>
          <a:xfrm>
            <a:off x="10613730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TextBox 467"/>
          <p:cNvSpPr txBox="1"/>
          <p:nvPr/>
        </p:nvSpPr>
        <p:spPr>
          <a:xfrm>
            <a:off x="10613730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469" name="cell|Tolonen et al., 2006 - Microarray - MED4|COG0443|ns"/>
          <p:cNvSpPr/>
          <p:nvPr/>
        </p:nvSpPr>
        <p:spPr>
          <a:xfrm>
            <a:off x="11574965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11574965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471" name="cell|Tolonen et al., 2006 - Microarray - MED4|COG0484|ns"/>
          <p:cNvSpPr/>
          <p:nvPr/>
        </p:nvSpPr>
        <p:spPr>
          <a:xfrm>
            <a:off x="12536200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TextBox 471"/>
          <p:cNvSpPr txBox="1"/>
          <p:nvPr/>
        </p:nvSpPr>
        <p:spPr>
          <a:xfrm>
            <a:off x="12536200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473" name="cell|Tolonen et al., 2006 - Microarray - MED4|COG0330|ns"/>
          <p:cNvSpPr/>
          <p:nvPr/>
        </p:nvSpPr>
        <p:spPr>
          <a:xfrm>
            <a:off x="13497436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13497436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475" name="cell|Tolonen et al., 2006 - Microarray - MED4|COG1187|ns"/>
          <p:cNvSpPr/>
          <p:nvPr/>
        </p:nvSpPr>
        <p:spPr>
          <a:xfrm>
            <a:off x="14458671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14458671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477" name="cell|Tolonen et al., 2006 - Microarray - MED4|COG1454|absent"/>
          <p:cNvSpPr/>
          <p:nvPr/>
        </p:nvSpPr>
        <p:spPr>
          <a:xfrm>
            <a:off x="15419906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8" name="Connector 477"/>
          <p:cNvCxnSpPr/>
          <p:nvPr/>
        </p:nvCxnSpPr>
        <p:spPr>
          <a:xfrm flipV="1">
            <a:off x="15419906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15419906" y="448970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15900523" y="477316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cell|Tolonen et al., 2006 - Microarray - MED4|COG2370|ns"/>
          <p:cNvSpPr/>
          <p:nvPr/>
        </p:nvSpPr>
        <p:spPr>
          <a:xfrm>
            <a:off x="16381141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16381141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483" name="cell|Tolonen et al., 2006 - Microarray - MED4|COG0367|absent"/>
          <p:cNvSpPr/>
          <p:nvPr/>
        </p:nvSpPr>
        <p:spPr>
          <a:xfrm>
            <a:off x="17342376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4" name="Connector 483"/>
          <p:cNvCxnSpPr/>
          <p:nvPr/>
        </p:nvCxnSpPr>
        <p:spPr>
          <a:xfrm flipV="1">
            <a:off x="17342376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17342376" y="448970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17822994" y="477316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cell|Tolonen et al., 2006 - Microarray - MED4|COG0082|ns"/>
          <p:cNvSpPr/>
          <p:nvPr/>
        </p:nvSpPr>
        <p:spPr>
          <a:xfrm>
            <a:off x="18303611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TextBox 487"/>
          <p:cNvSpPr txBox="1"/>
          <p:nvPr/>
        </p:nvSpPr>
        <p:spPr>
          <a:xfrm>
            <a:off x="18303611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489" name="cell|Tolonen et al., 2006 - Microarray - MED4|COG2274|absent"/>
          <p:cNvSpPr/>
          <p:nvPr/>
        </p:nvSpPr>
        <p:spPr>
          <a:xfrm>
            <a:off x="19264846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0" name="Connector 489"/>
          <p:cNvCxnSpPr/>
          <p:nvPr/>
        </p:nvCxnSpPr>
        <p:spPr>
          <a:xfrm flipV="1">
            <a:off x="19264846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19264846" y="448970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19745464" y="477316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cell|Tolonen et al., 2006 - Microarray - MED4|COG1989|absent"/>
          <p:cNvSpPr/>
          <p:nvPr/>
        </p:nvSpPr>
        <p:spPr>
          <a:xfrm>
            <a:off x="20226081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4" name="Connector 493"/>
          <p:cNvCxnSpPr/>
          <p:nvPr/>
        </p:nvCxnSpPr>
        <p:spPr>
          <a:xfrm flipV="1">
            <a:off x="20226081" y="4489704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 flipV="1">
            <a:off x="20226081" y="448970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20706699" y="477316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7" name="cell|Tolonen et al., 2006 - Microarray - MED4|COG0845|ns"/>
          <p:cNvSpPr/>
          <p:nvPr/>
        </p:nvSpPr>
        <p:spPr>
          <a:xfrm>
            <a:off x="21187317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21187317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499" name="cell|Tolonen et al., 2006 - Microarray - MED4|COG0488|ns"/>
          <p:cNvSpPr/>
          <p:nvPr/>
        </p:nvSpPr>
        <p:spPr>
          <a:xfrm>
            <a:off x="22148552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22148552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501" name="cell|Tolonen et al., 2006 - Microarray - MED4|COG0697|ns"/>
          <p:cNvSpPr/>
          <p:nvPr/>
        </p:nvSpPr>
        <p:spPr>
          <a:xfrm>
            <a:off x="23109787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23109787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0/9/9</a:t>
            </a:r>
          </a:p>
        </p:txBody>
      </p:sp>
      <p:sp>
        <p:nvSpPr>
          <p:cNvPr id="503" name="cell|Tolonen et al., 2006 - Microarray - MED4|COG3839|absent"/>
          <p:cNvSpPr/>
          <p:nvPr/>
        </p:nvSpPr>
        <p:spPr>
          <a:xfrm>
            <a:off x="24071022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 flipV="1">
            <a:off x="24071022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V="1">
            <a:off x="24071022" y="448970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24551640" y="477316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cell|Tolonen et al., 2006 - Microarray - MED4|COG1212|absent"/>
          <p:cNvSpPr/>
          <p:nvPr/>
        </p:nvSpPr>
        <p:spPr>
          <a:xfrm>
            <a:off x="25032257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8" name="Connector 507"/>
          <p:cNvCxnSpPr/>
          <p:nvPr/>
        </p:nvCxnSpPr>
        <p:spPr>
          <a:xfrm flipV="1">
            <a:off x="25032257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25032257" y="448970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V="1">
            <a:off x="25512875" y="477316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cell|Tolonen et al., 2006 - Microarray - MED4|COG0477|both"/>
          <p:cNvSpPr/>
          <p:nvPr/>
        </p:nvSpPr>
        <p:spPr>
          <a:xfrm>
            <a:off x="25993492" y="4489704"/>
            <a:ext cx="961235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25993492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↑1↓4/25/25</a:t>
            </a:r>
          </a:p>
        </p:txBody>
      </p:sp>
      <p:sp>
        <p:nvSpPr>
          <p:cNvPr id="513" name="cell|Tolonen et al., 2006 - Microarray - MED4|COG1472|absent"/>
          <p:cNvSpPr/>
          <p:nvPr/>
        </p:nvSpPr>
        <p:spPr>
          <a:xfrm>
            <a:off x="26954727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4" name="Connector 513"/>
          <p:cNvCxnSpPr/>
          <p:nvPr/>
        </p:nvCxnSpPr>
        <p:spPr>
          <a:xfrm flipV="1">
            <a:off x="26954727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V="1">
            <a:off x="26954727" y="448970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27435345" y="477316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cell|Tolonen et al., 2006 - Microarray - MED4|COG3754|absent"/>
          <p:cNvSpPr/>
          <p:nvPr/>
        </p:nvSpPr>
        <p:spPr>
          <a:xfrm>
            <a:off x="27915962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 flipV="1">
            <a:off x="27915962" y="4489704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27915962" y="448970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28396580" y="477316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cell|Tolonen et al., 2006 - Microarray - MED4|COG0399|ns"/>
          <p:cNvSpPr/>
          <p:nvPr/>
        </p:nvSpPr>
        <p:spPr>
          <a:xfrm>
            <a:off x="28877198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TextBox 521"/>
          <p:cNvSpPr txBox="1"/>
          <p:nvPr/>
        </p:nvSpPr>
        <p:spPr>
          <a:xfrm>
            <a:off x="28877198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523" name="cell|Tolonen et al., 2006 - Microarray - MED4|COG0673|down"/>
          <p:cNvSpPr/>
          <p:nvPr/>
        </p:nvSpPr>
        <p:spPr>
          <a:xfrm>
            <a:off x="29838433" y="4489704"/>
            <a:ext cx="961235" cy="566928"/>
          </a:xfrm>
          <a:prstGeom prst="rect">
            <a:avLst/>
          </a:prstGeom>
          <a:solidFill>
            <a:srgbClr val="5989C0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TextBox 523"/>
          <p:cNvSpPr txBox="1"/>
          <p:nvPr/>
        </p:nvSpPr>
        <p:spPr>
          <a:xfrm>
            <a:off x="29838433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1/2/2</a:t>
            </a:r>
          </a:p>
        </p:txBody>
      </p:sp>
      <p:sp>
        <p:nvSpPr>
          <p:cNvPr id="525" name="cell|Tolonen et al., 2006 - Microarray - MED4|COG0810|absent"/>
          <p:cNvSpPr/>
          <p:nvPr/>
        </p:nvSpPr>
        <p:spPr>
          <a:xfrm>
            <a:off x="30799668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6" name="Connector 525"/>
          <p:cNvCxnSpPr/>
          <p:nvPr/>
        </p:nvCxnSpPr>
        <p:spPr>
          <a:xfrm flipV="1">
            <a:off x="30799668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V="1">
            <a:off x="30799668" y="448970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31280285" y="477316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cell|Tolonen et al., 2006 - Microarray - MED4|COG3206|absent"/>
          <p:cNvSpPr/>
          <p:nvPr/>
        </p:nvSpPr>
        <p:spPr>
          <a:xfrm>
            <a:off x="31760903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0" name="Connector 529"/>
          <p:cNvCxnSpPr/>
          <p:nvPr/>
        </p:nvCxnSpPr>
        <p:spPr>
          <a:xfrm flipV="1">
            <a:off x="31760903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 flipV="1">
            <a:off x="31760903" y="448970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32241520" y="477316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cell|Tolonen et al., 2006 - Microarray - MED4|COG1596|ns"/>
          <p:cNvSpPr/>
          <p:nvPr/>
        </p:nvSpPr>
        <p:spPr>
          <a:xfrm>
            <a:off x="32722138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TextBox 533"/>
          <p:cNvSpPr txBox="1"/>
          <p:nvPr/>
        </p:nvSpPr>
        <p:spPr>
          <a:xfrm>
            <a:off x="32722138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535" name="cell|Tolonen et al., 2006 - Microarray - MED4|COG1462|absent"/>
          <p:cNvSpPr/>
          <p:nvPr/>
        </p:nvSpPr>
        <p:spPr>
          <a:xfrm>
            <a:off x="33683373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6" name="Connector 535"/>
          <p:cNvCxnSpPr/>
          <p:nvPr/>
        </p:nvCxnSpPr>
        <p:spPr>
          <a:xfrm flipV="1">
            <a:off x="33683373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33683373" y="448970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34163991" y="477316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cell|Tolonen et al., 2006 - Microarray - MED4|COG3210|ns"/>
          <p:cNvSpPr/>
          <p:nvPr/>
        </p:nvSpPr>
        <p:spPr>
          <a:xfrm>
            <a:off x="34644608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xtBox 539"/>
          <p:cNvSpPr txBox="1"/>
          <p:nvPr/>
        </p:nvSpPr>
        <p:spPr>
          <a:xfrm>
            <a:off x="34644608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541" name="cell|Tolonen et al., 2006 - Microarray - MED4|COG2010|ns"/>
          <p:cNvSpPr/>
          <p:nvPr/>
        </p:nvSpPr>
        <p:spPr>
          <a:xfrm>
            <a:off x="35605843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35605843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543" name="cell|Tolonen et al., 2006 - Microarray - MED4|COG2114|absent"/>
          <p:cNvSpPr/>
          <p:nvPr/>
        </p:nvSpPr>
        <p:spPr>
          <a:xfrm>
            <a:off x="36567079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4" name="Connector 543"/>
          <p:cNvCxnSpPr/>
          <p:nvPr/>
        </p:nvCxnSpPr>
        <p:spPr>
          <a:xfrm flipV="1">
            <a:off x="36567079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V="1">
            <a:off x="36567079" y="448970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 flipV="1">
            <a:off x="37047696" y="477316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cell|Tolonen et al., 2006 - Microarray - MED4|COG0454|ns"/>
          <p:cNvSpPr/>
          <p:nvPr/>
        </p:nvSpPr>
        <p:spPr>
          <a:xfrm>
            <a:off x="37528314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37528314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549" name="cell|Tolonen et al., 2006 - Microarray - MED4|COG2931|absent"/>
          <p:cNvSpPr/>
          <p:nvPr/>
        </p:nvSpPr>
        <p:spPr>
          <a:xfrm>
            <a:off x="38489549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0" name="Connector 549"/>
          <p:cNvCxnSpPr/>
          <p:nvPr/>
        </p:nvCxnSpPr>
        <p:spPr>
          <a:xfrm flipV="1">
            <a:off x="38489549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V="1">
            <a:off x="38489549" y="448970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V="1">
            <a:off x="38970166" y="477316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cell|Tolonen et al., 2006 - Microarray - MED4|COG0412|absent"/>
          <p:cNvSpPr/>
          <p:nvPr/>
        </p:nvSpPr>
        <p:spPr>
          <a:xfrm>
            <a:off x="39450784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4" name="Connector 553"/>
          <p:cNvCxnSpPr/>
          <p:nvPr/>
        </p:nvCxnSpPr>
        <p:spPr>
          <a:xfrm flipV="1">
            <a:off x="39450784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39450784" y="448970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V="1">
            <a:off x="39931401" y="477316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cell|Tolonen et al., 2006 - Microarray - MED4|COG4252|absent"/>
          <p:cNvSpPr/>
          <p:nvPr/>
        </p:nvSpPr>
        <p:spPr>
          <a:xfrm>
            <a:off x="40412019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8" name="Connector 557"/>
          <p:cNvCxnSpPr/>
          <p:nvPr/>
        </p:nvCxnSpPr>
        <p:spPr>
          <a:xfrm flipV="1">
            <a:off x="40412019" y="4489704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40412019" y="448970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V="1">
            <a:off x="40892637" y="4773168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1" name="cell|Tolonen et al., 2006 - Microarray - MED4|COG2192|down"/>
          <p:cNvSpPr/>
          <p:nvPr/>
        </p:nvSpPr>
        <p:spPr>
          <a:xfrm>
            <a:off x="41373254" y="4489704"/>
            <a:ext cx="961235" cy="566928"/>
          </a:xfrm>
          <a:prstGeom prst="rect">
            <a:avLst/>
          </a:prstGeom>
          <a:solidFill>
            <a:srgbClr val="5989C0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1373254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1/2/2</a:t>
            </a:r>
          </a:p>
        </p:txBody>
      </p:sp>
      <p:sp>
        <p:nvSpPr>
          <p:cNvPr id="563" name="cell|Tolonen et al., 2006 - Microarray - MED4|COG2159|ns"/>
          <p:cNvSpPr/>
          <p:nvPr/>
        </p:nvSpPr>
        <p:spPr>
          <a:xfrm>
            <a:off x="42334489" y="448970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TextBox 563"/>
          <p:cNvSpPr txBox="1"/>
          <p:nvPr/>
        </p:nvSpPr>
        <p:spPr>
          <a:xfrm>
            <a:off x="42334489" y="448970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565" name="cell|Tolonen et al., 2006 - Microarray - MED4|COG5651|absent"/>
          <p:cNvSpPr/>
          <p:nvPr/>
        </p:nvSpPr>
        <p:spPr>
          <a:xfrm>
            <a:off x="43295724" y="448970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 flipV="1">
            <a:off x="43295724" y="4489704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V="1">
            <a:off x="43295724" y="448970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43776342" y="4773168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914400" y="5056631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Tolonen et al., 2006 - Microarray - MIT9313</a:t>
            </a:r>
          </a:p>
        </p:txBody>
      </p:sp>
      <p:sp>
        <p:nvSpPr>
          <p:cNvPr id="570" name="cell|Tolonen et al., 2006 - Microarray - MIT9313|COG0188|ns"/>
          <p:cNvSpPr/>
          <p:nvPr/>
        </p:nvSpPr>
        <p:spPr>
          <a:xfrm>
            <a:off x="4846320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4846320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0/4/5</a:t>
            </a:r>
          </a:p>
        </p:txBody>
      </p:sp>
      <p:sp>
        <p:nvSpPr>
          <p:cNvPr id="572" name="cell|Tolonen et al., 2006 - Microarray - MIT9313|COG1787|absent"/>
          <p:cNvSpPr/>
          <p:nvPr/>
        </p:nvSpPr>
        <p:spPr>
          <a:xfrm>
            <a:off x="5807555" y="505663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3" name="Connector 572"/>
          <p:cNvCxnSpPr/>
          <p:nvPr/>
        </p:nvCxnSpPr>
        <p:spPr>
          <a:xfrm flipV="1">
            <a:off x="5807555" y="505663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5807555" y="5056631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6288172" y="5340095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cell|Tolonen et al., 2006 - Microarray - MIT9313|COG3727|absent"/>
          <p:cNvSpPr/>
          <p:nvPr/>
        </p:nvSpPr>
        <p:spPr>
          <a:xfrm>
            <a:off x="6768790" y="505663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 flipV="1">
            <a:off x="6768790" y="505663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6768790" y="5056631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7249407" y="5340095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0" name="cell|Tolonen et al., 2006 - Microarray - MIT9313|COG1793|ns"/>
          <p:cNvSpPr/>
          <p:nvPr/>
        </p:nvSpPr>
        <p:spPr>
          <a:xfrm>
            <a:off x="7730025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TextBox 580"/>
          <p:cNvSpPr txBox="1"/>
          <p:nvPr/>
        </p:nvSpPr>
        <p:spPr>
          <a:xfrm>
            <a:off x="7730025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582" name="cell|Tolonen et al., 2006 - Microarray - MIT9313|COG0640|ns"/>
          <p:cNvSpPr/>
          <p:nvPr/>
        </p:nvSpPr>
        <p:spPr>
          <a:xfrm>
            <a:off x="8691260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8691260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584" name="cell|Tolonen et al., 2006 - Microarray - MIT9313|COG1403|ns"/>
          <p:cNvSpPr/>
          <p:nvPr/>
        </p:nvSpPr>
        <p:spPr>
          <a:xfrm>
            <a:off x="9652495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TextBox 584"/>
          <p:cNvSpPr txBox="1"/>
          <p:nvPr/>
        </p:nvSpPr>
        <p:spPr>
          <a:xfrm>
            <a:off x="9652495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586" name="cell|Tolonen et al., 2006 - Microarray - MIT9313|COG2214|ns"/>
          <p:cNvSpPr/>
          <p:nvPr/>
        </p:nvSpPr>
        <p:spPr>
          <a:xfrm>
            <a:off x="10613730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10613730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0/6/7</a:t>
            </a:r>
          </a:p>
        </p:txBody>
      </p:sp>
      <p:sp>
        <p:nvSpPr>
          <p:cNvPr id="588" name="cell|Tolonen et al., 2006 - Microarray - MIT9313|COG0443|ns"/>
          <p:cNvSpPr/>
          <p:nvPr/>
        </p:nvSpPr>
        <p:spPr>
          <a:xfrm>
            <a:off x="11574965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11574965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590" name="cell|Tolonen et al., 2006 - Microarray - MIT9313|COG0484|ns"/>
          <p:cNvSpPr/>
          <p:nvPr/>
        </p:nvSpPr>
        <p:spPr>
          <a:xfrm>
            <a:off x="12536200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12536200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592" name="cell|Tolonen et al., 2006 - Microarray - MIT9313|COG0330|up"/>
          <p:cNvSpPr/>
          <p:nvPr/>
        </p:nvSpPr>
        <p:spPr>
          <a:xfrm>
            <a:off x="13497436" y="5056631"/>
            <a:ext cx="961235" cy="566928"/>
          </a:xfrm>
          <a:prstGeom prst="rect">
            <a:avLst/>
          </a:prstGeom>
          <a:solidFill>
            <a:srgbClr val="C67872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13497436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1/3/3</a:t>
            </a:r>
          </a:p>
        </p:txBody>
      </p:sp>
      <p:sp>
        <p:nvSpPr>
          <p:cNvPr id="594" name="cell|Tolonen et al., 2006 - Microarray - MIT9313|COG1187|ns"/>
          <p:cNvSpPr/>
          <p:nvPr/>
        </p:nvSpPr>
        <p:spPr>
          <a:xfrm>
            <a:off x="14458671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14458671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596" name="cell|Tolonen et al., 2006 - Microarray - MIT9313|COG1454|nodata"/>
          <p:cNvSpPr/>
          <p:nvPr/>
        </p:nvSpPr>
        <p:spPr>
          <a:xfrm>
            <a:off x="15419906" y="5056631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cell|Tolonen et al., 2006 - Microarray - MIT9313|COG2370|ns"/>
          <p:cNvSpPr/>
          <p:nvPr/>
        </p:nvSpPr>
        <p:spPr>
          <a:xfrm>
            <a:off x="16381141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16381141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599" name="cell|Tolonen et al., 2006 - Microarray - MIT9313|COG0367|absent"/>
          <p:cNvSpPr/>
          <p:nvPr/>
        </p:nvSpPr>
        <p:spPr>
          <a:xfrm>
            <a:off x="17342376" y="505663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17342376" y="505663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V="1">
            <a:off x="17342376" y="5056631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17822994" y="5340095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cell|Tolonen et al., 2006 - Microarray - MIT9313|COG0082|ns"/>
          <p:cNvSpPr/>
          <p:nvPr/>
        </p:nvSpPr>
        <p:spPr>
          <a:xfrm>
            <a:off x="18303611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18303611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605" name="cell|Tolonen et al., 2006 - Microarray - MIT9313|COG2274|ns"/>
          <p:cNvSpPr/>
          <p:nvPr/>
        </p:nvSpPr>
        <p:spPr>
          <a:xfrm>
            <a:off x="19264846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19264846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607" name="cell|Tolonen et al., 2006 - Microarray - MIT9313|COG1989|ns"/>
          <p:cNvSpPr/>
          <p:nvPr/>
        </p:nvSpPr>
        <p:spPr>
          <a:xfrm>
            <a:off x="20226081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20226081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09" name="cell|Tolonen et al., 2006 - Microarray - MIT9313|COG0845|down"/>
          <p:cNvSpPr/>
          <p:nvPr/>
        </p:nvSpPr>
        <p:spPr>
          <a:xfrm>
            <a:off x="21187317" y="5056631"/>
            <a:ext cx="961235" cy="566928"/>
          </a:xfrm>
          <a:prstGeom prst="rect">
            <a:avLst/>
          </a:prstGeom>
          <a:solidFill>
            <a:srgbClr val="7F97AE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21187317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1/10/11</a:t>
            </a:r>
          </a:p>
        </p:txBody>
      </p:sp>
      <p:sp>
        <p:nvSpPr>
          <p:cNvPr id="611" name="cell|Tolonen et al., 2006 - Microarray - MIT9313|COG0488|ns"/>
          <p:cNvSpPr/>
          <p:nvPr/>
        </p:nvSpPr>
        <p:spPr>
          <a:xfrm>
            <a:off x="22148552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22148552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613" name="cell|Tolonen et al., 2006 - Microarray - MIT9313|COG0697|ns"/>
          <p:cNvSpPr/>
          <p:nvPr/>
        </p:nvSpPr>
        <p:spPr>
          <a:xfrm>
            <a:off x="23109787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23109787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0/10/11</a:t>
            </a:r>
          </a:p>
        </p:txBody>
      </p:sp>
      <p:sp>
        <p:nvSpPr>
          <p:cNvPr id="615" name="cell|Tolonen et al., 2006 - Microarray - MIT9313|COG3839|ns"/>
          <p:cNvSpPr/>
          <p:nvPr/>
        </p:nvSpPr>
        <p:spPr>
          <a:xfrm>
            <a:off x="24071022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24071022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617" name="cell|Tolonen et al., 2006 - Microarray - MIT9313|COG1212|ns"/>
          <p:cNvSpPr/>
          <p:nvPr/>
        </p:nvSpPr>
        <p:spPr>
          <a:xfrm>
            <a:off x="25032257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25032257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19" name="cell|Tolonen et al., 2006 - Microarray - MIT9313|COG0477|down"/>
          <p:cNvSpPr/>
          <p:nvPr/>
        </p:nvSpPr>
        <p:spPr>
          <a:xfrm>
            <a:off x="25993492" y="5056631"/>
            <a:ext cx="961235" cy="566928"/>
          </a:xfrm>
          <a:prstGeom prst="rect">
            <a:avLst/>
          </a:prstGeom>
          <a:solidFill>
            <a:srgbClr val="8699A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25993492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1/33/34</a:t>
            </a:r>
          </a:p>
        </p:txBody>
      </p:sp>
      <p:sp>
        <p:nvSpPr>
          <p:cNvPr id="621" name="cell|Tolonen et al., 2006 - Microarray - MIT9313|COG1472|ns"/>
          <p:cNvSpPr/>
          <p:nvPr/>
        </p:nvSpPr>
        <p:spPr>
          <a:xfrm>
            <a:off x="26954727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26954727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623" name="cell|Tolonen et al., 2006 - Microarray - MIT9313|COG3754|ns"/>
          <p:cNvSpPr/>
          <p:nvPr/>
        </p:nvSpPr>
        <p:spPr>
          <a:xfrm>
            <a:off x="27915962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27915962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25" name="cell|Tolonen et al., 2006 - Microarray - MIT9313|COG0399|ns"/>
          <p:cNvSpPr/>
          <p:nvPr/>
        </p:nvSpPr>
        <p:spPr>
          <a:xfrm>
            <a:off x="28877198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28877198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27" name="cell|Tolonen et al., 2006 - Microarray - MIT9313|COG0673|ns"/>
          <p:cNvSpPr/>
          <p:nvPr/>
        </p:nvSpPr>
        <p:spPr>
          <a:xfrm>
            <a:off x="29838433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29838433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629" name="cell|Tolonen et al., 2006 - Microarray - MIT9313|COG0810|ns"/>
          <p:cNvSpPr/>
          <p:nvPr/>
        </p:nvSpPr>
        <p:spPr>
          <a:xfrm>
            <a:off x="30799668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30799668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631" name="cell|Tolonen et al., 2006 - Microarray - MIT9313|COG3206|absent"/>
          <p:cNvSpPr/>
          <p:nvPr/>
        </p:nvSpPr>
        <p:spPr>
          <a:xfrm>
            <a:off x="31760903" y="505663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2" name="Connector 631"/>
          <p:cNvCxnSpPr/>
          <p:nvPr/>
        </p:nvCxnSpPr>
        <p:spPr>
          <a:xfrm flipV="1">
            <a:off x="31760903" y="505663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1760903" y="5056631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32241520" y="5340095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cell|Tolonen et al., 2006 - Microarray - MIT9313|COG1596|absent"/>
          <p:cNvSpPr/>
          <p:nvPr/>
        </p:nvSpPr>
        <p:spPr>
          <a:xfrm>
            <a:off x="32722138" y="505663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6" name="Connector 635"/>
          <p:cNvCxnSpPr/>
          <p:nvPr/>
        </p:nvCxnSpPr>
        <p:spPr>
          <a:xfrm flipV="1">
            <a:off x="32722138" y="505663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32722138" y="5056631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33202756" y="5340095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cell|Tolonen et al., 2006 - Microarray - MIT9313|COG1462|ns"/>
          <p:cNvSpPr/>
          <p:nvPr/>
        </p:nvSpPr>
        <p:spPr>
          <a:xfrm>
            <a:off x="33683373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TextBox 639"/>
          <p:cNvSpPr txBox="1"/>
          <p:nvPr/>
        </p:nvSpPr>
        <p:spPr>
          <a:xfrm>
            <a:off x="33683373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41" name="cell|Tolonen et al., 2006 - Microarray - MIT9313|COG3210|ns"/>
          <p:cNvSpPr/>
          <p:nvPr/>
        </p:nvSpPr>
        <p:spPr>
          <a:xfrm>
            <a:off x="34644608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TextBox 641"/>
          <p:cNvSpPr txBox="1"/>
          <p:nvPr/>
        </p:nvSpPr>
        <p:spPr>
          <a:xfrm>
            <a:off x="34644608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643" name="cell|Tolonen et al., 2006 - Microarray - MIT9313|COG2010|ns"/>
          <p:cNvSpPr/>
          <p:nvPr/>
        </p:nvSpPr>
        <p:spPr>
          <a:xfrm>
            <a:off x="35605843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extBox 643"/>
          <p:cNvSpPr txBox="1"/>
          <p:nvPr/>
        </p:nvSpPr>
        <p:spPr>
          <a:xfrm>
            <a:off x="35605843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645" name="cell|Tolonen et al., 2006 - Microarray - MIT9313|COG2114|ns"/>
          <p:cNvSpPr/>
          <p:nvPr/>
        </p:nvSpPr>
        <p:spPr>
          <a:xfrm>
            <a:off x="36567079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TextBox 645"/>
          <p:cNvSpPr txBox="1"/>
          <p:nvPr/>
        </p:nvSpPr>
        <p:spPr>
          <a:xfrm>
            <a:off x="36567079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47" name="cell|Tolonen et al., 2006 - Microarray - MIT9313|COG0454|ns"/>
          <p:cNvSpPr/>
          <p:nvPr/>
        </p:nvSpPr>
        <p:spPr>
          <a:xfrm>
            <a:off x="37528314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37528314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0/7/8</a:t>
            </a:r>
          </a:p>
        </p:txBody>
      </p:sp>
      <p:sp>
        <p:nvSpPr>
          <p:cNvPr id="649" name="cell|Tolonen et al., 2006 - Microarray - MIT9313|COG2931|ns"/>
          <p:cNvSpPr/>
          <p:nvPr/>
        </p:nvSpPr>
        <p:spPr>
          <a:xfrm>
            <a:off x="38489549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38489549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0/3/4</a:t>
            </a:r>
          </a:p>
        </p:txBody>
      </p:sp>
      <p:sp>
        <p:nvSpPr>
          <p:cNvPr id="651" name="cell|Tolonen et al., 2006 - Microarray - MIT9313|COG0412|ns"/>
          <p:cNvSpPr/>
          <p:nvPr/>
        </p:nvSpPr>
        <p:spPr>
          <a:xfrm>
            <a:off x="39450784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39450784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53" name="cell|Tolonen et al., 2006 - Microarray - MIT9313|COG4252|ns"/>
          <p:cNvSpPr/>
          <p:nvPr/>
        </p:nvSpPr>
        <p:spPr>
          <a:xfrm>
            <a:off x="40412019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40412019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55" name="cell|Tolonen et al., 2006 - Microarray - MIT9313|COG2192|absent"/>
          <p:cNvSpPr/>
          <p:nvPr/>
        </p:nvSpPr>
        <p:spPr>
          <a:xfrm>
            <a:off x="41373254" y="505663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41373254" y="505663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41373254" y="5056631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41853872" y="5340095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cell|Tolonen et al., 2006 - Microarray - MIT9313|COG2159|absent"/>
          <p:cNvSpPr/>
          <p:nvPr/>
        </p:nvSpPr>
        <p:spPr>
          <a:xfrm>
            <a:off x="42334489" y="505663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 flipV="1">
            <a:off x="42334489" y="505663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42334489" y="5056631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42815107" y="5340095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3" name="cell|Tolonen et al., 2006 - Microarray - MIT9313|COG5651|ns"/>
          <p:cNvSpPr/>
          <p:nvPr/>
        </p:nvSpPr>
        <p:spPr>
          <a:xfrm>
            <a:off x="43295724" y="505663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TextBox 663"/>
          <p:cNvSpPr txBox="1"/>
          <p:nvPr/>
        </p:nvSpPr>
        <p:spPr>
          <a:xfrm>
            <a:off x="43295724" y="505663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914400" y="5623560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Lin et al., 2015 - RNA-seq - NATL2A</a:t>
            </a:r>
          </a:p>
        </p:txBody>
      </p:sp>
      <p:sp>
        <p:nvSpPr>
          <p:cNvPr id="666" name="cell|Lin et al., 2015 - RNA-seq - NATL2A|COG0188|ns"/>
          <p:cNvSpPr/>
          <p:nvPr/>
        </p:nvSpPr>
        <p:spPr>
          <a:xfrm>
            <a:off x="4846320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TextBox 666"/>
          <p:cNvSpPr txBox="1"/>
          <p:nvPr/>
        </p:nvSpPr>
        <p:spPr>
          <a:xfrm>
            <a:off x="4846320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668" name="cell|Lin et al., 2015 - RNA-seq - NATL2A|COG1787|absent"/>
          <p:cNvSpPr/>
          <p:nvPr/>
        </p:nvSpPr>
        <p:spPr>
          <a:xfrm>
            <a:off x="5807555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9" name="Connector 668"/>
          <p:cNvCxnSpPr/>
          <p:nvPr/>
        </p:nvCxnSpPr>
        <p:spPr>
          <a:xfrm flipV="1">
            <a:off x="5807555" y="562356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 flipV="1">
            <a:off x="5807555" y="562356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 flipV="1">
            <a:off x="6288172" y="590702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cell|Lin et al., 2015 - RNA-seq - NATL2A|COG3727|absent"/>
          <p:cNvSpPr/>
          <p:nvPr/>
        </p:nvSpPr>
        <p:spPr>
          <a:xfrm>
            <a:off x="6768790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3" name="Connector 672"/>
          <p:cNvCxnSpPr/>
          <p:nvPr/>
        </p:nvCxnSpPr>
        <p:spPr>
          <a:xfrm flipV="1">
            <a:off x="6768790" y="562356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6768790" y="562356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7249407" y="590702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cell|Lin et al., 2015 - RNA-seq - NATL2A|COG1793|ns"/>
          <p:cNvSpPr/>
          <p:nvPr/>
        </p:nvSpPr>
        <p:spPr>
          <a:xfrm>
            <a:off x="7730025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7730025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78" name="cell|Lin et al., 2015 - RNA-seq - NATL2A|COG0640|ns"/>
          <p:cNvSpPr/>
          <p:nvPr/>
        </p:nvSpPr>
        <p:spPr>
          <a:xfrm>
            <a:off x="8691260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8691260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80" name="cell|Lin et al., 2015 - RNA-seq - NATL2A|COG1403|ns"/>
          <p:cNvSpPr/>
          <p:nvPr/>
        </p:nvSpPr>
        <p:spPr>
          <a:xfrm>
            <a:off x="9652495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extBox 680"/>
          <p:cNvSpPr txBox="1"/>
          <p:nvPr/>
        </p:nvSpPr>
        <p:spPr>
          <a:xfrm>
            <a:off x="9652495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682" name="cell|Lin et al., 2015 - RNA-seq - NATL2A|COG2214|ns"/>
          <p:cNvSpPr/>
          <p:nvPr/>
        </p:nvSpPr>
        <p:spPr>
          <a:xfrm>
            <a:off x="10613730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TextBox 682"/>
          <p:cNvSpPr txBox="1"/>
          <p:nvPr/>
        </p:nvSpPr>
        <p:spPr>
          <a:xfrm>
            <a:off x="10613730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684" name="cell|Lin et al., 2015 - RNA-seq - NATL2A|COG0443|ns"/>
          <p:cNvSpPr/>
          <p:nvPr/>
        </p:nvSpPr>
        <p:spPr>
          <a:xfrm>
            <a:off x="11574965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TextBox 684"/>
          <p:cNvSpPr txBox="1"/>
          <p:nvPr/>
        </p:nvSpPr>
        <p:spPr>
          <a:xfrm>
            <a:off x="11574965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686" name="cell|Lin et al., 2015 - RNA-seq - NATL2A|COG0484|ns"/>
          <p:cNvSpPr/>
          <p:nvPr/>
        </p:nvSpPr>
        <p:spPr>
          <a:xfrm>
            <a:off x="12536200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12536200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688" name="cell|Lin et al., 2015 - RNA-seq - NATL2A|COG0330|ns"/>
          <p:cNvSpPr/>
          <p:nvPr/>
        </p:nvSpPr>
        <p:spPr>
          <a:xfrm>
            <a:off x="13497436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13497436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690" name="cell|Lin et al., 2015 - RNA-seq - NATL2A|COG1187|ns"/>
          <p:cNvSpPr/>
          <p:nvPr/>
        </p:nvSpPr>
        <p:spPr>
          <a:xfrm>
            <a:off x="14458671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TextBox 690"/>
          <p:cNvSpPr txBox="1"/>
          <p:nvPr/>
        </p:nvSpPr>
        <p:spPr>
          <a:xfrm>
            <a:off x="14458671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692" name="cell|Lin et al., 2015 - RNA-seq - NATL2A|COG1454|ns"/>
          <p:cNvSpPr/>
          <p:nvPr/>
        </p:nvSpPr>
        <p:spPr>
          <a:xfrm>
            <a:off x="15419906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TextBox 692"/>
          <p:cNvSpPr txBox="1"/>
          <p:nvPr/>
        </p:nvSpPr>
        <p:spPr>
          <a:xfrm>
            <a:off x="15419906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94" name="cell|Lin et al., 2015 - RNA-seq - NATL2A|COG2370|ns"/>
          <p:cNvSpPr/>
          <p:nvPr/>
        </p:nvSpPr>
        <p:spPr>
          <a:xfrm>
            <a:off x="16381141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TextBox 694"/>
          <p:cNvSpPr txBox="1"/>
          <p:nvPr/>
        </p:nvSpPr>
        <p:spPr>
          <a:xfrm>
            <a:off x="16381141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96" name="cell|Lin et al., 2015 - RNA-seq - NATL2A|COG0367|absent"/>
          <p:cNvSpPr/>
          <p:nvPr/>
        </p:nvSpPr>
        <p:spPr>
          <a:xfrm>
            <a:off x="17342376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7" name="Connector 696"/>
          <p:cNvCxnSpPr/>
          <p:nvPr/>
        </p:nvCxnSpPr>
        <p:spPr>
          <a:xfrm flipV="1">
            <a:off x="17342376" y="562356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17342376" y="562356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17822994" y="590702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cell|Lin et al., 2015 - RNA-seq - NATL2A|COG0082|ns"/>
          <p:cNvSpPr/>
          <p:nvPr/>
        </p:nvSpPr>
        <p:spPr>
          <a:xfrm>
            <a:off x="18303611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TextBox 700"/>
          <p:cNvSpPr txBox="1"/>
          <p:nvPr/>
        </p:nvSpPr>
        <p:spPr>
          <a:xfrm>
            <a:off x="18303611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702" name="cell|Lin et al., 2015 - RNA-seq - NATL2A|COG2274|ns"/>
          <p:cNvSpPr/>
          <p:nvPr/>
        </p:nvSpPr>
        <p:spPr>
          <a:xfrm>
            <a:off x="19264846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19264846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704" name="cell|Lin et al., 2015 - RNA-seq - NATL2A|COG1989|ns"/>
          <p:cNvSpPr/>
          <p:nvPr/>
        </p:nvSpPr>
        <p:spPr>
          <a:xfrm>
            <a:off x="20226081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20226081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06" name="cell|Lin et al., 2015 - RNA-seq - NATL2A|COG0845|ns"/>
          <p:cNvSpPr/>
          <p:nvPr/>
        </p:nvSpPr>
        <p:spPr>
          <a:xfrm>
            <a:off x="21187317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21187317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708" name="cell|Lin et al., 2015 - RNA-seq - NATL2A|COG0488|ns"/>
          <p:cNvSpPr/>
          <p:nvPr/>
        </p:nvSpPr>
        <p:spPr>
          <a:xfrm>
            <a:off x="22148552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TextBox 708"/>
          <p:cNvSpPr txBox="1"/>
          <p:nvPr/>
        </p:nvSpPr>
        <p:spPr>
          <a:xfrm>
            <a:off x="22148552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710" name="cell|Lin et al., 2015 - RNA-seq - NATL2A|COG0697|ns"/>
          <p:cNvSpPr/>
          <p:nvPr/>
        </p:nvSpPr>
        <p:spPr>
          <a:xfrm>
            <a:off x="23109787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TextBox 710"/>
          <p:cNvSpPr txBox="1"/>
          <p:nvPr/>
        </p:nvSpPr>
        <p:spPr>
          <a:xfrm>
            <a:off x="23109787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0/9/9</a:t>
            </a:r>
          </a:p>
        </p:txBody>
      </p:sp>
      <p:sp>
        <p:nvSpPr>
          <p:cNvPr id="712" name="cell|Lin et al., 2015 - RNA-seq - NATL2A|COG3839|ns"/>
          <p:cNvSpPr/>
          <p:nvPr/>
        </p:nvSpPr>
        <p:spPr>
          <a:xfrm>
            <a:off x="24071022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24071022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14" name="cell|Lin et al., 2015 - RNA-seq - NATL2A|COG1212|absent"/>
          <p:cNvSpPr/>
          <p:nvPr/>
        </p:nvSpPr>
        <p:spPr>
          <a:xfrm>
            <a:off x="25032257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5" name="Connector 714"/>
          <p:cNvCxnSpPr/>
          <p:nvPr/>
        </p:nvCxnSpPr>
        <p:spPr>
          <a:xfrm flipV="1">
            <a:off x="25032257" y="562356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V="1">
            <a:off x="25032257" y="562356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V="1">
            <a:off x="25512875" y="590702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cell|Lin et al., 2015 - RNA-seq - NATL2A|COG0477|up"/>
          <p:cNvSpPr/>
          <p:nvPr/>
        </p:nvSpPr>
        <p:spPr>
          <a:xfrm>
            <a:off x="25993492" y="5623560"/>
            <a:ext cx="961235" cy="566928"/>
          </a:xfrm>
          <a:prstGeom prst="rect">
            <a:avLst/>
          </a:prstGeom>
          <a:solidFill>
            <a:srgbClr val="B88C84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TextBox 718"/>
          <p:cNvSpPr txBox="1"/>
          <p:nvPr/>
        </p:nvSpPr>
        <p:spPr>
          <a:xfrm>
            <a:off x="25993492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1/28/28</a:t>
            </a:r>
          </a:p>
        </p:txBody>
      </p:sp>
      <p:sp>
        <p:nvSpPr>
          <p:cNvPr id="720" name="cell|Lin et al., 2015 - RNA-seq - NATL2A|COG1472|ns"/>
          <p:cNvSpPr/>
          <p:nvPr/>
        </p:nvSpPr>
        <p:spPr>
          <a:xfrm>
            <a:off x="26954727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26954727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22" name="cell|Lin et al., 2015 - RNA-seq - NATL2A|COG3754|absent"/>
          <p:cNvSpPr/>
          <p:nvPr/>
        </p:nvSpPr>
        <p:spPr>
          <a:xfrm>
            <a:off x="27915962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3" name="Connector 722"/>
          <p:cNvCxnSpPr/>
          <p:nvPr/>
        </p:nvCxnSpPr>
        <p:spPr>
          <a:xfrm flipV="1">
            <a:off x="27915962" y="5623560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V="1">
            <a:off x="27915962" y="562356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 flipV="1">
            <a:off x="28396580" y="590702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6" name="cell|Lin et al., 2015 - RNA-seq - NATL2A|COG0399|ns"/>
          <p:cNvSpPr/>
          <p:nvPr/>
        </p:nvSpPr>
        <p:spPr>
          <a:xfrm>
            <a:off x="28877198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28877198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728" name="cell|Lin et al., 2015 - RNA-seq - NATL2A|COG0673|ns"/>
          <p:cNvSpPr/>
          <p:nvPr/>
        </p:nvSpPr>
        <p:spPr>
          <a:xfrm>
            <a:off x="29838433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TextBox 728"/>
          <p:cNvSpPr txBox="1"/>
          <p:nvPr/>
        </p:nvSpPr>
        <p:spPr>
          <a:xfrm>
            <a:off x="29838433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730" name="cell|Lin et al., 2015 - RNA-seq - NATL2A|COG0810|ns"/>
          <p:cNvSpPr/>
          <p:nvPr/>
        </p:nvSpPr>
        <p:spPr>
          <a:xfrm>
            <a:off x="30799668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TextBox 730"/>
          <p:cNvSpPr txBox="1"/>
          <p:nvPr/>
        </p:nvSpPr>
        <p:spPr>
          <a:xfrm>
            <a:off x="30799668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32" name="cell|Lin et al., 2015 - RNA-seq - NATL2A|COG3206|absent"/>
          <p:cNvSpPr/>
          <p:nvPr/>
        </p:nvSpPr>
        <p:spPr>
          <a:xfrm>
            <a:off x="31760903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3" name="Connector 732"/>
          <p:cNvCxnSpPr/>
          <p:nvPr/>
        </p:nvCxnSpPr>
        <p:spPr>
          <a:xfrm flipV="1">
            <a:off x="31760903" y="562356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31760903" y="562356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32241520" y="590702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cell|Lin et al., 2015 - RNA-seq - NATL2A|COG1596|absent"/>
          <p:cNvSpPr/>
          <p:nvPr/>
        </p:nvSpPr>
        <p:spPr>
          <a:xfrm>
            <a:off x="32722138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7" name="Connector 736"/>
          <p:cNvCxnSpPr/>
          <p:nvPr/>
        </p:nvCxnSpPr>
        <p:spPr>
          <a:xfrm flipV="1">
            <a:off x="32722138" y="562356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32722138" y="562356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33202756" y="590702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cell|Lin et al., 2015 - RNA-seq - NATL2A|COG1462|absent"/>
          <p:cNvSpPr/>
          <p:nvPr/>
        </p:nvSpPr>
        <p:spPr>
          <a:xfrm>
            <a:off x="33683373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1" name="Connector 740"/>
          <p:cNvCxnSpPr/>
          <p:nvPr/>
        </p:nvCxnSpPr>
        <p:spPr>
          <a:xfrm flipV="1">
            <a:off x="33683373" y="562356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33683373" y="562356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34163991" y="590702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cell|Lin et al., 2015 - RNA-seq - NATL2A|COG3210|ns"/>
          <p:cNvSpPr/>
          <p:nvPr/>
        </p:nvSpPr>
        <p:spPr>
          <a:xfrm>
            <a:off x="34644608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TextBox 744"/>
          <p:cNvSpPr txBox="1"/>
          <p:nvPr/>
        </p:nvSpPr>
        <p:spPr>
          <a:xfrm>
            <a:off x="34644608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46" name="cell|Lin et al., 2015 - RNA-seq - NATL2A|COG2010|ns"/>
          <p:cNvSpPr/>
          <p:nvPr/>
        </p:nvSpPr>
        <p:spPr>
          <a:xfrm>
            <a:off x="35605843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TextBox 746"/>
          <p:cNvSpPr txBox="1"/>
          <p:nvPr/>
        </p:nvSpPr>
        <p:spPr>
          <a:xfrm>
            <a:off x="35605843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748" name="cell|Lin et al., 2015 - RNA-seq - NATL2A|COG2114|absent"/>
          <p:cNvSpPr/>
          <p:nvPr/>
        </p:nvSpPr>
        <p:spPr>
          <a:xfrm>
            <a:off x="36567079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 flipV="1">
            <a:off x="36567079" y="562356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 flipV="1">
            <a:off x="36567079" y="562356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37047696" y="590702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" name="cell|Lin et al., 2015 - RNA-seq - NATL2A|COG0454|ns"/>
          <p:cNvSpPr/>
          <p:nvPr/>
        </p:nvSpPr>
        <p:spPr>
          <a:xfrm>
            <a:off x="37528314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37528314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754" name="cell|Lin et al., 2015 - RNA-seq - NATL2A|COG2931|ns"/>
          <p:cNvSpPr/>
          <p:nvPr/>
        </p:nvSpPr>
        <p:spPr>
          <a:xfrm>
            <a:off x="38489549" y="5623560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38489549" y="5623560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56" name="cell|Lin et al., 2015 - RNA-seq - NATL2A|COG0412|absent"/>
          <p:cNvSpPr/>
          <p:nvPr/>
        </p:nvSpPr>
        <p:spPr>
          <a:xfrm>
            <a:off x="39450784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7" name="Connector 756"/>
          <p:cNvCxnSpPr/>
          <p:nvPr/>
        </p:nvCxnSpPr>
        <p:spPr>
          <a:xfrm flipV="1">
            <a:off x="39450784" y="562356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 flipV="1">
            <a:off x="39450784" y="5623560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 flipV="1">
            <a:off x="39931401" y="590702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0" name="cell|Lin et al., 2015 - RNA-seq - NATL2A|COG4252|absent"/>
          <p:cNvSpPr/>
          <p:nvPr/>
        </p:nvSpPr>
        <p:spPr>
          <a:xfrm>
            <a:off x="40412019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1" name="Connector 760"/>
          <p:cNvCxnSpPr/>
          <p:nvPr/>
        </p:nvCxnSpPr>
        <p:spPr>
          <a:xfrm flipV="1">
            <a:off x="40412019" y="562356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 flipV="1">
            <a:off x="40412019" y="562356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V="1">
            <a:off x="40892637" y="590702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4" name="cell|Lin et al., 2015 - RNA-seq - NATL2A|COG2192|absent"/>
          <p:cNvSpPr/>
          <p:nvPr/>
        </p:nvSpPr>
        <p:spPr>
          <a:xfrm>
            <a:off x="41373254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5" name="Connector 764"/>
          <p:cNvCxnSpPr/>
          <p:nvPr/>
        </p:nvCxnSpPr>
        <p:spPr>
          <a:xfrm flipV="1">
            <a:off x="41373254" y="562356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V="1">
            <a:off x="41373254" y="562356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 flipV="1">
            <a:off x="41853872" y="590702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8" name="cell|Lin et al., 2015 - RNA-seq - NATL2A|COG2159|absent"/>
          <p:cNvSpPr/>
          <p:nvPr/>
        </p:nvSpPr>
        <p:spPr>
          <a:xfrm>
            <a:off x="42334489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9" name="Connector 768"/>
          <p:cNvCxnSpPr/>
          <p:nvPr/>
        </p:nvCxnSpPr>
        <p:spPr>
          <a:xfrm flipV="1">
            <a:off x="42334489" y="5623560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 flipV="1">
            <a:off x="42334489" y="562356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42815107" y="590702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cell|Lin et al., 2015 - RNA-seq - NATL2A|COG5651|absent"/>
          <p:cNvSpPr/>
          <p:nvPr/>
        </p:nvSpPr>
        <p:spPr>
          <a:xfrm>
            <a:off x="43295724" y="5623560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3" name="Connector 772"/>
          <p:cNvCxnSpPr/>
          <p:nvPr/>
        </p:nvCxnSpPr>
        <p:spPr>
          <a:xfrm flipV="1">
            <a:off x="43295724" y="5623560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 flipV="1">
            <a:off x="43295724" y="5623560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 flipV="1">
            <a:off x="43776342" y="590702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6" name="TextBox 775"/>
          <p:cNvSpPr txBox="1"/>
          <p:nvPr/>
        </p:nvSpPr>
        <p:spPr>
          <a:xfrm>
            <a:off x="914400" y="6190488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Fuszard et al., 2012 - Proteomics - MIT9312</a:t>
            </a:r>
          </a:p>
        </p:txBody>
      </p:sp>
      <p:sp>
        <p:nvSpPr>
          <p:cNvPr id="777" name="cell|Fuszard et al., 2012 - Proteomics - MIT9312|COG0188|ns"/>
          <p:cNvSpPr/>
          <p:nvPr/>
        </p:nvSpPr>
        <p:spPr>
          <a:xfrm>
            <a:off x="4846320" y="6190488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TextBox 777"/>
          <p:cNvSpPr txBox="1"/>
          <p:nvPr/>
        </p:nvSpPr>
        <p:spPr>
          <a:xfrm>
            <a:off x="4846320" y="619048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0/1/6</a:t>
            </a:r>
          </a:p>
        </p:txBody>
      </p:sp>
      <p:sp>
        <p:nvSpPr>
          <p:cNvPr id="779" name="cell|Fuszard et al., 2012 - Proteomics - MIT9312|COG1787|nodata"/>
          <p:cNvSpPr/>
          <p:nvPr/>
        </p:nvSpPr>
        <p:spPr>
          <a:xfrm>
            <a:off x="5807555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cell|Fuszard et al., 2012 - Proteomics - MIT9312|COG3727|nodata"/>
          <p:cNvSpPr/>
          <p:nvPr/>
        </p:nvSpPr>
        <p:spPr>
          <a:xfrm>
            <a:off x="6768790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cell|Fuszard et al., 2012 - Proteomics - MIT9312|COG1793|nodata"/>
          <p:cNvSpPr/>
          <p:nvPr/>
        </p:nvSpPr>
        <p:spPr>
          <a:xfrm>
            <a:off x="7730025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cell|Fuszard et al., 2012 - Proteomics - MIT9312|COG0640|nodata"/>
          <p:cNvSpPr/>
          <p:nvPr/>
        </p:nvSpPr>
        <p:spPr>
          <a:xfrm>
            <a:off x="8691260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cell|Fuszard et al., 2012 - Proteomics - MIT9312|COG1403|nodata"/>
          <p:cNvSpPr/>
          <p:nvPr/>
        </p:nvSpPr>
        <p:spPr>
          <a:xfrm>
            <a:off x="9652495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cell|Fuszard et al., 2012 - Proteomics - MIT9312|COG2214|ns"/>
          <p:cNvSpPr/>
          <p:nvPr/>
        </p:nvSpPr>
        <p:spPr>
          <a:xfrm>
            <a:off x="10613730" y="6190488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10613730" y="619048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0/1/5</a:t>
            </a:r>
          </a:p>
        </p:txBody>
      </p:sp>
      <p:sp>
        <p:nvSpPr>
          <p:cNvPr id="786" name="cell|Fuszard et al., 2012 - Proteomics - MIT9312|COG0443|nodata"/>
          <p:cNvSpPr/>
          <p:nvPr/>
        </p:nvSpPr>
        <p:spPr>
          <a:xfrm>
            <a:off x="11574965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cell|Fuszard et al., 2012 - Proteomics - MIT9312|COG0484|ns"/>
          <p:cNvSpPr/>
          <p:nvPr/>
        </p:nvSpPr>
        <p:spPr>
          <a:xfrm>
            <a:off x="12536200" y="6190488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12536200" y="619048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0/1/5</a:t>
            </a:r>
          </a:p>
        </p:txBody>
      </p:sp>
      <p:sp>
        <p:nvSpPr>
          <p:cNvPr id="789" name="cell|Fuszard et al., 2012 - Proteomics - MIT9312|COG0330|ns"/>
          <p:cNvSpPr/>
          <p:nvPr/>
        </p:nvSpPr>
        <p:spPr>
          <a:xfrm>
            <a:off x="13497436" y="6190488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TextBox 789"/>
          <p:cNvSpPr txBox="1"/>
          <p:nvPr/>
        </p:nvSpPr>
        <p:spPr>
          <a:xfrm>
            <a:off x="13497436" y="619048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91" name="cell|Fuszard et al., 2012 - Proteomics - MIT9312|COG1187|nodata"/>
          <p:cNvSpPr/>
          <p:nvPr/>
        </p:nvSpPr>
        <p:spPr>
          <a:xfrm>
            <a:off x="14458671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cell|Fuszard et al., 2012 - Proteomics - MIT9312|COG1454|absent"/>
          <p:cNvSpPr/>
          <p:nvPr/>
        </p:nvSpPr>
        <p:spPr>
          <a:xfrm>
            <a:off x="15419906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3" name="Connector 792"/>
          <p:cNvCxnSpPr/>
          <p:nvPr/>
        </p:nvCxnSpPr>
        <p:spPr>
          <a:xfrm flipV="1">
            <a:off x="15419906" y="619048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 flipV="1">
            <a:off x="15419906" y="6190488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V="1">
            <a:off x="15900523" y="6473951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6" name="cell|Fuszard et al., 2012 - Proteomics - MIT9312|COG2370|absent"/>
          <p:cNvSpPr/>
          <p:nvPr/>
        </p:nvSpPr>
        <p:spPr>
          <a:xfrm>
            <a:off x="16381141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7" name="Connector 796"/>
          <p:cNvCxnSpPr/>
          <p:nvPr/>
        </p:nvCxnSpPr>
        <p:spPr>
          <a:xfrm flipV="1">
            <a:off x="16381141" y="619048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 flipV="1">
            <a:off x="16381141" y="619048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 flipV="1">
            <a:off x="16861759" y="6473951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cell|Fuszard et al., 2012 - Proteomics - MIT9312|COG0367|nodata"/>
          <p:cNvSpPr/>
          <p:nvPr/>
        </p:nvSpPr>
        <p:spPr>
          <a:xfrm>
            <a:off x="17342376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cell|Fuszard et al., 2012 - Proteomics - MIT9312|COG0082|nodata"/>
          <p:cNvSpPr/>
          <p:nvPr/>
        </p:nvSpPr>
        <p:spPr>
          <a:xfrm>
            <a:off x="18303611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cell|Fuszard et al., 2012 - Proteomics - MIT9312|COG2274|nodata"/>
          <p:cNvSpPr/>
          <p:nvPr/>
        </p:nvSpPr>
        <p:spPr>
          <a:xfrm>
            <a:off x="19264846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cell|Fuszard et al., 2012 - Proteomics - MIT9312|COG1989|nodata"/>
          <p:cNvSpPr/>
          <p:nvPr/>
        </p:nvSpPr>
        <p:spPr>
          <a:xfrm>
            <a:off x="20226081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cell|Fuszard et al., 2012 - Proteomics - MIT9312|COG0845|nodata"/>
          <p:cNvSpPr/>
          <p:nvPr/>
        </p:nvSpPr>
        <p:spPr>
          <a:xfrm>
            <a:off x="21187317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cell|Fuszard et al., 2012 - Proteomics - MIT9312|COG0488|nodata"/>
          <p:cNvSpPr/>
          <p:nvPr/>
        </p:nvSpPr>
        <p:spPr>
          <a:xfrm>
            <a:off x="22148552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cell|Fuszard et al., 2012 - Proteomics - MIT9312|COG0697|nodata"/>
          <p:cNvSpPr/>
          <p:nvPr/>
        </p:nvSpPr>
        <p:spPr>
          <a:xfrm>
            <a:off x="23109787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cell|Fuszard et al., 2012 - Proteomics - MIT9312|COG3839|absent"/>
          <p:cNvSpPr/>
          <p:nvPr/>
        </p:nvSpPr>
        <p:spPr>
          <a:xfrm>
            <a:off x="24071022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8" name="Connector 807"/>
          <p:cNvCxnSpPr/>
          <p:nvPr/>
        </p:nvCxnSpPr>
        <p:spPr>
          <a:xfrm flipV="1">
            <a:off x="24071022" y="619048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 flipV="1">
            <a:off x="24071022" y="619048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V="1">
            <a:off x="24551640" y="6473951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1" name="cell|Fuszard et al., 2012 - Proteomics - MIT9312|COG1212|absent"/>
          <p:cNvSpPr/>
          <p:nvPr/>
        </p:nvSpPr>
        <p:spPr>
          <a:xfrm>
            <a:off x="25032257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2" name="Connector 811"/>
          <p:cNvCxnSpPr/>
          <p:nvPr/>
        </p:nvCxnSpPr>
        <p:spPr>
          <a:xfrm flipV="1">
            <a:off x="25032257" y="619048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 flipV="1">
            <a:off x="25032257" y="619048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 flipV="1">
            <a:off x="25512875" y="6473951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5" name="cell|Fuszard et al., 2012 - Proteomics - MIT9312|COG0477|up"/>
          <p:cNvSpPr/>
          <p:nvPr/>
        </p:nvSpPr>
        <p:spPr>
          <a:xfrm>
            <a:off x="25993492" y="6190488"/>
            <a:ext cx="961235" cy="566928"/>
          </a:xfrm>
          <a:prstGeom prst="rect">
            <a:avLst/>
          </a:prstGeom>
          <a:solidFill>
            <a:srgbClr val="CD6C67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TextBox 815"/>
          <p:cNvSpPr txBox="1"/>
          <p:nvPr/>
        </p:nvSpPr>
        <p:spPr>
          <a:xfrm>
            <a:off x="25993492" y="6190488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1/2/25</a:t>
            </a:r>
          </a:p>
        </p:txBody>
      </p:sp>
      <p:sp>
        <p:nvSpPr>
          <p:cNvPr id="817" name="cell|Fuszard et al., 2012 - Proteomics - MIT9312|COG1472|absent"/>
          <p:cNvSpPr/>
          <p:nvPr/>
        </p:nvSpPr>
        <p:spPr>
          <a:xfrm>
            <a:off x="26954727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8" name="Connector 817"/>
          <p:cNvCxnSpPr/>
          <p:nvPr/>
        </p:nvCxnSpPr>
        <p:spPr>
          <a:xfrm flipV="1">
            <a:off x="26954727" y="619048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26954727" y="619048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 flipV="1">
            <a:off x="27435345" y="6473951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1" name="cell|Fuszard et al., 2012 - Proteomics - MIT9312|COG3754|absent"/>
          <p:cNvSpPr/>
          <p:nvPr/>
        </p:nvSpPr>
        <p:spPr>
          <a:xfrm>
            <a:off x="27915962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2" name="Connector 821"/>
          <p:cNvCxnSpPr/>
          <p:nvPr/>
        </p:nvCxnSpPr>
        <p:spPr>
          <a:xfrm flipV="1">
            <a:off x="27915962" y="6190488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 flipV="1">
            <a:off x="27915962" y="619048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 flipV="1">
            <a:off x="28396580" y="6473951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5" name="cell|Fuszard et al., 2012 - Proteomics - MIT9312|COG0399|nodata"/>
          <p:cNvSpPr/>
          <p:nvPr/>
        </p:nvSpPr>
        <p:spPr>
          <a:xfrm>
            <a:off x="28877198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cell|Fuszard et al., 2012 - Proteomics - MIT9312|COG0673|nodata"/>
          <p:cNvSpPr/>
          <p:nvPr/>
        </p:nvSpPr>
        <p:spPr>
          <a:xfrm>
            <a:off x="29838433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cell|Fuszard et al., 2012 - Proteomics - MIT9312|COG0810|absent"/>
          <p:cNvSpPr/>
          <p:nvPr/>
        </p:nvSpPr>
        <p:spPr>
          <a:xfrm>
            <a:off x="30799668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8" name="Connector 827"/>
          <p:cNvCxnSpPr/>
          <p:nvPr/>
        </p:nvCxnSpPr>
        <p:spPr>
          <a:xfrm flipV="1">
            <a:off x="30799668" y="619048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 flipV="1">
            <a:off x="30799668" y="6190488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 flipV="1">
            <a:off x="31280285" y="6473951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1" name="cell|Fuszard et al., 2012 - Proteomics - MIT9312|COG3206|nodata"/>
          <p:cNvSpPr/>
          <p:nvPr/>
        </p:nvSpPr>
        <p:spPr>
          <a:xfrm>
            <a:off x="31760903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cell|Fuszard et al., 2012 - Proteomics - MIT9312|COG1596|nodata"/>
          <p:cNvSpPr/>
          <p:nvPr/>
        </p:nvSpPr>
        <p:spPr>
          <a:xfrm>
            <a:off x="32722138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cell|Fuszard et al., 2012 - Proteomics - MIT9312|COG1462|absent"/>
          <p:cNvSpPr/>
          <p:nvPr/>
        </p:nvSpPr>
        <p:spPr>
          <a:xfrm>
            <a:off x="33683373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4" name="Connector 833"/>
          <p:cNvCxnSpPr/>
          <p:nvPr/>
        </p:nvCxnSpPr>
        <p:spPr>
          <a:xfrm flipV="1">
            <a:off x="33683373" y="619048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Connector 834"/>
          <p:cNvCxnSpPr/>
          <p:nvPr/>
        </p:nvCxnSpPr>
        <p:spPr>
          <a:xfrm flipV="1">
            <a:off x="33683373" y="619048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 835"/>
          <p:cNvCxnSpPr/>
          <p:nvPr/>
        </p:nvCxnSpPr>
        <p:spPr>
          <a:xfrm flipV="1">
            <a:off x="34163991" y="6473951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7" name="cell|Fuszard et al., 2012 - Proteomics - MIT9312|COG3210|absent"/>
          <p:cNvSpPr/>
          <p:nvPr/>
        </p:nvSpPr>
        <p:spPr>
          <a:xfrm>
            <a:off x="34644608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8" name="Connector 837"/>
          <p:cNvCxnSpPr/>
          <p:nvPr/>
        </p:nvCxnSpPr>
        <p:spPr>
          <a:xfrm flipV="1">
            <a:off x="34644608" y="619048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 flipV="1">
            <a:off x="34644608" y="619048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Connector 839"/>
          <p:cNvCxnSpPr/>
          <p:nvPr/>
        </p:nvCxnSpPr>
        <p:spPr>
          <a:xfrm flipV="1">
            <a:off x="35125226" y="6473951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1" name="cell|Fuszard et al., 2012 - Proteomics - MIT9312|COG2010|nodata"/>
          <p:cNvSpPr/>
          <p:nvPr/>
        </p:nvSpPr>
        <p:spPr>
          <a:xfrm>
            <a:off x="35605843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cell|Fuszard et al., 2012 - Proteomics - MIT9312|COG2114|absent"/>
          <p:cNvSpPr/>
          <p:nvPr/>
        </p:nvSpPr>
        <p:spPr>
          <a:xfrm>
            <a:off x="36567079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3" name="Connector 842"/>
          <p:cNvCxnSpPr/>
          <p:nvPr/>
        </p:nvCxnSpPr>
        <p:spPr>
          <a:xfrm flipV="1">
            <a:off x="36567079" y="619048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 flipV="1">
            <a:off x="36567079" y="6190488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 flipV="1">
            <a:off x="37047696" y="6473951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6" name="cell|Fuszard et al., 2012 - Proteomics - MIT9312|COG0454|nodata"/>
          <p:cNvSpPr/>
          <p:nvPr/>
        </p:nvSpPr>
        <p:spPr>
          <a:xfrm>
            <a:off x="37528314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cell|Fuszard et al., 2012 - Proteomics - MIT9312|COG2931|absent"/>
          <p:cNvSpPr/>
          <p:nvPr/>
        </p:nvSpPr>
        <p:spPr>
          <a:xfrm>
            <a:off x="38489549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8" name="Connector 847"/>
          <p:cNvCxnSpPr/>
          <p:nvPr/>
        </p:nvCxnSpPr>
        <p:spPr>
          <a:xfrm flipV="1">
            <a:off x="38489549" y="619048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 flipV="1">
            <a:off x="38489549" y="6190488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 flipV="1">
            <a:off x="38970166" y="6473951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1" name="cell|Fuszard et al., 2012 - Proteomics - MIT9312|COG0412|nodata"/>
          <p:cNvSpPr/>
          <p:nvPr/>
        </p:nvSpPr>
        <p:spPr>
          <a:xfrm>
            <a:off x="39450784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cell|Fuszard et al., 2012 - Proteomics - MIT9312|COG4252|absent"/>
          <p:cNvSpPr/>
          <p:nvPr/>
        </p:nvSpPr>
        <p:spPr>
          <a:xfrm>
            <a:off x="40412019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3" name="Connector 852"/>
          <p:cNvCxnSpPr/>
          <p:nvPr/>
        </p:nvCxnSpPr>
        <p:spPr>
          <a:xfrm flipV="1">
            <a:off x="40412019" y="619048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 flipV="1">
            <a:off x="40412019" y="619048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 flipV="1">
            <a:off x="40892637" y="6473951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6" name="cell|Fuszard et al., 2012 - Proteomics - MIT9312|COG2192|nodata"/>
          <p:cNvSpPr/>
          <p:nvPr/>
        </p:nvSpPr>
        <p:spPr>
          <a:xfrm>
            <a:off x="41373254" y="6190488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cell|Fuszard et al., 2012 - Proteomics - MIT9312|COG2159|absent"/>
          <p:cNvSpPr/>
          <p:nvPr/>
        </p:nvSpPr>
        <p:spPr>
          <a:xfrm>
            <a:off x="42334489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8" name="Connector 857"/>
          <p:cNvCxnSpPr/>
          <p:nvPr/>
        </p:nvCxnSpPr>
        <p:spPr>
          <a:xfrm flipV="1">
            <a:off x="42334489" y="6190488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V="1">
            <a:off x="42334489" y="619048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V="1">
            <a:off x="42815107" y="6473951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1" name="cell|Fuszard et al., 2012 - Proteomics - MIT9312|COG5651|absent"/>
          <p:cNvSpPr/>
          <p:nvPr/>
        </p:nvSpPr>
        <p:spPr>
          <a:xfrm>
            <a:off x="43295724" y="6190488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2" name="Connector 861"/>
          <p:cNvCxnSpPr/>
          <p:nvPr/>
        </p:nvCxnSpPr>
        <p:spPr>
          <a:xfrm flipV="1">
            <a:off x="43295724" y="6190488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 flipV="1">
            <a:off x="43295724" y="619048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 flipV="1">
            <a:off x="43776342" y="6473951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5" name="TextBox 864"/>
          <p:cNvSpPr txBox="1"/>
          <p:nvPr/>
        </p:nvSpPr>
        <p:spPr>
          <a:xfrm>
            <a:off x="914400" y="6757416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Fuszard et al., 2012 - Proteomics - NATL2A</a:t>
            </a:r>
          </a:p>
        </p:txBody>
      </p:sp>
      <p:sp>
        <p:nvSpPr>
          <p:cNvPr id="866" name="cell|Fuszard et al., 2012 - Proteomics - NATL2A|COG0188|nodata"/>
          <p:cNvSpPr/>
          <p:nvPr/>
        </p:nvSpPr>
        <p:spPr>
          <a:xfrm>
            <a:off x="4846320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cell|Fuszard et al., 2012 - Proteomics - NATL2A|COG1787|absent"/>
          <p:cNvSpPr/>
          <p:nvPr/>
        </p:nvSpPr>
        <p:spPr>
          <a:xfrm>
            <a:off x="5807555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8" name="Connector 867"/>
          <p:cNvCxnSpPr/>
          <p:nvPr/>
        </p:nvCxnSpPr>
        <p:spPr>
          <a:xfrm flipV="1">
            <a:off x="5807555" y="675741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 flipV="1">
            <a:off x="5807555" y="6757416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V="1">
            <a:off x="6288172" y="7040879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1" name="cell|Fuszard et al., 2012 - Proteomics - NATL2A|COG3727|absent"/>
          <p:cNvSpPr/>
          <p:nvPr/>
        </p:nvSpPr>
        <p:spPr>
          <a:xfrm>
            <a:off x="6768790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2" name="Connector 871"/>
          <p:cNvCxnSpPr/>
          <p:nvPr/>
        </p:nvCxnSpPr>
        <p:spPr>
          <a:xfrm flipV="1">
            <a:off x="6768790" y="675741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V="1">
            <a:off x="6768790" y="6757416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 flipV="1">
            <a:off x="7249407" y="7040879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5" name="cell|Fuszard et al., 2012 - Proteomics - NATL2A|COG1793|nodata"/>
          <p:cNvSpPr/>
          <p:nvPr/>
        </p:nvSpPr>
        <p:spPr>
          <a:xfrm>
            <a:off x="7730025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cell|Fuszard et al., 2012 - Proteomics - NATL2A|COG0640|nodata"/>
          <p:cNvSpPr/>
          <p:nvPr/>
        </p:nvSpPr>
        <p:spPr>
          <a:xfrm>
            <a:off x="8691260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cell|Fuszard et al., 2012 - Proteomics - NATL2A|COG1403|nodata"/>
          <p:cNvSpPr/>
          <p:nvPr/>
        </p:nvSpPr>
        <p:spPr>
          <a:xfrm>
            <a:off x="9652495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cell|Fuszard et al., 2012 - Proteomics - NATL2A|COG2214|nodata"/>
          <p:cNvSpPr/>
          <p:nvPr/>
        </p:nvSpPr>
        <p:spPr>
          <a:xfrm>
            <a:off x="10613730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cell|Fuszard et al., 2012 - Proteomics - NATL2A|COG0443|down"/>
          <p:cNvSpPr/>
          <p:nvPr/>
        </p:nvSpPr>
        <p:spPr>
          <a:xfrm>
            <a:off x="11574965" y="6757416"/>
            <a:ext cx="961235" cy="566928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TextBox 879"/>
          <p:cNvSpPr txBox="1"/>
          <p:nvPr/>
        </p:nvSpPr>
        <p:spPr>
          <a:xfrm>
            <a:off x="11574965" y="675741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2/2/4</a:t>
            </a:r>
          </a:p>
        </p:txBody>
      </p:sp>
      <p:sp>
        <p:nvSpPr>
          <p:cNvPr id="881" name="cell|Fuszard et al., 2012 - Proteomics - NATL2A|COG0484|nodata"/>
          <p:cNvSpPr/>
          <p:nvPr/>
        </p:nvSpPr>
        <p:spPr>
          <a:xfrm>
            <a:off x="12536200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cell|Fuszard et al., 2012 - Proteomics - NATL2A|COG0330|nodata"/>
          <p:cNvSpPr/>
          <p:nvPr/>
        </p:nvSpPr>
        <p:spPr>
          <a:xfrm>
            <a:off x="13497436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cell|Fuszard et al., 2012 - Proteomics - NATL2A|COG1187|nodata"/>
          <p:cNvSpPr/>
          <p:nvPr/>
        </p:nvSpPr>
        <p:spPr>
          <a:xfrm>
            <a:off x="14458671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cell|Fuszard et al., 2012 - Proteomics - NATL2A|COG1454|nodata"/>
          <p:cNvSpPr/>
          <p:nvPr/>
        </p:nvSpPr>
        <p:spPr>
          <a:xfrm>
            <a:off x="15419906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cell|Fuszard et al., 2012 - Proteomics - NATL2A|COG2370|nodata"/>
          <p:cNvSpPr/>
          <p:nvPr/>
        </p:nvSpPr>
        <p:spPr>
          <a:xfrm>
            <a:off x="16381141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cell|Fuszard et al., 2012 - Proteomics - NATL2A|COG0367|absent"/>
          <p:cNvSpPr/>
          <p:nvPr/>
        </p:nvSpPr>
        <p:spPr>
          <a:xfrm>
            <a:off x="17342376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7" name="Connector 886"/>
          <p:cNvCxnSpPr/>
          <p:nvPr/>
        </p:nvCxnSpPr>
        <p:spPr>
          <a:xfrm flipV="1">
            <a:off x="17342376" y="675741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 flipV="1">
            <a:off x="17342376" y="6757416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 flipV="1">
            <a:off x="17822994" y="7040879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0" name="cell|Fuszard et al., 2012 - Proteomics - NATL2A|COG0082|nodata"/>
          <p:cNvSpPr/>
          <p:nvPr/>
        </p:nvSpPr>
        <p:spPr>
          <a:xfrm>
            <a:off x="18303611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cell|Fuszard et al., 2012 - Proteomics - NATL2A|COG2274|nodata"/>
          <p:cNvSpPr/>
          <p:nvPr/>
        </p:nvSpPr>
        <p:spPr>
          <a:xfrm>
            <a:off x="19264846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cell|Fuszard et al., 2012 - Proteomics - NATL2A|COG1989|nodata"/>
          <p:cNvSpPr/>
          <p:nvPr/>
        </p:nvSpPr>
        <p:spPr>
          <a:xfrm>
            <a:off x="20226081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cell|Fuszard et al., 2012 - Proteomics - NATL2A|COG0845|nodata"/>
          <p:cNvSpPr/>
          <p:nvPr/>
        </p:nvSpPr>
        <p:spPr>
          <a:xfrm>
            <a:off x="21187317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cell|Fuszard et al., 2012 - Proteomics - NATL2A|COG0488|nodata"/>
          <p:cNvSpPr/>
          <p:nvPr/>
        </p:nvSpPr>
        <p:spPr>
          <a:xfrm>
            <a:off x="22148552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cell|Fuszard et al., 2012 - Proteomics - NATL2A|COG0697|nodata"/>
          <p:cNvSpPr/>
          <p:nvPr/>
        </p:nvSpPr>
        <p:spPr>
          <a:xfrm>
            <a:off x="23109787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cell|Fuszard et al., 2012 - Proteomics - NATL2A|COG3839|nodata"/>
          <p:cNvSpPr/>
          <p:nvPr/>
        </p:nvSpPr>
        <p:spPr>
          <a:xfrm>
            <a:off x="24071022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cell|Fuszard et al., 2012 - Proteomics - NATL2A|COG1212|absent"/>
          <p:cNvSpPr/>
          <p:nvPr/>
        </p:nvSpPr>
        <p:spPr>
          <a:xfrm>
            <a:off x="25032257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8" name="Connector 897"/>
          <p:cNvCxnSpPr/>
          <p:nvPr/>
        </p:nvCxnSpPr>
        <p:spPr>
          <a:xfrm flipV="1">
            <a:off x="25032257" y="675741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 flipV="1">
            <a:off x="25032257" y="6757416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V="1">
            <a:off x="25512875" y="7040879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" name="cell|Fuszard et al., 2012 - Proteomics - NATL2A|COG0477|ns"/>
          <p:cNvSpPr/>
          <p:nvPr/>
        </p:nvSpPr>
        <p:spPr>
          <a:xfrm>
            <a:off x="25993492" y="6757416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TextBox 901"/>
          <p:cNvSpPr txBox="1"/>
          <p:nvPr/>
        </p:nvSpPr>
        <p:spPr>
          <a:xfrm>
            <a:off x="25993492" y="6757416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0/1/28</a:t>
            </a:r>
          </a:p>
        </p:txBody>
      </p:sp>
      <p:sp>
        <p:nvSpPr>
          <p:cNvPr id="903" name="cell|Fuszard et al., 2012 - Proteomics - NATL2A|COG1472|nodata"/>
          <p:cNvSpPr/>
          <p:nvPr/>
        </p:nvSpPr>
        <p:spPr>
          <a:xfrm>
            <a:off x="26954727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cell|Fuszard et al., 2012 - Proteomics - NATL2A|COG3754|absent"/>
          <p:cNvSpPr/>
          <p:nvPr/>
        </p:nvSpPr>
        <p:spPr>
          <a:xfrm>
            <a:off x="27915962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5" name="Connector 904"/>
          <p:cNvCxnSpPr/>
          <p:nvPr/>
        </p:nvCxnSpPr>
        <p:spPr>
          <a:xfrm flipV="1">
            <a:off x="27915962" y="6757416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V="1">
            <a:off x="27915962" y="6757416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 flipV="1">
            <a:off x="28396580" y="7040879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cell|Fuszard et al., 2012 - Proteomics - NATL2A|COG0399|nodata"/>
          <p:cNvSpPr/>
          <p:nvPr/>
        </p:nvSpPr>
        <p:spPr>
          <a:xfrm>
            <a:off x="28877198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cell|Fuszard et al., 2012 - Proteomics - NATL2A|COG0673|nodata"/>
          <p:cNvSpPr/>
          <p:nvPr/>
        </p:nvSpPr>
        <p:spPr>
          <a:xfrm>
            <a:off x="29838433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cell|Fuszard et al., 2012 - Proteomics - NATL2A|COG0810|nodata"/>
          <p:cNvSpPr/>
          <p:nvPr/>
        </p:nvSpPr>
        <p:spPr>
          <a:xfrm>
            <a:off x="30799668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cell|Fuszard et al., 2012 - Proteomics - NATL2A|COG3206|absent"/>
          <p:cNvSpPr/>
          <p:nvPr/>
        </p:nvSpPr>
        <p:spPr>
          <a:xfrm>
            <a:off x="31760903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2" name="Connector 911"/>
          <p:cNvCxnSpPr/>
          <p:nvPr/>
        </p:nvCxnSpPr>
        <p:spPr>
          <a:xfrm flipV="1">
            <a:off x="31760903" y="675741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V="1">
            <a:off x="31760903" y="6757416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 flipV="1">
            <a:off x="32241520" y="7040879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5" name="cell|Fuszard et al., 2012 - Proteomics - NATL2A|COG1596|absent"/>
          <p:cNvSpPr/>
          <p:nvPr/>
        </p:nvSpPr>
        <p:spPr>
          <a:xfrm>
            <a:off x="32722138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6" name="Connector 915"/>
          <p:cNvCxnSpPr/>
          <p:nvPr/>
        </p:nvCxnSpPr>
        <p:spPr>
          <a:xfrm flipV="1">
            <a:off x="32722138" y="675741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 flipV="1">
            <a:off x="32722138" y="6757416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V="1">
            <a:off x="33202756" y="7040879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9" name="cell|Fuszard et al., 2012 - Proteomics - NATL2A|COG1462|absent"/>
          <p:cNvSpPr/>
          <p:nvPr/>
        </p:nvSpPr>
        <p:spPr>
          <a:xfrm>
            <a:off x="33683373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0" name="Connector 919"/>
          <p:cNvCxnSpPr/>
          <p:nvPr/>
        </p:nvCxnSpPr>
        <p:spPr>
          <a:xfrm flipV="1">
            <a:off x="33683373" y="675741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V="1">
            <a:off x="33683373" y="6757416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V="1">
            <a:off x="34163991" y="7040879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cell|Fuszard et al., 2012 - Proteomics - NATL2A|COG3210|nodata"/>
          <p:cNvSpPr/>
          <p:nvPr/>
        </p:nvSpPr>
        <p:spPr>
          <a:xfrm>
            <a:off x="34644608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cell|Fuszard et al., 2012 - Proteomics - NATL2A|COG2010|nodata"/>
          <p:cNvSpPr/>
          <p:nvPr/>
        </p:nvSpPr>
        <p:spPr>
          <a:xfrm>
            <a:off x="35605843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cell|Fuszard et al., 2012 - Proteomics - NATL2A|COG2114|absent"/>
          <p:cNvSpPr/>
          <p:nvPr/>
        </p:nvSpPr>
        <p:spPr>
          <a:xfrm>
            <a:off x="36567079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6" name="Connector 925"/>
          <p:cNvCxnSpPr/>
          <p:nvPr/>
        </p:nvCxnSpPr>
        <p:spPr>
          <a:xfrm flipV="1">
            <a:off x="36567079" y="675741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 flipV="1">
            <a:off x="36567079" y="6757416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 flipV="1">
            <a:off x="37047696" y="7040879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9" name="cell|Fuszard et al., 2012 - Proteomics - NATL2A|COG0454|nodata"/>
          <p:cNvSpPr/>
          <p:nvPr/>
        </p:nvSpPr>
        <p:spPr>
          <a:xfrm>
            <a:off x="37528314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cell|Fuszard et al., 2012 - Proteomics - NATL2A|COG2931|nodata"/>
          <p:cNvSpPr/>
          <p:nvPr/>
        </p:nvSpPr>
        <p:spPr>
          <a:xfrm>
            <a:off x="38489549" y="6757416"/>
            <a:ext cx="961235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cell|Fuszard et al., 2012 - Proteomics - NATL2A|COG0412|absent"/>
          <p:cNvSpPr/>
          <p:nvPr/>
        </p:nvSpPr>
        <p:spPr>
          <a:xfrm>
            <a:off x="39450784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2" name="Connector 931"/>
          <p:cNvCxnSpPr/>
          <p:nvPr/>
        </p:nvCxnSpPr>
        <p:spPr>
          <a:xfrm flipV="1">
            <a:off x="39450784" y="675741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 flipV="1">
            <a:off x="39450784" y="6757416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 flipV="1">
            <a:off x="39931401" y="7040879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5" name="cell|Fuszard et al., 2012 - Proteomics - NATL2A|COG4252|absent"/>
          <p:cNvSpPr/>
          <p:nvPr/>
        </p:nvSpPr>
        <p:spPr>
          <a:xfrm>
            <a:off x="40412019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6" name="Connector 935"/>
          <p:cNvCxnSpPr/>
          <p:nvPr/>
        </p:nvCxnSpPr>
        <p:spPr>
          <a:xfrm flipV="1">
            <a:off x="40412019" y="675741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V="1">
            <a:off x="40412019" y="6757416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 flipV="1">
            <a:off x="40892637" y="7040879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9" name="cell|Fuszard et al., 2012 - Proteomics - NATL2A|COG2192|absent"/>
          <p:cNvSpPr/>
          <p:nvPr/>
        </p:nvSpPr>
        <p:spPr>
          <a:xfrm>
            <a:off x="41373254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0" name="Connector 939"/>
          <p:cNvCxnSpPr/>
          <p:nvPr/>
        </p:nvCxnSpPr>
        <p:spPr>
          <a:xfrm flipV="1">
            <a:off x="41373254" y="675741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 flipV="1">
            <a:off x="41373254" y="6757416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V="1">
            <a:off x="41853872" y="7040879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cell|Fuszard et al., 2012 - Proteomics - NATL2A|COG2159|absent"/>
          <p:cNvSpPr/>
          <p:nvPr/>
        </p:nvSpPr>
        <p:spPr>
          <a:xfrm>
            <a:off x="42334489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4" name="Connector 943"/>
          <p:cNvCxnSpPr/>
          <p:nvPr/>
        </p:nvCxnSpPr>
        <p:spPr>
          <a:xfrm flipV="1">
            <a:off x="42334489" y="6757416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 flipV="1">
            <a:off x="42334489" y="6757416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 flipV="1">
            <a:off x="42815107" y="7040879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7" name="cell|Fuszard et al., 2012 - Proteomics - NATL2A|COG5651|absent"/>
          <p:cNvSpPr/>
          <p:nvPr/>
        </p:nvSpPr>
        <p:spPr>
          <a:xfrm>
            <a:off x="43295724" y="6757416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8" name="Connector 947"/>
          <p:cNvCxnSpPr/>
          <p:nvPr/>
        </p:nvCxnSpPr>
        <p:spPr>
          <a:xfrm flipV="1">
            <a:off x="43295724" y="6757416"/>
            <a:ext cx="961236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 flipV="1">
            <a:off x="43295724" y="6757416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V="1">
            <a:off x="43776342" y="7040879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1" name="TextBox 950"/>
          <p:cNvSpPr txBox="1"/>
          <p:nvPr/>
        </p:nvSpPr>
        <p:spPr>
          <a:xfrm>
            <a:off x="914400" y="7324344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Martiny et al., 2006 - Microarray - MED4</a:t>
            </a:r>
          </a:p>
        </p:txBody>
      </p:sp>
      <p:sp>
        <p:nvSpPr>
          <p:cNvPr id="952" name="cell|Martiny et al., 2006 - Microarray - MED4|COG0188|up"/>
          <p:cNvSpPr/>
          <p:nvPr/>
        </p:nvSpPr>
        <p:spPr>
          <a:xfrm>
            <a:off x="4846320" y="7324344"/>
            <a:ext cx="961235" cy="566928"/>
          </a:xfrm>
          <a:prstGeom prst="rect">
            <a:avLst/>
          </a:prstGeom>
          <a:solidFill>
            <a:srgbClr val="BE837C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TextBox 952"/>
          <p:cNvSpPr txBox="1"/>
          <p:nvPr/>
        </p:nvSpPr>
        <p:spPr>
          <a:xfrm>
            <a:off x="4846320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1/6/6</a:t>
            </a:r>
          </a:p>
        </p:txBody>
      </p:sp>
      <p:sp>
        <p:nvSpPr>
          <p:cNvPr id="954" name="cell|Martiny et al., 2006 - Microarray - MED4|COG1787|ns"/>
          <p:cNvSpPr/>
          <p:nvPr/>
        </p:nvSpPr>
        <p:spPr>
          <a:xfrm>
            <a:off x="5807555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5807555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956" name="cell|Martiny et al., 2006 - Microarray - MED4|COG3727|absent"/>
          <p:cNvSpPr/>
          <p:nvPr/>
        </p:nvSpPr>
        <p:spPr>
          <a:xfrm>
            <a:off x="6768790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7" name="Connector 956"/>
          <p:cNvCxnSpPr/>
          <p:nvPr/>
        </p:nvCxnSpPr>
        <p:spPr>
          <a:xfrm flipV="1">
            <a:off x="6768790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 flipV="1">
            <a:off x="6768790" y="732434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 flipV="1">
            <a:off x="7249407" y="760780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0" name="cell|Martiny et al., 2006 - Microarray - MED4|COG1793|ns"/>
          <p:cNvSpPr/>
          <p:nvPr/>
        </p:nvSpPr>
        <p:spPr>
          <a:xfrm>
            <a:off x="7730025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7730025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962" name="cell|Martiny et al., 2006 - Microarray - MED4|COG0640|ns"/>
          <p:cNvSpPr/>
          <p:nvPr/>
        </p:nvSpPr>
        <p:spPr>
          <a:xfrm>
            <a:off x="8691260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TextBox 962"/>
          <p:cNvSpPr txBox="1"/>
          <p:nvPr/>
        </p:nvSpPr>
        <p:spPr>
          <a:xfrm>
            <a:off x="8691260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964" name="cell|Martiny et al., 2006 - Microarray - MED4|COG1403|up"/>
          <p:cNvSpPr/>
          <p:nvPr/>
        </p:nvSpPr>
        <p:spPr>
          <a:xfrm>
            <a:off x="9652495" y="7324344"/>
            <a:ext cx="961235" cy="566928"/>
          </a:xfrm>
          <a:prstGeom prst="rect">
            <a:avLst/>
          </a:prstGeom>
          <a:solidFill>
            <a:srgbClr val="C27D77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TextBox 964"/>
          <p:cNvSpPr txBox="1"/>
          <p:nvPr/>
        </p:nvSpPr>
        <p:spPr>
          <a:xfrm>
            <a:off x="9652495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1/4/4</a:t>
            </a:r>
          </a:p>
        </p:txBody>
      </p:sp>
      <p:sp>
        <p:nvSpPr>
          <p:cNvPr id="966" name="cell|Martiny et al., 2006 - Microarray - MED4|COG2214|ns"/>
          <p:cNvSpPr/>
          <p:nvPr/>
        </p:nvSpPr>
        <p:spPr>
          <a:xfrm>
            <a:off x="10613730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10613730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968" name="cell|Martiny et al., 2006 - Microarray - MED4|COG0443|ns"/>
          <p:cNvSpPr/>
          <p:nvPr/>
        </p:nvSpPr>
        <p:spPr>
          <a:xfrm>
            <a:off x="11574965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11574965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970" name="cell|Martiny et al., 2006 - Microarray - MED4|COG0484|ns"/>
          <p:cNvSpPr/>
          <p:nvPr/>
        </p:nvSpPr>
        <p:spPr>
          <a:xfrm>
            <a:off x="12536200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2536200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972" name="cell|Martiny et al., 2006 - Microarray - MED4|COG0330|ns"/>
          <p:cNvSpPr/>
          <p:nvPr/>
        </p:nvSpPr>
        <p:spPr>
          <a:xfrm>
            <a:off x="13497436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13497436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974" name="cell|Martiny et al., 2006 - Microarray - MED4|COG1187|ns"/>
          <p:cNvSpPr/>
          <p:nvPr/>
        </p:nvSpPr>
        <p:spPr>
          <a:xfrm>
            <a:off x="14458671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TextBox 974"/>
          <p:cNvSpPr txBox="1"/>
          <p:nvPr/>
        </p:nvSpPr>
        <p:spPr>
          <a:xfrm>
            <a:off x="14458671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976" name="cell|Martiny et al., 2006 - Microarray - MED4|COG1454|absent"/>
          <p:cNvSpPr/>
          <p:nvPr/>
        </p:nvSpPr>
        <p:spPr>
          <a:xfrm>
            <a:off x="15419906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7" name="Connector 976"/>
          <p:cNvCxnSpPr/>
          <p:nvPr/>
        </p:nvCxnSpPr>
        <p:spPr>
          <a:xfrm flipV="1">
            <a:off x="15419906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V="1">
            <a:off x="15419906" y="732434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15900523" y="760780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0" name="cell|Martiny et al., 2006 - Microarray - MED4|COG2370|ns"/>
          <p:cNvSpPr/>
          <p:nvPr/>
        </p:nvSpPr>
        <p:spPr>
          <a:xfrm>
            <a:off x="16381141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TextBox 980"/>
          <p:cNvSpPr txBox="1"/>
          <p:nvPr/>
        </p:nvSpPr>
        <p:spPr>
          <a:xfrm>
            <a:off x="16381141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982" name="cell|Martiny et al., 2006 - Microarray - MED4|COG0367|absent"/>
          <p:cNvSpPr/>
          <p:nvPr/>
        </p:nvSpPr>
        <p:spPr>
          <a:xfrm>
            <a:off x="17342376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3" name="Connector 982"/>
          <p:cNvCxnSpPr/>
          <p:nvPr/>
        </p:nvCxnSpPr>
        <p:spPr>
          <a:xfrm flipV="1">
            <a:off x="17342376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 flipV="1">
            <a:off x="17342376" y="732434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 flipV="1">
            <a:off x="17822994" y="7607808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6" name="cell|Martiny et al., 2006 - Microarray - MED4|COG0082|ns"/>
          <p:cNvSpPr/>
          <p:nvPr/>
        </p:nvSpPr>
        <p:spPr>
          <a:xfrm>
            <a:off x="18303611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TextBox 986"/>
          <p:cNvSpPr txBox="1"/>
          <p:nvPr/>
        </p:nvSpPr>
        <p:spPr>
          <a:xfrm>
            <a:off x="18303611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988" name="cell|Martiny et al., 2006 - Microarray - MED4|COG2274|absent"/>
          <p:cNvSpPr/>
          <p:nvPr/>
        </p:nvSpPr>
        <p:spPr>
          <a:xfrm>
            <a:off x="19264846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9" name="Connector 988"/>
          <p:cNvCxnSpPr/>
          <p:nvPr/>
        </p:nvCxnSpPr>
        <p:spPr>
          <a:xfrm flipV="1">
            <a:off x="19264846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 flipV="1">
            <a:off x="19264846" y="732434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 flipV="1">
            <a:off x="19745464" y="7607808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2" name="cell|Martiny et al., 2006 - Microarray - MED4|COG1989|absent"/>
          <p:cNvSpPr/>
          <p:nvPr/>
        </p:nvSpPr>
        <p:spPr>
          <a:xfrm>
            <a:off x="20226081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3" name="Connector 992"/>
          <p:cNvCxnSpPr/>
          <p:nvPr/>
        </p:nvCxnSpPr>
        <p:spPr>
          <a:xfrm flipV="1">
            <a:off x="20226081" y="7324344"/>
            <a:ext cx="961236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 flipV="1">
            <a:off x="20226081" y="732434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 flipV="1">
            <a:off x="20706699" y="760780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6" name="cell|Martiny et al., 2006 - Microarray - MED4|COG0845|ns"/>
          <p:cNvSpPr/>
          <p:nvPr/>
        </p:nvSpPr>
        <p:spPr>
          <a:xfrm>
            <a:off x="21187317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TextBox 996"/>
          <p:cNvSpPr txBox="1"/>
          <p:nvPr/>
        </p:nvSpPr>
        <p:spPr>
          <a:xfrm>
            <a:off x="21187317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998" name="cell|Martiny et al., 2006 - Microarray - MED4|COG0488|ns"/>
          <p:cNvSpPr/>
          <p:nvPr/>
        </p:nvSpPr>
        <p:spPr>
          <a:xfrm>
            <a:off x="22148552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22148552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1000" name="cell|Martiny et al., 2006 - Microarray - MED4|COG0697|ns"/>
          <p:cNvSpPr/>
          <p:nvPr/>
        </p:nvSpPr>
        <p:spPr>
          <a:xfrm>
            <a:off x="23109787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TextBox 1000"/>
          <p:cNvSpPr txBox="1"/>
          <p:nvPr/>
        </p:nvSpPr>
        <p:spPr>
          <a:xfrm>
            <a:off x="23109787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0/9/9</a:t>
            </a:r>
          </a:p>
        </p:txBody>
      </p:sp>
      <p:sp>
        <p:nvSpPr>
          <p:cNvPr id="1002" name="cell|Martiny et al., 2006 - Microarray - MED4|COG3839|absent"/>
          <p:cNvSpPr/>
          <p:nvPr/>
        </p:nvSpPr>
        <p:spPr>
          <a:xfrm>
            <a:off x="24071022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3" name="Connector 1002"/>
          <p:cNvCxnSpPr/>
          <p:nvPr/>
        </p:nvCxnSpPr>
        <p:spPr>
          <a:xfrm flipV="1">
            <a:off x="24071022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 flipV="1">
            <a:off x="24071022" y="732434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V="1">
            <a:off x="24551640" y="7607808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6" name="cell|Martiny et al., 2006 - Microarray - MED4|COG1212|absent"/>
          <p:cNvSpPr/>
          <p:nvPr/>
        </p:nvSpPr>
        <p:spPr>
          <a:xfrm>
            <a:off x="25032257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7" name="Connector 1006"/>
          <p:cNvCxnSpPr/>
          <p:nvPr/>
        </p:nvCxnSpPr>
        <p:spPr>
          <a:xfrm flipV="1">
            <a:off x="25032257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 flipV="1">
            <a:off x="25032257" y="732434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 flipV="1">
            <a:off x="25512875" y="7607808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cell|Martiny et al., 2006 - Microarray - MED4|COG0477|up"/>
          <p:cNvSpPr/>
          <p:nvPr/>
        </p:nvSpPr>
        <p:spPr>
          <a:xfrm>
            <a:off x="25993492" y="7324344"/>
            <a:ext cx="961235" cy="566928"/>
          </a:xfrm>
          <a:prstGeom prst="rect">
            <a:avLst/>
          </a:prstGeom>
          <a:solidFill>
            <a:srgbClr val="BA8981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TextBox 1010"/>
          <p:cNvSpPr txBox="1"/>
          <p:nvPr/>
        </p:nvSpPr>
        <p:spPr>
          <a:xfrm>
            <a:off x="25993492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2/25/25</a:t>
            </a:r>
          </a:p>
        </p:txBody>
      </p:sp>
      <p:sp>
        <p:nvSpPr>
          <p:cNvPr id="1012" name="cell|Martiny et al., 2006 - Microarray - MED4|COG1472|absent"/>
          <p:cNvSpPr/>
          <p:nvPr/>
        </p:nvSpPr>
        <p:spPr>
          <a:xfrm>
            <a:off x="26954727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3" name="Connector 1012"/>
          <p:cNvCxnSpPr/>
          <p:nvPr/>
        </p:nvCxnSpPr>
        <p:spPr>
          <a:xfrm flipV="1">
            <a:off x="26954727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V="1">
            <a:off x="26954727" y="732434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 flipV="1">
            <a:off x="27435345" y="7607808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6" name="cell|Martiny et al., 2006 - Microarray - MED4|COG3754|absent"/>
          <p:cNvSpPr/>
          <p:nvPr/>
        </p:nvSpPr>
        <p:spPr>
          <a:xfrm>
            <a:off x="27915962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7" name="Connector 1016"/>
          <p:cNvCxnSpPr/>
          <p:nvPr/>
        </p:nvCxnSpPr>
        <p:spPr>
          <a:xfrm flipV="1">
            <a:off x="27915962" y="7324344"/>
            <a:ext cx="961236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 flipV="1">
            <a:off x="27915962" y="732434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 flipV="1">
            <a:off x="28396580" y="760780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0" name="cell|Martiny et al., 2006 - Microarray - MED4|COG0399|ns"/>
          <p:cNvSpPr/>
          <p:nvPr/>
        </p:nvSpPr>
        <p:spPr>
          <a:xfrm>
            <a:off x="28877198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TextBox 1020"/>
          <p:cNvSpPr txBox="1"/>
          <p:nvPr/>
        </p:nvSpPr>
        <p:spPr>
          <a:xfrm>
            <a:off x="28877198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1022" name="cell|Martiny et al., 2006 - Microarray - MED4|COG0673|ns"/>
          <p:cNvSpPr/>
          <p:nvPr/>
        </p:nvSpPr>
        <p:spPr>
          <a:xfrm>
            <a:off x="29838433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TextBox 1022"/>
          <p:cNvSpPr txBox="1"/>
          <p:nvPr/>
        </p:nvSpPr>
        <p:spPr>
          <a:xfrm>
            <a:off x="29838433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024" name="cell|Martiny et al., 2006 - Microarray - MED4|COG0810|absent"/>
          <p:cNvSpPr/>
          <p:nvPr/>
        </p:nvSpPr>
        <p:spPr>
          <a:xfrm>
            <a:off x="30799668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5" name="Connector 1024"/>
          <p:cNvCxnSpPr/>
          <p:nvPr/>
        </p:nvCxnSpPr>
        <p:spPr>
          <a:xfrm flipV="1">
            <a:off x="30799668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 flipV="1">
            <a:off x="30799668" y="732434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 flipV="1">
            <a:off x="31280285" y="760780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8" name="cell|Martiny et al., 2006 - Microarray - MED4|COG3206|absent"/>
          <p:cNvSpPr/>
          <p:nvPr/>
        </p:nvSpPr>
        <p:spPr>
          <a:xfrm>
            <a:off x="31760903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9" name="Connector 1028"/>
          <p:cNvCxnSpPr/>
          <p:nvPr/>
        </p:nvCxnSpPr>
        <p:spPr>
          <a:xfrm flipV="1">
            <a:off x="31760903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 flipV="1">
            <a:off x="31760903" y="732434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 flipV="1">
            <a:off x="32241520" y="760780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cell|Martiny et al., 2006 - Microarray - MED4|COG1596|ns"/>
          <p:cNvSpPr/>
          <p:nvPr/>
        </p:nvSpPr>
        <p:spPr>
          <a:xfrm>
            <a:off x="32722138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TextBox 1032"/>
          <p:cNvSpPr txBox="1"/>
          <p:nvPr/>
        </p:nvSpPr>
        <p:spPr>
          <a:xfrm>
            <a:off x="32722138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034" name="cell|Martiny et al., 2006 - Microarray - MED4|COG1462|absent"/>
          <p:cNvSpPr/>
          <p:nvPr/>
        </p:nvSpPr>
        <p:spPr>
          <a:xfrm>
            <a:off x="33683373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5" name="Connector 1034"/>
          <p:cNvCxnSpPr/>
          <p:nvPr/>
        </p:nvCxnSpPr>
        <p:spPr>
          <a:xfrm flipV="1">
            <a:off x="33683373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V="1">
            <a:off x="33683373" y="732434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 flipV="1">
            <a:off x="34163991" y="7607808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cell|Martiny et al., 2006 - Microarray - MED4|COG3210|ns"/>
          <p:cNvSpPr/>
          <p:nvPr/>
        </p:nvSpPr>
        <p:spPr>
          <a:xfrm>
            <a:off x="34644608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34644608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040" name="cell|Martiny et al., 2006 - Microarray - MED4|COG2010|ns"/>
          <p:cNvSpPr/>
          <p:nvPr/>
        </p:nvSpPr>
        <p:spPr>
          <a:xfrm>
            <a:off x="35605843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35605843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042" name="cell|Martiny et al., 2006 - Microarray - MED4|COG2114|absent"/>
          <p:cNvSpPr/>
          <p:nvPr/>
        </p:nvSpPr>
        <p:spPr>
          <a:xfrm>
            <a:off x="36567079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3" name="Connector 1042"/>
          <p:cNvCxnSpPr/>
          <p:nvPr/>
        </p:nvCxnSpPr>
        <p:spPr>
          <a:xfrm flipV="1">
            <a:off x="36567079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 1043"/>
          <p:cNvCxnSpPr/>
          <p:nvPr/>
        </p:nvCxnSpPr>
        <p:spPr>
          <a:xfrm flipV="1">
            <a:off x="36567079" y="732434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 flipV="1">
            <a:off x="37047696" y="760780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cell|Martiny et al., 2006 - Microarray - MED4|COG0454|ns"/>
          <p:cNvSpPr/>
          <p:nvPr/>
        </p:nvSpPr>
        <p:spPr>
          <a:xfrm>
            <a:off x="37528314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TextBox 1046"/>
          <p:cNvSpPr txBox="1"/>
          <p:nvPr/>
        </p:nvSpPr>
        <p:spPr>
          <a:xfrm>
            <a:off x="37528314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1048" name="cell|Martiny et al., 2006 - Microarray - MED4|COG2931|absent"/>
          <p:cNvSpPr/>
          <p:nvPr/>
        </p:nvSpPr>
        <p:spPr>
          <a:xfrm>
            <a:off x="38489549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9" name="Connector 1048"/>
          <p:cNvCxnSpPr/>
          <p:nvPr/>
        </p:nvCxnSpPr>
        <p:spPr>
          <a:xfrm flipV="1">
            <a:off x="38489549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 flipV="1">
            <a:off x="38489549" y="732434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 1050"/>
          <p:cNvCxnSpPr/>
          <p:nvPr/>
        </p:nvCxnSpPr>
        <p:spPr>
          <a:xfrm flipV="1">
            <a:off x="38970166" y="760780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2" name="cell|Martiny et al., 2006 - Microarray - MED4|COG0412|absent"/>
          <p:cNvSpPr/>
          <p:nvPr/>
        </p:nvSpPr>
        <p:spPr>
          <a:xfrm>
            <a:off x="39450784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3" name="Connector 1052"/>
          <p:cNvCxnSpPr/>
          <p:nvPr/>
        </p:nvCxnSpPr>
        <p:spPr>
          <a:xfrm flipV="1">
            <a:off x="39450784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 flipV="1">
            <a:off x="39450784" y="7324344"/>
            <a:ext cx="480617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 flipV="1">
            <a:off x="39931401" y="760780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6" name="cell|Martiny et al., 2006 - Microarray - MED4|COG4252|absent"/>
          <p:cNvSpPr/>
          <p:nvPr/>
        </p:nvSpPr>
        <p:spPr>
          <a:xfrm>
            <a:off x="40412019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7" name="Connector 1056"/>
          <p:cNvCxnSpPr/>
          <p:nvPr/>
        </p:nvCxnSpPr>
        <p:spPr>
          <a:xfrm flipV="1">
            <a:off x="40412019" y="7324344"/>
            <a:ext cx="961235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 flipV="1">
            <a:off x="40412019" y="732434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 1058"/>
          <p:cNvCxnSpPr/>
          <p:nvPr/>
        </p:nvCxnSpPr>
        <p:spPr>
          <a:xfrm flipV="1">
            <a:off x="40892637" y="7607808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0" name="cell|Martiny et al., 2006 - Microarray - MED4|COG2192|ns"/>
          <p:cNvSpPr/>
          <p:nvPr/>
        </p:nvSpPr>
        <p:spPr>
          <a:xfrm>
            <a:off x="41373254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TextBox 1060"/>
          <p:cNvSpPr txBox="1"/>
          <p:nvPr/>
        </p:nvSpPr>
        <p:spPr>
          <a:xfrm>
            <a:off x="41373254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062" name="cell|Martiny et al., 2006 - Microarray - MED4|COG2159|ns"/>
          <p:cNvSpPr/>
          <p:nvPr/>
        </p:nvSpPr>
        <p:spPr>
          <a:xfrm>
            <a:off x="42334489" y="7324344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TextBox 1062"/>
          <p:cNvSpPr txBox="1"/>
          <p:nvPr/>
        </p:nvSpPr>
        <p:spPr>
          <a:xfrm>
            <a:off x="42334489" y="7324344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064" name="cell|Martiny et al., 2006 - Microarray - MED4|COG5651|absent"/>
          <p:cNvSpPr/>
          <p:nvPr/>
        </p:nvSpPr>
        <p:spPr>
          <a:xfrm>
            <a:off x="43295724" y="7324344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5" name="Connector 1064"/>
          <p:cNvCxnSpPr/>
          <p:nvPr/>
        </p:nvCxnSpPr>
        <p:spPr>
          <a:xfrm flipV="1">
            <a:off x="43295724" y="7324344"/>
            <a:ext cx="961236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 flipV="1">
            <a:off x="43295724" y="7324344"/>
            <a:ext cx="480618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 flipV="1">
            <a:off x="43776342" y="7607808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8" name="TextBox 1067"/>
          <p:cNvSpPr txBox="1"/>
          <p:nvPr/>
        </p:nvSpPr>
        <p:spPr>
          <a:xfrm>
            <a:off x="914400" y="7891271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Martiny et al., 2006 - Microarray - MIT9313*</a:t>
            </a:r>
          </a:p>
        </p:txBody>
      </p:sp>
      <p:sp>
        <p:nvSpPr>
          <p:cNvPr id="1069" name="cell|Martiny et al., 2006 - Microarray - MIT9313*|COG0188|ns"/>
          <p:cNvSpPr/>
          <p:nvPr/>
        </p:nvSpPr>
        <p:spPr>
          <a:xfrm>
            <a:off x="4846320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4846320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1071" name="cell|Martiny et al., 2006 - Microarray - MIT9313*|COG1787|absent"/>
          <p:cNvSpPr/>
          <p:nvPr/>
        </p:nvSpPr>
        <p:spPr>
          <a:xfrm>
            <a:off x="5807555" y="789127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2" name="Connector 1071"/>
          <p:cNvCxnSpPr/>
          <p:nvPr/>
        </p:nvCxnSpPr>
        <p:spPr>
          <a:xfrm flipV="1">
            <a:off x="5807555" y="789127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 1072"/>
          <p:cNvCxnSpPr/>
          <p:nvPr/>
        </p:nvCxnSpPr>
        <p:spPr>
          <a:xfrm flipV="1">
            <a:off x="5807555" y="7891271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 1073"/>
          <p:cNvCxnSpPr/>
          <p:nvPr/>
        </p:nvCxnSpPr>
        <p:spPr>
          <a:xfrm flipV="1">
            <a:off x="6288172" y="8174736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5" name="cell|Martiny et al., 2006 - Microarray - MIT9313*|COG3727|absent"/>
          <p:cNvSpPr/>
          <p:nvPr/>
        </p:nvSpPr>
        <p:spPr>
          <a:xfrm>
            <a:off x="6768790" y="789127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6" name="Connector 1075"/>
          <p:cNvCxnSpPr/>
          <p:nvPr/>
        </p:nvCxnSpPr>
        <p:spPr>
          <a:xfrm flipV="1">
            <a:off x="6768790" y="789127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 1076"/>
          <p:cNvCxnSpPr/>
          <p:nvPr/>
        </p:nvCxnSpPr>
        <p:spPr>
          <a:xfrm flipV="1">
            <a:off x="6768790" y="7891271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 1077"/>
          <p:cNvCxnSpPr/>
          <p:nvPr/>
        </p:nvCxnSpPr>
        <p:spPr>
          <a:xfrm flipV="1">
            <a:off x="7249407" y="8174736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9" name="cell|Martiny et al., 2006 - Microarray - MIT9313*|COG1793|ns"/>
          <p:cNvSpPr/>
          <p:nvPr/>
        </p:nvSpPr>
        <p:spPr>
          <a:xfrm>
            <a:off x="7730025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7730025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081" name="cell|Martiny et al., 2006 - Microarray - MIT9313*|COG0640|ns"/>
          <p:cNvSpPr/>
          <p:nvPr/>
        </p:nvSpPr>
        <p:spPr>
          <a:xfrm>
            <a:off x="8691260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TextBox 1081"/>
          <p:cNvSpPr txBox="1"/>
          <p:nvPr/>
        </p:nvSpPr>
        <p:spPr>
          <a:xfrm>
            <a:off x="8691260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083" name="cell|Martiny et al., 2006 - Microarray - MIT9313*|COG1403|ns"/>
          <p:cNvSpPr/>
          <p:nvPr/>
        </p:nvSpPr>
        <p:spPr>
          <a:xfrm>
            <a:off x="9652495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TextBox 1083"/>
          <p:cNvSpPr txBox="1"/>
          <p:nvPr/>
        </p:nvSpPr>
        <p:spPr>
          <a:xfrm>
            <a:off x="9652495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085" name="cell|Martiny et al., 2006 - Microarray - MIT9313*|COG2214|ns"/>
          <p:cNvSpPr/>
          <p:nvPr/>
        </p:nvSpPr>
        <p:spPr>
          <a:xfrm>
            <a:off x="10613730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TextBox 1085"/>
          <p:cNvSpPr txBox="1"/>
          <p:nvPr/>
        </p:nvSpPr>
        <p:spPr>
          <a:xfrm>
            <a:off x="10613730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0/7/7</a:t>
            </a:r>
          </a:p>
        </p:txBody>
      </p:sp>
      <p:sp>
        <p:nvSpPr>
          <p:cNvPr id="1087" name="cell|Martiny et al., 2006 - Microarray - MIT9313*|COG0443|ns"/>
          <p:cNvSpPr/>
          <p:nvPr/>
        </p:nvSpPr>
        <p:spPr>
          <a:xfrm>
            <a:off x="11574965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11574965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1089" name="cell|Martiny et al., 2006 - Microarray - MIT9313*|COG0484|ns"/>
          <p:cNvSpPr/>
          <p:nvPr/>
        </p:nvSpPr>
        <p:spPr>
          <a:xfrm>
            <a:off x="12536200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TextBox 1089"/>
          <p:cNvSpPr txBox="1"/>
          <p:nvPr/>
        </p:nvSpPr>
        <p:spPr>
          <a:xfrm>
            <a:off x="12536200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1091" name="cell|Martiny et al., 2006 - Microarray - MIT9313*|COG0330|ns"/>
          <p:cNvSpPr/>
          <p:nvPr/>
        </p:nvSpPr>
        <p:spPr>
          <a:xfrm>
            <a:off x="13497436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TextBox 1091"/>
          <p:cNvSpPr txBox="1"/>
          <p:nvPr/>
        </p:nvSpPr>
        <p:spPr>
          <a:xfrm>
            <a:off x="13497436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1093" name="cell|Martiny et al., 2006 - Microarray - MIT9313*|COG1187|ns"/>
          <p:cNvSpPr/>
          <p:nvPr/>
        </p:nvSpPr>
        <p:spPr>
          <a:xfrm>
            <a:off x="14458671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14458671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1095" name="cell|Martiny et al., 2006 - Microarray - MIT9313*|COG1454|ns"/>
          <p:cNvSpPr/>
          <p:nvPr/>
        </p:nvSpPr>
        <p:spPr>
          <a:xfrm>
            <a:off x="15419906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TextBox 1095"/>
          <p:cNvSpPr txBox="1"/>
          <p:nvPr/>
        </p:nvSpPr>
        <p:spPr>
          <a:xfrm>
            <a:off x="15419906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097" name="cell|Martiny et al., 2006 - Microarray - MIT9313*|COG2370|down"/>
          <p:cNvSpPr/>
          <p:nvPr/>
        </p:nvSpPr>
        <p:spPr>
          <a:xfrm>
            <a:off x="16381141" y="7891271"/>
            <a:ext cx="961235" cy="566928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TextBox 1097"/>
          <p:cNvSpPr txBox="1"/>
          <p:nvPr/>
        </p:nvSpPr>
        <p:spPr>
          <a:xfrm>
            <a:off x="16381141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1099" name="cell|Martiny et al., 2006 - Microarray - MIT9313*|COG0367|absent"/>
          <p:cNvSpPr/>
          <p:nvPr/>
        </p:nvSpPr>
        <p:spPr>
          <a:xfrm>
            <a:off x="17342376" y="789127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0" name="Connector 1099"/>
          <p:cNvCxnSpPr/>
          <p:nvPr/>
        </p:nvCxnSpPr>
        <p:spPr>
          <a:xfrm flipV="1">
            <a:off x="17342376" y="789127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Connector 1100"/>
          <p:cNvCxnSpPr/>
          <p:nvPr/>
        </p:nvCxnSpPr>
        <p:spPr>
          <a:xfrm flipV="1">
            <a:off x="17342376" y="7891271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 1101"/>
          <p:cNvCxnSpPr/>
          <p:nvPr/>
        </p:nvCxnSpPr>
        <p:spPr>
          <a:xfrm flipV="1">
            <a:off x="17822994" y="8174736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3" name="cell|Martiny et al., 2006 - Microarray - MIT9313*|COG0082|ns"/>
          <p:cNvSpPr/>
          <p:nvPr/>
        </p:nvSpPr>
        <p:spPr>
          <a:xfrm>
            <a:off x="18303611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TextBox 1103"/>
          <p:cNvSpPr txBox="1"/>
          <p:nvPr/>
        </p:nvSpPr>
        <p:spPr>
          <a:xfrm>
            <a:off x="18303611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1105" name="cell|Martiny et al., 2006 - Microarray - MIT9313*|COG2274|ns"/>
          <p:cNvSpPr/>
          <p:nvPr/>
        </p:nvSpPr>
        <p:spPr>
          <a:xfrm>
            <a:off x="19264846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19264846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1107" name="cell|Martiny et al., 2006 - Microarray - MIT9313*|COG1989|ns"/>
          <p:cNvSpPr/>
          <p:nvPr/>
        </p:nvSpPr>
        <p:spPr>
          <a:xfrm>
            <a:off x="20226081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TextBox 1107"/>
          <p:cNvSpPr txBox="1"/>
          <p:nvPr/>
        </p:nvSpPr>
        <p:spPr>
          <a:xfrm>
            <a:off x="20226081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09" name="cell|Martiny et al., 2006 - Microarray - MIT9313*|COG0845|ns"/>
          <p:cNvSpPr/>
          <p:nvPr/>
        </p:nvSpPr>
        <p:spPr>
          <a:xfrm>
            <a:off x="21187317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TextBox 1109"/>
          <p:cNvSpPr txBox="1"/>
          <p:nvPr/>
        </p:nvSpPr>
        <p:spPr>
          <a:xfrm>
            <a:off x="21187317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0/11/11</a:t>
            </a:r>
          </a:p>
        </p:txBody>
      </p:sp>
      <p:sp>
        <p:nvSpPr>
          <p:cNvPr id="1111" name="cell|Martiny et al., 2006 - Microarray - MIT9313*|COG0488|ns"/>
          <p:cNvSpPr/>
          <p:nvPr/>
        </p:nvSpPr>
        <p:spPr>
          <a:xfrm>
            <a:off x="22148552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22148552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1113" name="cell|Martiny et al., 2006 - Microarray - MIT9313*|COG0697|down"/>
          <p:cNvSpPr/>
          <p:nvPr/>
        </p:nvSpPr>
        <p:spPr>
          <a:xfrm>
            <a:off x="23109787" y="7891271"/>
            <a:ext cx="961235" cy="566928"/>
          </a:xfrm>
          <a:prstGeom prst="rect">
            <a:avLst/>
          </a:prstGeom>
          <a:solidFill>
            <a:srgbClr val="8097AE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TextBox 1113"/>
          <p:cNvSpPr txBox="1"/>
          <p:nvPr/>
        </p:nvSpPr>
        <p:spPr>
          <a:xfrm>
            <a:off x="23109787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1/11/11</a:t>
            </a:r>
          </a:p>
        </p:txBody>
      </p:sp>
      <p:sp>
        <p:nvSpPr>
          <p:cNvPr id="1115" name="cell|Martiny et al., 2006 - Microarray - MIT9313*|COG3839|up"/>
          <p:cNvSpPr/>
          <p:nvPr/>
        </p:nvSpPr>
        <p:spPr>
          <a:xfrm>
            <a:off x="24071022" y="7891271"/>
            <a:ext cx="961235" cy="566928"/>
          </a:xfrm>
          <a:prstGeom prst="rect">
            <a:avLst/>
          </a:prstGeom>
          <a:solidFill>
            <a:srgbClr val="C67872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24071022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1/3/3</a:t>
            </a:r>
          </a:p>
        </p:txBody>
      </p:sp>
      <p:sp>
        <p:nvSpPr>
          <p:cNvPr id="1117" name="cell|Martiny et al., 2006 - Microarray - MIT9313*|COG1212|ns"/>
          <p:cNvSpPr/>
          <p:nvPr/>
        </p:nvSpPr>
        <p:spPr>
          <a:xfrm>
            <a:off x="25032257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Box 1117"/>
          <p:cNvSpPr txBox="1"/>
          <p:nvPr/>
        </p:nvSpPr>
        <p:spPr>
          <a:xfrm>
            <a:off x="25032257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19" name="cell|Martiny et al., 2006 - Microarray - MIT9313*|COG0477|up"/>
          <p:cNvSpPr/>
          <p:nvPr/>
        </p:nvSpPr>
        <p:spPr>
          <a:xfrm>
            <a:off x="25993492" y="7891271"/>
            <a:ext cx="961235" cy="566928"/>
          </a:xfrm>
          <a:prstGeom prst="rect">
            <a:avLst/>
          </a:prstGeom>
          <a:solidFill>
            <a:srgbClr val="B88D84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TextBox 1119"/>
          <p:cNvSpPr txBox="1"/>
          <p:nvPr/>
        </p:nvSpPr>
        <p:spPr>
          <a:xfrm>
            <a:off x="25993492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1/34/34</a:t>
            </a:r>
          </a:p>
        </p:txBody>
      </p:sp>
      <p:sp>
        <p:nvSpPr>
          <p:cNvPr id="1121" name="cell|Martiny et al., 2006 - Microarray - MIT9313*|COG1472|ns"/>
          <p:cNvSpPr/>
          <p:nvPr/>
        </p:nvSpPr>
        <p:spPr>
          <a:xfrm>
            <a:off x="26954727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26954727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123" name="cell|Martiny et al., 2006 - Microarray - MIT9313*|COG3754|ns"/>
          <p:cNvSpPr/>
          <p:nvPr/>
        </p:nvSpPr>
        <p:spPr>
          <a:xfrm>
            <a:off x="27915962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Box 1123"/>
          <p:cNvSpPr txBox="1"/>
          <p:nvPr/>
        </p:nvSpPr>
        <p:spPr>
          <a:xfrm>
            <a:off x="27915962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25" name="cell|Martiny et al., 2006 - Microarray - MIT9313*|COG0399|ns"/>
          <p:cNvSpPr/>
          <p:nvPr/>
        </p:nvSpPr>
        <p:spPr>
          <a:xfrm>
            <a:off x="28877198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TextBox 1125"/>
          <p:cNvSpPr txBox="1"/>
          <p:nvPr/>
        </p:nvSpPr>
        <p:spPr>
          <a:xfrm>
            <a:off x="28877198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27" name="cell|Martiny et al., 2006 - Microarray - MIT9313*|COG0673|ns"/>
          <p:cNvSpPr/>
          <p:nvPr/>
        </p:nvSpPr>
        <p:spPr>
          <a:xfrm>
            <a:off x="29838433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TextBox 1127"/>
          <p:cNvSpPr txBox="1"/>
          <p:nvPr/>
        </p:nvSpPr>
        <p:spPr>
          <a:xfrm>
            <a:off x="29838433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129" name="cell|Martiny et al., 2006 - Microarray - MIT9313*|COG0810|ns"/>
          <p:cNvSpPr/>
          <p:nvPr/>
        </p:nvSpPr>
        <p:spPr>
          <a:xfrm>
            <a:off x="30799668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TextBox 1129"/>
          <p:cNvSpPr txBox="1"/>
          <p:nvPr/>
        </p:nvSpPr>
        <p:spPr>
          <a:xfrm>
            <a:off x="30799668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131" name="cell|Martiny et al., 2006 - Microarray - MIT9313*|COG3206|absent"/>
          <p:cNvSpPr/>
          <p:nvPr/>
        </p:nvSpPr>
        <p:spPr>
          <a:xfrm>
            <a:off x="31760903" y="789127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2" name="Connector 1131"/>
          <p:cNvCxnSpPr/>
          <p:nvPr/>
        </p:nvCxnSpPr>
        <p:spPr>
          <a:xfrm flipV="1">
            <a:off x="31760903" y="789127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3" name="Connector 1132"/>
          <p:cNvCxnSpPr/>
          <p:nvPr/>
        </p:nvCxnSpPr>
        <p:spPr>
          <a:xfrm flipV="1">
            <a:off x="31760903" y="7891271"/>
            <a:ext cx="480617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Connector 1133"/>
          <p:cNvCxnSpPr/>
          <p:nvPr/>
        </p:nvCxnSpPr>
        <p:spPr>
          <a:xfrm flipV="1">
            <a:off x="32241520" y="8174736"/>
            <a:ext cx="480618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5" name="cell|Martiny et al., 2006 - Microarray - MIT9313*|COG1596|absent"/>
          <p:cNvSpPr/>
          <p:nvPr/>
        </p:nvSpPr>
        <p:spPr>
          <a:xfrm>
            <a:off x="32722138" y="789127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6" name="Connector 1135"/>
          <p:cNvCxnSpPr/>
          <p:nvPr/>
        </p:nvCxnSpPr>
        <p:spPr>
          <a:xfrm flipV="1">
            <a:off x="32722138" y="789127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Connector 1136"/>
          <p:cNvCxnSpPr/>
          <p:nvPr/>
        </p:nvCxnSpPr>
        <p:spPr>
          <a:xfrm flipV="1">
            <a:off x="32722138" y="7891271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Connector 1137"/>
          <p:cNvCxnSpPr/>
          <p:nvPr/>
        </p:nvCxnSpPr>
        <p:spPr>
          <a:xfrm flipV="1">
            <a:off x="33202756" y="8174736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cell|Martiny et al., 2006 - Microarray - MIT9313*|COG1462|down"/>
          <p:cNvSpPr/>
          <p:nvPr/>
        </p:nvSpPr>
        <p:spPr>
          <a:xfrm>
            <a:off x="33683373" y="7891271"/>
            <a:ext cx="961235" cy="566928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TextBox 1139"/>
          <p:cNvSpPr txBox="1"/>
          <p:nvPr/>
        </p:nvSpPr>
        <p:spPr>
          <a:xfrm>
            <a:off x="33683373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1141" name="cell|Martiny et al., 2006 - Microarray - MIT9313*|COG3210|ns"/>
          <p:cNvSpPr/>
          <p:nvPr/>
        </p:nvSpPr>
        <p:spPr>
          <a:xfrm>
            <a:off x="34644608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TextBox 1141"/>
          <p:cNvSpPr txBox="1"/>
          <p:nvPr/>
        </p:nvSpPr>
        <p:spPr>
          <a:xfrm>
            <a:off x="34644608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143" name="cell|Martiny et al., 2006 - Microarray - MIT9313*|COG2010|ns"/>
          <p:cNvSpPr/>
          <p:nvPr/>
        </p:nvSpPr>
        <p:spPr>
          <a:xfrm>
            <a:off x="35605843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TextBox 1143"/>
          <p:cNvSpPr txBox="1"/>
          <p:nvPr/>
        </p:nvSpPr>
        <p:spPr>
          <a:xfrm>
            <a:off x="35605843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1145" name="cell|Martiny et al., 2006 - Microarray - MIT9313*|COG2114|ns"/>
          <p:cNvSpPr/>
          <p:nvPr/>
        </p:nvSpPr>
        <p:spPr>
          <a:xfrm>
            <a:off x="36567079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TextBox 1145"/>
          <p:cNvSpPr txBox="1"/>
          <p:nvPr/>
        </p:nvSpPr>
        <p:spPr>
          <a:xfrm>
            <a:off x="36567079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47" name="cell|Martiny et al., 2006 - Microarray - MIT9313*|COG0454|ns"/>
          <p:cNvSpPr/>
          <p:nvPr/>
        </p:nvSpPr>
        <p:spPr>
          <a:xfrm>
            <a:off x="37528314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TextBox 1147"/>
          <p:cNvSpPr txBox="1"/>
          <p:nvPr/>
        </p:nvSpPr>
        <p:spPr>
          <a:xfrm>
            <a:off x="37528314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0/8/8</a:t>
            </a:r>
          </a:p>
        </p:txBody>
      </p:sp>
      <p:sp>
        <p:nvSpPr>
          <p:cNvPr id="1149" name="cell|Martiny et al., 2006 - Microarray - MIT9313*|COG2931|ns"/>
          <p:cNvSpPr/>
          <p:nvPr/>
        </p:nvSpPr>
        <p:spPr>
          <a:xfrm>
            <a:off x="38489549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TextBox 1149"/>
          <p:cNvSpPr txBox="1"/>
          <p:nvPr/>
        </p:nvSpPr>
        <p:spPr>
          <a:xfrm>
            <a:off x="38489549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1151" name="cell|Martiny et al., 2006 - Microarray - MIT9313*|COG0412|ns"/>
          <p:cNvSpPr/>
          <p:nvPr/>
        </p:nvSpPr>
        <p:spPr>
          <a:xfrm>
            <a:off x="39450784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TextBox 1151"/>
          <p:cNvSpPr txBox="1"/>
          <p:nvPr/>
        </p:nvSpPr>
        <p:spPr>
          <a:xfrm>
            <a:off x="39450784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53" name="cell|Martiny et al., 2006 - Microarray - MIT9313*|COG4252|ns"/>
          <p:cNvSpPr/>
          <p:nvPr/>
        </p:nvSpPr>
        <p:spPr>
          <a:xfrm>
            <a:off x="40412019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TextBox 1153"/>
          <p:cNvSpPr txBox="1"/>
          <p:nvPr/>
        </p:nvSpPr>
        <p:spPr>
          <a:xfrm>
            <a:off x="40412019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55" name="cell|Martiny et al., 2006 - Microarray - MIT9313*|COG2192|absent"/>
          <p:cNvSpPr/>
          <p:nvPr/>
        </p:nvSpPr>
        <p:spPr>
          <a:xfrm>
            <a:off x="41373254" y="789127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6" name="Connector 1155"/>
          <p:cNvCxnSpPr/>
          <p:nvPr/>
        </p:nvCxnSpPr>
        <p:spPr>
          <a:xfrm flipV="1">
            <a:off x="41373254" y="789127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Connector 1156"/>
          <p:cNvCxnSpPr/>
          <p:nvPr/>
        </p:nvCxnSpPr>
        <p:spPr>
          <a:xfrm flipV="1">
            <a:off x="41373254" y="7891271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8" name="Connector 1157"/>
          <p:cNvCxnSpPr/>
          <p:nvPr/>
        </p:nvCxnSpPr>
        <p:spPr>
          <a:xfrm flipV="1">
            <a:off x="41853872" y="8174736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9" name="cell|Martiny et al., 2006 - Microarray - MIT9313*|COG2159|absent"/>
          <p:cNvSpPr/>
          <p:nvPr/>
        </p:nvSpPr>
        <p:spPr>
          <a:xfrm>
            <a:off x="42334489" y="7891271"/>
            <a:ext cx="961235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0" name="Connector 1159"/>
          <p:cNvCxnSpPr/>
          <p:nvPr/>
        </p:nvCxnSpPr>
        <p:spPr>
          <a:xfrm flipV="1">
            <a:off x="42334489" y="7891271"/>
            <a:ext cx="961235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1" name="Connector 1160"/>
          <p:cNvCxnSpPr/>
          <p:nvPr/>
        </p:nvCxnSpPr>
        <p:spPr>
          <a:xfrm flipV="1">
            <a:off x="42334489" y="7891271"/>
            <a:ext cx="480618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2" name="Connector 1161"/>
          <p:cNvCxnSpPr/>
          <p:nvPr/>
        </p:nvCxnSpPr>
        <p:spPr>
          <a:xfrm flipV="1">
            <a:off x="42815107" y="8174736"/>
            <a:ext cx="480617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3" name="cell|Martiny et al., 2006 - Microarray - MIT9313*|COG5651|ns"/>
          <p:cNvSpPr/>
          <p:nvPr/>
        </p:nvSpPr>
        <p:spPr>
          <a:xfrm>
            <a:off x="43295724" y="7891271"/>
            <a:ext cx="961235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TextBox 1163"/>
          <p:cNvSpPr txBox="1"/>
          <p:nvPr/>
        </p:nvSpPr>
        <p:spPr>
          <a:xfrm>
            <a:off x="43295724" y="7891271"/>
            <a:ext cx="961235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cxnSp>
        <p:nvCxnSpPr>
          <p:cNvPr id="1165" name="Connector 1164"/>
          <p:cNvCxnSpPr/>
          <p:nvPr/>
        </p:nvCxnSpPr>
        <p:spPr>
          <a:xfrm>
            <a:off x="594360" y="2816351"/>
            <a:ext cx="0" cy="2779777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6" name="Connector 1165"/>
          <p:cNvCxnSpPr/>
          <p:nvPr/>
        </p:nvCxnSpPr>
        <p:spPr>
          <a:xfrm>
            <a:off x="594360" y="2816351"/>
            <a:ext cx="91440" cy="0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7" name="Connector 1166"/>
          <p:cNvCxnSpPr/>
          <p:nvPr/>
        </p:nvCxnSpPr>
        <p:spPr>
          <a:xfrm>
            <a:off x="594360" y="5596128"/>
            <a:ext cx="91440" cy="0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8" name="TextBox 1167"/>
          <p:cNvSpPr txBox="1"/>
          <p:nvPr/>
        </p:nvSpPr>
        <p:spPr>
          <a:xfrm rot="16200000">
            <a:off x="-365760" y="4069079"/>
            <a:ext cx="19202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Nitrogen starvation</a:t>
            </a:r>
          </a:p>
        </p:txBody>
      </p:sp>
      <p:cxnSp>
        <p:nvCxnSpPr>
          <p:cNvPr id="1169" name="Connector 1168"/>
          <p:cNvCxnSpPr/>
          <p:nvPr/>
        </p:nvCxnSpPr>
        <p:spPr>
          <a:xfrm>
            <a:off x="594360" y="5650992"/>
            <a:ext cx="0" cy="2779776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Connector 1169"/>
          <p:cNvCxnSpPr/>
          <p:nvPr/>
        </p:nvCxnSpPr>
        <p:spPr>
          <a:xfrm>
            <a:off x="594360" y="5650992"/>
            <a:ext cx="91440" cy="0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Connector 1170"/>
          <p:cNvCxnSpPr/>
          <p:nvPr/>
        </p:nvCxnSpPr>
        <p:spPr>
          <a:xfrm>
            <a:off x="594360" y="8430768"/>
            <a:ext cx="91440" cy="0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" name="TextBox 1171"/>
          <p:cNvSpPr txBox="1"/>
          <p:nvPr/>
        </p:nvSpPr>
        <p:spPr>
          <a:xfrm rot="16200000">
            <a:off x="-365760" y="6903720"/>
            <a:ext cx="19202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Phosphorus starvation</a:t>
            </a:r>
          </a:p>
        </p:txBody>
      </p:sp>
      <p:sp>
        <p:nvSpPr>
          <p:cNvPr id="1173" name="Rectangle 1172"/>
          <p:cNvSpPr/>
          <p:nvPr/>
        </p:nvSpPr>
        <p:spPr>
          <a:xfrm>
            <a:off x="4846320" y="5612587"/>
            <a:ext cx="39410640" cy="25603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Rectangle 1173"/>
          <p:cNvSpPr/>
          <p:nvPr/>
        </p:nvSpPr>
        <p:spPr>
          <a:xfrm>
            <a:off x="10602757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Rectangle 1174"/>
          <p:cNvSpPr/>
          <p:nvPr/>
        </p:nvSpPr>
        <p:spPr>
          <a:xfrm>
            <a:off x="15408933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Rectangle 1175"/>
          <p:cNvSpPr/>
          <p:nvPr/>
        </p:nvSpPr>
        <p:spPr>
          <a:xfrm>
            <a:off x="25021284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Rectangle 1176"/>
          <p:cNvSpPr/>
          <p:nvPr/>
        </p:nvSpPr>
        <p:spPr>
          <a:xfrm>
            <a:off x="30788695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Rectangle 1177"/>
          <p:cNvSpPr/>
          <p:nvPr/>
        </p:nvSpPr>
        <p:spPr>
          <a:xfrm>
            <a:off x="31749930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Rectangle 1178"/>
          <p:cNvSpPr/>
          <p:nvPr/>
        </p:nvSpPr>
        <p:spPr>
          <a:xfrm>
            <a:off x="33672400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Rectangle 1179"/>
          <p:cNvSpPr/>
          <p:nvPr/>
        </p:nvSpPr>
        <p:spPr>
          <a:xfrm>
            <a:off x="35594871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Rectangle 1180"/>
          <p:cNvSpPr/>
          <p:nvPr/>
        </p:nvSpPr>
        <p:spPr>
          <a:xfrm>
            <a:off x="36556106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Rectangle 1181"/>
          <p:cNvSpPr/>
          <p:nvPr/>
        </p:nvSpPr>
        <p:spPr>
          <a:xfrm>
            <a:off x="38478576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Rectangle 1182"/>
          <p:cNvSpPr/>
          <p:nvPr/>
        </p:nvSpPr>
        <p:spPr>
          <a:xfrm>
            <a:off x="39439811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Rectangle 1183"/>
          <p:cNvSpPr/>
          <p:nvPr/>
        </p:nvSpPr>
        <p:spPr>
          <a:xfrm>
            <a:off x="4846320" y="10012680"/>
            <a:ext cx="274320" cy="274320"/>
          </a:xfrm>
          <a:prstGeom prst="rect">
            <a:avLst/>
          </a:prstGeom>
          <a:solidFill>
            <a:srgbClr val="E34948"/>
          </a:solidFill>
          <a:ln w="952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TextBox 1184"/>
          <p:cNvSpPr txBox="1"/>
          <p:nvPr/>
        </p:nvSpPr>
        <p:spPr>
          <a:xfrm>
            <a:off x="5230368" y="9994392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Upregulated (most of COG's genes)</a:t>
            </a:r>
          </a:p>
        </p:txBody>
      </p:sp>
      <p:sp>
        <p:nvSpPr>
          <p:cNvPr id="1186" name="Rectangle 1185"/>
          <p:cNvSpPr/>
          <p:nvPr/>
        </p:nvSpPr>
        <p:spPr>
          <a:xfrm>
            <a:off x="7951622" y="10012680"/>
            <a:ext cx="274320" cy="274320"/>
          </a:xfrm>
          <a:prstGeom prst="rect">
            <a:avLst/>
          </a:prstGeom>
          <a:solidFill>
            <a:srgbClr val="2A78D6"/>
          </a:solidFill>
          <a:ln w="952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8335670" y="9994392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Downregulated</a:t>
            </a:r>
          </a:p>
        </p:txBody>
      </p:sp>
      <p:sp>
        <p:nvSpPr>
          <p:cNvPr id="1188" name="Rectangle 1187"/>
          <p:cNvSpPr/>
          <p:nvPr/>
        </p:nvSpPr>
        <p:spPr>
          <a:xfrm>
            <a:off x="9740188" y="10012680"/>
            <a:ext cx="274320" cy="274320"/>
          </a:xfrm>
          <a:prstGeom prst="rect">
            <a:avLst/>
          </a:prstGeom>
          <a:solidFill>
            <a:srgbClr val="E8913A"/>
          </a:solidFill>
          <a:ln w="952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TextBox 1188"/>
          <p:cNvSpPr txBox="1"/>
          <p:nvPr/>
        </p:nvSpPr>
        <p:spPr>
          <a:xfrm>
            <a:off x="10124236" y="9994392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Both up- and downregulated genes</a:t>
            </a:r>
          </a:p>
        </p:txBody>
      </p:sp>
      <p:sp>
        <p:nvSpPr>
          <p:cNvPr id="1190" name="Rectangle 1189"/>
          <p:cNvSpPr/>
          <p:nvPr/>
        </p:nvSpPr>
        <p:spPr>
          <a:xfrm>
            <a:off x="12779654" y="10012680"/>
            <a:ext cx="274320" cy="274320"/>
          </a:xfrm>
          <a:prstGeom prst="rect">
            <a:avLst/>
          </a:prstGeom>
          <a:solidFill>
            <a:srgbClr val="A8A69B"/>
          </a:solidFill>
          <a:ln w="952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TextBox 1190"/>
          <p:cNvSpPr txBox="1"/>
          <p:nvPr/>
        </p:nvSpPr>
        <p:spPr>
          <a:xfrm>
            <a:off x="13163702" y="9994392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Tested, no gene significant</a:t>
            </a:r>
          </a:p>
        </p:txBody>
      </p:sp>
      <p:sp>
        <p:nvSpPr>
          <p:cNvPr id="1192" name="Rectangle 1191"/>
          <p:cNvSpPr/>
          <p:nvPr/>
        </p:nvSpPr>
        <p:spPr>
          <a:xfrm>
            <a:off x="15489935" y="10012680"/>
            <a:ext cx="274320" cy="274320"/>
          </a:xfrm>
          <a:prstGeom prst="rect">
            <a:avLst/>
          </a:prstGeom>
          <a:solidFill>
            <a:srgbClr val="E7E4D8"/>
          </a:solidFill>
          <a:ln w="952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15873984" y="9994392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No data (COG present, not in table)</a:t>
            </a:r>
          </a:p>
        </p:txBody>
      </p:sp>
      <p:sp>
        <p:nvSpPr>
          <p:cNvPr id="1194" name="Rectangle 1193"/>
          <p:cNvSpPr/>
          <p:nvPr/>
        </p:nvSpPr>
        <p:spPr>
          <a:xfrm>
            <a:off x="18726911" y="10012680"/>
            <a:ext cx="274320" cy="274320"/>
          </a:xfrm>
          <a:prstGeom prst="rect">
            <a:avLst/>
          </a:prstGeom>
          <a:solidFill>
            <a:srgbClr val="FDFCF9"/>
          </a:solidFill>
          <a:ln w="952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5" name="Connector 1194"/>
          <p:cNvCxnSpPr/>
          <p:nvPr/>
        </p:nvCxnSpPr>
        <p:spPr>
          <a:xfrm flipV="1">
            <a:off x="18726911" y="10012680"/>
            <a:ext cx="274320" cy="274320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6" name="Connector 1195"/>
          <p:cNvCxnSpPr/>
          <p:nvPr/>
        </p:nvCxnSpPr>
        <p:spPr>
          <a:xfrm flipV="1">
            <a:off x="18726911" y="10012680"/>
            <a:ext cx="137160" cy="137160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Connector 1196"/>
          <p:cNvCxnSpPr/>
          <p:nvPr/>
        </p:nvCxnSpPr>
        <p:spPr>
          <a:xfrm flipV="1">
            <a:off x="18864071" y="10149840"/>
            <a:ext cx="137160" cy="137160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8" name="TextBox 1197"/>
          <p:cNvSpPr txBox="1"/>
          <p:nvPr/>
        </p:nvSpPr>
        <p:spPr>
          <a:xfrm>
            <a:off x="19110960" y="9994392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COG absent from strain genome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
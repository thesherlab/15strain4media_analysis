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73152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7556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Calibri"/>
              </a:rPr>
              <a:t>Nitrogen- and phosphorus-acquisition gene response to nutrient starvation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65760"/>
            <a:ext cx="1755648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2514E"/>
                </a:solidFill>
                <a:latin typeface="Calibri"/>
              </a:rPr>
              <a:t>genes with a response in ≥1 experiment; each experiment at its single chosen starvation timepoint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548640"/>
            <a:ext cx="682231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A78D6"/>
                </a:solidFill>
                <a:latin typeface="Calibri"/>
              </a:rPr>
              <a:t>N acquisition 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14156" y="548640"/>
            <a:ext cx="7899523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E34948"/>
                </a:solidFill>
                <a:latin typeface="Calibri"/>
              </a:rPr>
              <a:t>P acquisition genes</a:t>
            </a:r>
          </a:p>
        </p:txBody>
      </p:sp>
      <p:sp>
        <p:nvSpPr>
          <p:cNvPr id="7" name="TextBox 6"/>
          <p:cNvSpPr txBox="1"/>
          <p:nvPr/>
        </p:nvSpPr>
        <p:spPr>
          <a:xfrm rot="18000000">
            <a:off x="2785574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amtB/amt1</a:t>
            </a:r>
          </a:p>
        </p:txBody>
      </p:sp>
      <p:sp>
        <p:nvSpPr>
          <p:cNvPr id="8" name="TextBox 7"/>
          <p:cNvSpPr txBox="1"/>
          <p:nvPr/>
        </p:nvSpPr>
        <p:spPr>
          <a:xfrm rot="18000000">
            <a:off x="3144643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cynA</a:t>
            </a:r>
          </a:p>
        </p:txBody>
      </p:sp>
      <p:sp>
        <p:nvSpPr>
          <p:cNvPr id="9" name="TextBox 8"/>
          <p:cNvSpPr txBox="1"/>
          <p:nvPr/>
        </p:nvSpPr>
        <p:spPr>
          <a:xfrm rot="18000000">
            <a:off x="3503713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cynB</a:t>
            </a:r>
          </a:p>
        </p:txBody>
      </p:sp>
      <p:sp>
        <p:nvSpPr>
          <p:cNvPr id="10" name="TextBox 9"/>
          <p:cNvSpPr txBox="1"/>
          <p:nvPr/>
        </p:nvSpPr>
        <p:spPr>
          <a:xfrm rot="18000000">
            <a:off x="3862782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cynD</a:t>
            </a:r>
          </a:p>
        </p:txBody>
      </p:sp>
      <p:sp>
        <p:nvSpPr>
          <p:cNvPr id="11" name="TextBox 10"/>
          <p:cNvSpPr txBox="1"/>
          <p:nvPr/>
        </p:nvSpPr>
        <p:spPr>
          <a:xfrm rot="18000000">
            <a:off x="4221851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cynS</a:t>
            </a:r>
          </a:p>
        </p:txBody>
      </p:sp>
      <p:sp>
        <p:nvSpPr>
          <p:cNvPr id="12" name="TextBox 11"/>
          <p:cNvSpPr txBox="1"/>
          <p:nvPr/>
        </p:nvSpPr>
        <p:spPr>
          <a:xfrm rot="18000000">
            <a:off x="4580920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focA</a:t>
            </a:r>
          </a:p>
        </p:txBody>
      </p:sp>
      <p:sp>
        <p:nvSpPr>
          <p:cNvPr id="13" name="TextBox 12"/>
          <p:cNvSpPr txBox="1"/>
          <p:nvPr/>
        </p:nvSpPr>
        <p:spPr>
          <a:xfrm rot="18000000">
            <a:off x="4939990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glnA</a:t>
            </a:r>
          </a:p>
        </p:txBody>
      </p:sp>
      <p:sp>
        <p:nvSpPr>
          <p:cNvPr id="14" name="TextBox 13"/>
          <p:cNvSpPr txBox="1"/>
          <p:nvPr/>
        </p:nvSpPr>
        <p:spPr>
          <a:xfrm rot="18000000">
            <a:off x="5299059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glsF</a:t>
            </a:r>
          </a:p>
        </p:txBody>
      </p:sp>
      <p:sp>
        <p:nvSpPr>
          <p:cNvPr id="15" name="TextBox 14"/>
          <p:cNvSpPr txBox="1"/>
          <p:nvPr/>
        </p:nvSpPr>
        <p:spPr>
          <a:xfrm rot="18000000">
            <a:off x="5658128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nirA</a:t>
            </a:r>
          </a:p>
        </p:txBody>
      </p:sp>
      <p:sp>
        <p:nvSpPr>
          <p:cNvPr id="16" name="TextBox 15"/>
          <p:cNvSpPr txBox="1"/>
          <p:nvPr/>
        </p:nvSpPr>
        <p:spPr>
          <a:xfrm rot="18000000">
            <a:off x="6017198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nirX</a:t>
            </a:r>
          </a:p>
        </p:txBody>
      </p:sp>
      <p:sp>
        <p:nvSpPr>
          <p:cNvPr id="17" name="TextBox 16"/>
          <p:cNvSpPr txBox="1"/>
          <p:nvPr/>
        </p:nvSpPr>
        <p:spPr>
          <a:xfrm rot="18000000">
            <a:off x="6376267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ntcA</a:t>
            </a:r>
          </a:p>
        </p:txBody>
      </p:sp>
      <p:sp>
        <p:nvSpPr>
          <p:cNvPr id="18" name="TextBox 17"/>
          <p:cNvSpPr txBox="1"/>
          <p:nvPr/>
        </p:nvSpPr>
        <p:spPr>
          <a:xfrm rot="18000000">
            <a:off x="6735336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pipX</a:t>
            </a:r>
          </a:p>
        </p:txBody>
      </p:sp>
      <p:sp>
        <p:nvSpPr>
          <p:cNvPr id="19" name="TextBox 18"/>
          <p:cNvSpPr txBox="1"/>
          <p:nvPr/>
        </p:nvSpPr>
        <p:spPr>
          <a:xfrm rot="18000000">
            <a:off x="7094405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ureA</a:t>
            </a:r>
          </a:p>
        </p:txBody>
      </p:sp>
      <p:sp>
        <p:nvSpPr>
          <p:cNvPr id="20" name="TextBox 19"/>
          <p:cNvSpPr txBox="1"/>
          <p:nvPr/>
        </p:nvSpPr>
        <p:spPr>
          <a:xfrm rot="18000000">
            <a:off x="7453475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ureB</a:t>
            </a:r>
          </a:p>
        </p:txBody>
      </p:sp>
      <p:sp>
        <p:nvSpPr>
          <p:cNvPr id="21" name="TextBox 20"/>
          <p:cNvSpPr txBox="1"/>
          <p:nvPr/>
        </p:nvSpPr>
        <p:spPr>
          <a:xfrm rot="18000000">
            <a:off x="7812544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ureC</a:t>
            </a:r>
          </a:p>
        </p:txBody>
      </p:sp>
      <p:sp>
        <p:nvSpPr>
          <p:cNvPr id="22" name="TextBox 21"/>
          <p:cNvSpPr txBox="1"/>
          <p:nvPr/>
        </p:nvSpPr>
        <p:spPr>
          <a:xfrm rot="18000000">
            <a:off x="8171613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ureG</a:t>
            </a:r>
          </a:p>
        </p:txBody>
      </p:sp>
      <p:sp>
        <p:nvSpPr>
          <p:cNvPr id="23" name="TextBox 22"/>
          <p:cNvSpPr txBox="1"/>
          <p:nvPr/>
        </p:nvSpPr>
        <p:spPr>
          <a:xfrm rot="18000000">
            <a:off x="8530682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urtA</a:t>
            </a:r>
          </a:p>
        </p:txBody>
      </p:sp>
      <p:sp>
        <p:nvSpPr>
          <p:cNvPr id="24" name="TextBox 23"/>
          <p:cNvSpPr txBox="1"/>
          <p:nvPr/>
        </p:nvSpPr>
        <p:spPr>
          <a:xfrm rot="18000000">
            <a:off x="8889752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urtD</a:t>
            </a:r>
          </a:p>
        </p:txBody>
      </p:sp>
      <p:sp>
        <p:nvSpPr>
          <p:cNvPr id="25" name="TextBox 24"/>
          <p:cNvSpPr txBox="1"/>
          <p:nvPr/>
        </p:nvSpPr>
        <p:spPr>
          <a:xfrm rot="18000000">
            <a:off x="9248821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urtE</a:t>
            </a:r>
          </a:p>
        </p:txBody>
      </p:sp>
      <p:sp>
        <p:nvSpPr>
          <p:cNvPr id="26" name="TextBox 25"/>
          <p:cNvSpPr txBox="1"/>
          <p:nvPr/>
        </p:nvSpPr>
        <p:spPr>
          <a:xfrm rot="18000000">
            <a:off x="9607890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PMM707</a:t>
            </a:r>
          </a:p>
        </p:txBody>
      </p:sp>
      <p:sp>
        <p:nvSpPr>
          <p:cNvPr id="27" name="TextBox 26"/>
          <p:cNvSpPr txBox="1"/>
          <p:nvPr/>
        </p:nvSpPr>
        <p:spPr>
          <a:xfrm rot="18000000">
            <a:off x="9966960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PMM719</a:t>
            </a:r>
          </a:p>
        </p:txBody>
      </p:sp>
      <p:sp>
        <p:nvSpPr>
          <p:cNvPr id="28" name="TextBox 27"/>
          <p:cNvSpPr txBox="1"/>
          <p:nvPr/>
        </p:nvSpPr>
        <p:spPr>
          <a:xfrm rot="18000000">
            <a:off x="10326029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PMM721</a:t>
            </a:r>
          </a:p>
        </p:txBody>
      </p:sp>
      <p:sp>
        <p:nvSpPr>
          <p:cNvPr id="29" name="TextBox 28"/>
          <p:cNvSpPr txBox="1"/>
          <p:nvPr/>
        </p:nvSpPr>
        <p:spPr>
          <a:xfrm rot="18000000">
            <a:off x="10685098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PsiP1</a:t>
            </a:r>
          </a:p>
        </p:txBody>
      </p:sp>
      <p:sp>
        <p:nvSpPr>
          <p:cNvPr id="30" name="TextBox 29"/>
          <p:cNvSpPr txBox="1"/>
          <p:nvPr/>
        </p:nvSpPr>
        <p:spPr>
          <a:xfrm rot="18000000">
            <a:off x="11044167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arsR</a:t>
            </a:r>
          </a:p>
        </p:txBody>
      </p:sp>
      <p:sp>
        <p:nvSpPr>
          <p:cNvPr id="31" name="TextBox 30"/>
          <p:cNvSpPr txBox="1"/>
          <p:nvPr/>
        </p:nvSpPr>
        <p:spPr>
          <a:xfrm rot="18000000">
            <a:off x="11403237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gap3</a:t>
            </a:r>
          </a:p>
        </p:txBody>
      </p:sp>
      <p:sp>
        <p:nvSpPr>
          <p:cNvPr id="32" name="TextBox 31"/>
          <p:cNvSpPr txBox="1"/>
          <p:nvPr/>
        </p:nvSpPr>
        <p:spPr>
          <a:xfrm rot="18000000">
            <a:off x="11762306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mfs</a:t>
            </a:r>
          </a:p>
        </p:txBody>
      </p:sp>
      <p:sp>
        <p:nvSpPr>
          <p:cNvPr id="33" name="TextBox 32"/>
          <p:cNvSpPr txBox="1"/>
          <p:nvPr/>
        </p:nvSpPr>
        <p:spPr>
          <a:xfrm rot="18000000">
            <a:off x="12121375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phnD</a:t>
            </a:r>
          </a:p>
        </p:txBody>
      </p:sp>
      <p:sp>
        <p:nvSpPr>
          <p:cNvPr id="34" name="TextBox 33"/>
          <p:cNvSpPr txBox="1"/>
          <p:nvPr/>
        </p:nvSpPr>
        <p:spPr>
          <a:xfrm rot="18000000">
            <a:off x="12480444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phoA</a:t>
            </a:r>
          </a:p>
        </p:txBody>
      </p:sp>
      <p:sp>
        <p:nvSpPr>
          <p:cNvPr id="35" name="TextBox 34"/>
          <p:cNvSpPr txBox="1"/>
          <p:nvPr/>
        </p:nvSpPr>
        <p:spPr>
          <a:xfrm rot="18000000">
            <a:off x="12839514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phoB</a:t>
            </a:r>
          </a:p>
        </p:txBody>
      </p:sp>
      <p:sp>
        <p:nvSpPr>
          <p:cNvPr id="36" name="TextBox 35"/>
          <p:cNvSpPr txBox="1"/>
          <p:nvPr/>
        </p:nvSpPr>
        <p:spPr>
          <a:xfrm rot="18000000">
            <a:off x="13198583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phoE</a:t>
            </a:r>
          </a:p>
        </p:txBody>
      </p:sp>
      <p:sp>
        <p:nvSpPr>
          <p:cNvPr id="37" name="TextBox 36"/>
          <p:cNvSpPr txBox="1"/>
          <p:nvPr/>
        </p:nvSpPr>
        <p:spPr>
          <a:xfrm rot="18000000">
            <a:off x="13557652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phoR</a:t>
            </a:r>
          </a:p>
        </p:txBody>
      </p:sp>
      <p:sp>
        <p:nvSpPr>
          <p:cNvPr id="38" name="TextBox 37"/>
          <p:cNvSpPr txBox="1"/>
          <p:nvPr/>
        </p:nvSpPr>
        <p:spPr>
          <a:xfrm rot="18000000">
            <a:off x="13916721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ppA</a:t>
            </a:r>
          </a:p>
        </p:txBody>
      </p:sp>
      <p:sp>
        <p:nvSpPr>
          <p:cNvPr id="39" name="TextBox 38"/>
          <p:cNvSpPr txBox="1"/>
          <p:nvPr/>
        </p:nvSpPr>
        <p:spPr>
          <a:xfrm rot="18000000">
            <a:off x="14275791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ppX</a:t>
            </a:r>
          </a:p>
        </p:txBody>
      </p:sp>
      <p:sp>
        <p:nvSpPr>
          <p:cNvPr id="40" name="TextBox 39"/>
          <p:cNvSpPr txBox="1"/>
          <p:nvPr/>
        </p:nvSpPr>
        <p:spPr>
          <a:xfrm rot="18000000">
            <a:off x="14634860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pstA</a:t>
            </a:r>
          </a:p>
        </p:txBody>
      </p:sp>
      <p:sp>
        <p:nvSpPr>
          <p:cNvPr id="41" name="TextBox 40"/>
          <p:cNvSpPr txBox="1"/>
          <p:nvPr/>
        </p:nvSpPr>
        <p:spPr>
          <a:xfrm rot="18000000">
            <a:off x="14993929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pstB</a:t>
            </a:r>
          </a:p>
        </p:txBody>
      </p:sp>
      <p:sp>
        <p:nvSpPr>
          <p:cNvPr id="42" name="TextBox 41"/>
          <p:cNvSpPr txBox="1"/>
          <p:nvPr/>
        </p:nvSpPr>
        <p:spPr>
          <a:xfrm rot="18000000">
            <a:off x="15352999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pstC</a:t>
            </a:r>
          </a:p>
        </p:txBody>
      </p:sp>
      <p:sp>
        <p:nvSpPr>
          <p:cNvPr id="43" name="TextBox 42"/>
          <p:cNvSpPr txBox="1"/>
          <p:nvPr/>
        </p:nvSpPr>
        <p:spPr>
          <a:xfrm rot="18000000">
            <a:off x="15712068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pstS</a:t>
            </a:r>
          </a:p>
        </p:txBody>
      </p:sp>
      <p:sp>
        <p:nvSpPr>
          <p:cNvPr id="44" name="TextBox 43"/>
          <p:cNvSpPr txBox="1"/>
          <p:nvPr/>
        </p:nvSpPr>
        <p:spPr>
          <a:xfrm rot="18000000">
            <a:off x="16071137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ptrA</a:t>
            </a:r>
          </a:p>
        </p:txBody>
      </p:sp>
      <p:sp>
        <p:nvSpPr>
          <p:cNvPr id="45" name="TextBox 44"/>
          <p:cNvSpPr txBox="1"/>
          <p:nvPr/>
        </p:nvSpPr>
        <p:spPr>
          <a:xfrm rot="18000000">
            <a:off x="16430206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sqdB</a:t>
            </a:r>
          </a:p>
        </p:txBody>
      </p:sp>
      <p:sp>
        <p:nvSpPr>
          <p:cNvPr id="46" name="TextBox 45"/>
          <p:cNvSpPr txBox="1"/>
          <p:nvPr/>
        </p:nvSpPr>
        <p:spPr>
          <a:xfrm rot="18000000">
            <a:off x="16789276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unkP2</a:t>
            </a:r>
          </a:p>
        </p:txBody>
      </p:sp>
      <p:sp>
        <p:nvSpPr>
          <p:cNvPr id="47" name="TextBox 46"/>
          <p:cNvSpPr txBox="1"/>
          <p:nvPr/>
        </p:nvSpPr>
        <p:spPr>
          <a:xfrm rot="18000000">
            <a:off x="17148345" y="841248"/>
            <a:ext cx="13716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34948"/>
                </a:solidFill>
                <a:latin typeface="Consolas"/>
              </a:rPr>
              <a:t>unkP5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" y="192024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N: Weissberg — Proteomics (MED4)</a:t>
            </a:r>
          </a:p>
        </p:txBody>
      </p:sp>
      <p:sp>
        <p:nvSpPr>
          <p:cNvPr id="49" name="cell|N: Weissberg — Proteomics (MED4)|amtB/amt1|ns"/>
          <p:cNvSpPr/>
          <p:nvPr/>
        </p:nvSpPr>
        <p:spPr>
          <a:xfrm>
            <a:off x="3291840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ell|N: Weissberg — Proteomics (MED4)|cynA|up"/>
          <p:cNvSpPr/>
          <p:nvPr/>
        </p:nvSpPr>
        <p:spPr>
          <a:xfrm>
            <a:off x="3650909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|N: Weissberg — Proteomics (MED4)|cynB|ns"/>
          <p:cNvSpPr/>
          <p:nvPr/>
        </p:nvSpPr>
        <p:spPr>
          <a:xfrm>
            <a:off x="4009978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ell|N: Weissberg — Proteomics (MED4)|cynD|up"/>
          <p:cNvSpPr/>
          <p:nvPr/>
        </p:nvSpPr>
        <p:spPr>
          <a:xfrm>
            <a:off x="4369047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ell|N: Weissberg — Proteomics (MED4)|cynS|up"/>
          <p:cNvSpPr/>
          <p:nvPr/>
        </p:nvSpPr>
        <p:spPr>
          <a:xfrm>
            <a:off x="4728117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ell|N: Weissberg — Proteomics (MED4)|focA|absent"/>
          <p:cNvSpPr/>
          <p:nvPr/>
        </p:nvSpPr>
        <p:spPr>
          <a:xfrm>
            <a:off x="5087186" y="192024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ell|N: Weissberg — Proteomics (MED4)|glnA|up"/>
          <p:cNvSpPr/>
          <p:nvPr/>
        </p:nvSpPr>
        <p:spPr>
          <a:xfrm>
            <a:off x="5446255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ell|N: Weissberg — Proteomics (MED4)|glsF|ns"/>
          <p:cNvSpPr/>
          <p:nvPr/>
        </p:nvSpPr>
        <p:spPr>
          <a:xfrm>
            <a:off x="5805324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ell|N: Weissberg — Proteomics (MED4)|nirA|absent"/>
          <p:cNvSpPr/>
          <p:nvPr/>
        </p:nvSpPr>
        <p:spPr>
          <a:xfrm>
            <a:off x="6164394" y="192024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ell|N: Weissberg — Proteomics (MED4)|nirX|absent"/>
          <p:cNvSpPr/>
          <p:nvPr/>
        </p:nvSpPr>
        <p:spPr>
          <a:xfrm>
            <a:off x="6523463" y="192024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ell|N: Weissberg — Proteomics (MED4)|ntcA|up"/>
          <p:cNvSpPr/>
          <p:nvPr/>
        </p:nvSpPr>
        <p:spPr>
          <a:xfrm>
            <a:off x="6882532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ell|N: Weissberg — Proteomics (MED4)|pipX|up"/>
          <p:cNvSpPr/>
          <p:nvPr/>
        </p:nvSpPr>
        <p:spPr>
          <a:xfrm>
            <a:off x="7241601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ell|N: Weissberg — Proteomics (MED4)|ureA|up"/>
          <p:cNvSpPr/>
          <p:nvPr/>
        </p:nvSpPr>
        <p:spPr>
          <a:xfrm>
            <a:off x="7600671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ell|N: Weissberg — Proteomics (MED4)|ureB|ns"/>
          <p:cNvSpPr/>
          <p:nvPr/>
        </p:nvSpPr>
        <p:spPr>
          <a:xfrm>
            <a:off x="7959740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ell|N: Weissberg — Proteomics (MED4)|ureC|ns"/>
          <p:cNvSpPr/>
          <p:nvPr/>
        </p:nvSpPr>
        <p:spPr>
          <a:xfrm>
            <a:off x="8318809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ell|N: Weissberg — Proteomics (MED4)|ureG|ns"/>
          <p:cNvSpPr/>
          <p:nvPr/>
        </p:nvSpPr>
        <p:spPr>
          <a:xfrm>
            <a:off x="8677879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ell|N: Weissberg — Proteomics (MED4)|urtA|ns"/>
          <p:cNvSpPr/>
          <p:nvPr/>
        </p:nvSpPr>
        <p:spPr>
          <a:xfrm>
            <a:off x="9036948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ell|N: Weissberg — Proteomics (MED4)|urtD|ns"/>
          <p:cNvSpPr/>
          <p:nvPr/>
        </p:nvSpPr>
        <p:spPr>
          <a:xfrm>
            <a:off x="9396017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ell|N: Weissberg — Proteomics (MED4)|urtE|ns"/>
          <p:cNvSpPr/>
          <p:nvPr/>
        </p:nvSpPr>
        <p:spPr>
          <a:xfrm>
            <a:off x="9755086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ell|N: Weissberg — Proteomics (MED4)|PMM707|nodata"/>
          <p:cNvSpPr/>
          <p:nvPr/>
        </p:nvSpPr>
        <p:spPr>
          <a:xfrm>
            <a:off x="10114156" y="192024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ell|N: Weissberg — Proteomics (MED4)|PMM719|up"/>
          <p:cNvSpPr/>
          <p:nvPr/>
        </p:nvSpPr>
        <p:spPr>
          <a:xfrm>
            <a:off x="10473225" y="192024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ell|N: Weissberg — Proteomics (MED4)|PMM721|ns"/>
          <p:cNvSpPr/>
          <p:nvPr/>
        </p:nvSpPr>
        <p:spPr>
          <a:xfrm>
            <a:off x="10832294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ell|N: Weissberg — Proteomics (MED4)|PsiP1|ns"/>
          <p:cNvSpPr/>
          <p:nvPr/>
        </p:nvSpPr>
        <p:spPr>
          <a:xfrm>
            <a:off x="11191363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ell|N: Weissberg — Proteomics (MED4)|arsR|nodata"/>
          <p:cNvSpPr/>
          <p:nvPr/>
        </p:nvSpPr>
        <p:spPr>
          <a:xfrm>
            <a:off x="11550433" y="192024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ell|N: Weissberg — Proteomics (MED4)|gap3|ns"/>
          <p:cNvSpPr/>
          <p:nvPr/>
        </p:nvSpPr>
        <p:spPr>
          <a:xfrm>
            <a:off x="11909502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cell|N: Weissberg — Proteomics (MED4)|mfs|ns"/>
          <p:cNvSpPr/>
          <p:nvPr/>
        </p:nvSpPr>
        <p:spPr>
          <a:xfrm>
            <a:off x="12268571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cell|N: Weissberg — Proteomics (MED4)|phnD|down"/>
          <p:cNvSpPr/>
          <p:nvPr/>
        </p:nvSpPr>
        <p:spPr>
          <a:xfrm>
            <a:off x="12627640" y="192024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ell|N: Weissberg — Proteomics (MED4)|phoA|ns"/>
          <p:cNvSpPr/>
          <p:nvPr/>
        </p:nvSpPr>
        <p:spPr>
          <a:xfrm>
            <a:off x="12986710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ell|N: Weissberg — Proteomics (MED4)|phoB|ns"/>
          <p:cNvSpPr/>
          <p:nvPr/>
        </p:nvSpPr>
        <p:spPr>
          <a:xfrm>
            <a:off x="13345779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ell|N: Weissberg — Proteomics (MED4)|phoE|ns"/>
          <p:cNvSpPr/>
          <p:nvPr/>
        </p:nvSpPr>
        <p:spPr>
          <a:xfrm>
            <a:off x="13704848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ell|N: Weissberg — Proteomics (MED4)|phoR|ns"/>
          <p:cNvSpPr/>
          <p:nvPr/>
        </p:nvSpPr>
        <p:spPr>
          <a:xfrm>
            <a:off x="14063918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cell|N: Weissberg — Proteomics (MED4)|ppA|ns"/>
          <p:cNvSpPr/>
          <p:nvPr/>
        </p:nvSpPr>
        <p:spPr>
          <a:xfrm>
            <a:off x="14422987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ell|N: Weissberg — Proteomics (MED4)|ppX|ns"/>
          <p:cNvSpPr/>
          <p:nvPr/>
        </p:nvSpPr>
        <p:spPr>
          <a:xfrm>
            <a:off x="14782056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cell|N: Weissberg — Proteomics (MED4)|pstA|ns"/>
          <p:cNvSpPr/>
          <p:nvPr/>
        </p:nvSpPr>
        <p:spPr>
          <a:xfrm>
            <a:off x="15141125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cell|N: Weissberg — Proteomics (MED4)|pstB|ns"/>
          <p:cNvSpPr/>
          <p:nvPr/>
        </p:nvSpPr>
        <p:spPr>
          <a:xfrm>
            <a:off x="15500195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ell|N: Weissberg — Proteomics (MED4)|pstC|ns"/>
          <p:cNvSpPr/>
          <p:nvPr/>
        </p:nvSpPr>
        <p:spPr>
          <a:xfrm>
            <a:off x="15859264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cell|N: Weissberg — Proteomics (MED4)|pstS|ns"/>
          <p:cNvSpPr/>
          <p:nvPr/>
        </p:nvSpPr>
        <p:spPr>
          <a:xfrm>
            <a:off x="16218333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ell|N: Weissberg — Proteomics (MED4)|ptrA|nodata"/>
          <p:cNvSpPr/>
          <p:nvPr/>
        </p:nvSpPr>
        <p:spPr>
          <a:xfrm>
            <a:off x="16577402" y="192024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ell|N: Weissberg — Proteomics (MED4)|sqdB|ns"/>
          <p:cNvSpPr/>
          <p:nvPr/>
        </p:nvSpPr>
        <p:spPr>
          <a:xfrm>
            <a:off x="16936472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cell|N: Weissberg — Proteomics (MED4)|unkP2|ns"/>
          <p:cNvSpPr/>
          <p:nvPr/>
        </p:nvSpPr>
        <p:spPr>
          <a:xfrm>
            <a:off x="17295541" y="192024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cell|N: Weissberg — Proteomics (MED4)|unkP5|nodata"/>
          <p:cNvSpPr/>
          <p:nvPr/>
        </p:nvSpPr>
        <p:spPr>
          <a:xfrm>
            <a:off x="17654610" y="192024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82880" y="228600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N: Weissberg — RNA-seq (MED4)</a:t>
            </a:r>
          </a:p>
        </p:txBody>
      </p:sp>
      <p:sp>
        <p:nvSpPr>
          <p:cNvPr id="91" name="cell|N: Weissberg — RNA-seq (MED4)|amtB/amt1|up"/>
          <p:cNvSpPr/>
          <p:nvPr/>
        </p:nvSpPr>
        <p:spPr>
          <a:xfrm>
            <a:off x="3291840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cell|N: Weissberg — RNA-seq (MED4)|cynA|up"/>
          <p:cNvSpPr/>
          <p:nvPr/>
        </p:nvSpPr>
        <p:spPr>
          <a:xfrm>
            <a:off x="3650909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cell|N: Weissberg — RNA-seq (MED4)|cynB|up"/>
          <p:cNvSpPr/>
          <p:nvPr/>
        </p:nvSpPr>
        <p:spPr>
          <a:xfrm>
            <a:off x="4009978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cell|N: Weissberg — RNA-seq (MED4)|cynD|up"/>
          <p:cNvSpPr/>
          <p:nvPr/>
        </p:nvSpPr>
        <p:spPr>
          <a:xfrm>
            <a:off x="4369047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cell|N: Weissberg — RNA-seq (MED4)|cynS|ns"/>
          <p:cNvSpPr/>
          <p:nvPr/>
        </p:nvSpPr>
        <p:spPr>
          <a:xfrm>
            <a:off x="4728117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cell|N: Weissberg — RNA-seq (MED4)|focA|absent"/>
          <p:cNvSpPr/>
          <p:nvPr/>
        </p:nvSpPr>
        <p:spPr>
          <a:xfrm>
            <a:off x="5087186" y="22860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cell|N: Weissberg — RNA-seq (MED4)|glnA|up"/>
          <p:cNvSpPr/>
          <p:nvPr/>
        </p:nvSpPr>
        <p:spPr>
          <a:xfrm>
            <a:off x="5446255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cell|N: Weissberg — RNA-seq (MED4)|glsF|up"/>
          <p:cNvSpPr/>
          <p:nvPr/>
        </p:nvSpPr>
        <p:spPr>
          <a:xfrm>
            <a:off x="5805324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cell|N: Weissberg — RNA-seq (MED4)|nirA|absent"/>
          <p:cNvSpPr/>
          <p:nvPr/>
        </p:nvSpPr>
        <p:spPr>
          <a:xfrm>
            <a:off x="6164394" y="22860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cell|N: Weissberg — RNA-seq (MED4)|nirX|absent"/>
          <p:cNvSpPr/>
          <p:nvPr/>
        </p:nvSpPr>
        <p:spPr>
          <a:xfrm>
            <a:off x="6523463" y="22860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ell|N: Weissberg — RNA-seq (MED4)|ntcA|up"/>
          <p:cNvSpPr/>
          <p:nvPr/>
        </p:nvSpPr>
        <p:spPr>
          <a:xfrm>
            <a:off x="6882532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cell|N: Weissberg — RNA-seq (MED4)|pipX|ns"/>
          <p:cNvSpPr/>
          <p:nvPr/>
        </p:nvSpPr>
        <p:spPr>
          <a:xfrm>
            <a:off x="7241601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cell|N: Weissberg — RNA-seq (MED4)|ureA|up"/>
          <p:cNvSpPr/>
          <p:nvPr/>
        </p:nvSpPr>
        <p:spPr>
          <a:xfrm>
            <a:off x="7600671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ell|N: Weissberg — RNA-seq (MED4)|ureB|up"/>
          <p:cNvSpPr/>
          <p:nvPr/>
        </p:nvSpPr>
        <p:spPr>
          <a:xfrm>
            <a:off x="7959740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cell|N: Weissberg — RNA-seq (MED4)|ureC|up"/>
          <p:cNvSpPr/>
          <p:nvPr/>
        </p:nvSpPr>
        <p:spPr>
          <a:xfrm>
            <a:off x="8318809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cell|N: Weissberg — RNA-seq (MED4)|ureG|ns"/>
          <p:cNvSpPr/>
          <p:nvPr/>
        </p:nvSpPr>
        <p:spPr>
          <a:xfrm>
            <a:off x="8677879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cell|N: Weissberg — RNA-seq (MED4)|urtA|up"/>
          <p:cNvSpPr/>
          <p:nvPr/>
        </p:nvSpPr>
        <p:spPr>
          <a:xfrm>
            <a:off x="9036948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cell|N: Weissberg — RNA-seq (MED4)|urtD|up"/>
          <p:cNvSpPr/>
          <p:nvPr/>
        </p:nvSpPr>
        <p:spPr>
          <a:xfrm>
            <a:off x="9396017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cell|N: Weissberg — RNA-seq (MED4)|urtE|up"/>
          <p:cNvSpPr/>
          <p:nvPr/>
        </p:nvSpPr>
        <p:spPr>
          <a:xfrm>
            <a:off x="9755086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cell|N: Weissberg — RNA-seq (MED4)|PMM707|up"/>
          <p:cNvSpPr/>
          <p:nvPr/>
        </p:nvSpPr>
        <p:spPr>
          <a:xfrm>
            <a:off x="10114156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cell|N: Weissberg — RNA-seq (MED4)|PMM719|up"/>
          <p:cNvSpPr/>
          <p:nvPr/>
        </p:nvSpPr>
        <p:spPr>
          <a:xfrm>
            <a:off x="10473225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cell|N: Weissberg — RNA-seq (MED4)|PMM721|up"/>
          <p:cNvSpPr/>
          <p:nvPr/>
        </p:nvSpPr>
        <p:spPr>
          <a:xfrm>
            <a:off x="10832294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cell|N: Weissberg — RNA-seq (MED4)|PsiP1|up"/>
          <p:cNvSpPr/>
          <p:nvPr/>
        </p:nvSpPr>
        <p:spPr>
          <a:xfrm>
            <a:off x="11191363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ell|N: Weissberg — RNA-seq (MED4)|arsR|up"/>
          <p:cNvSpPr/>
          <p:nvPr/>
        </p:nvSpPr>
        <p:spPr>
          <a:xfrm>
            <a:off x="11550433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cell|N: Weissberg — RNA-seq (MED4)|gap3|ns"/>
          <p:cNvSpPr/>
          <p:nvPr/>
        </p:nvSpPr>
        <p:spPr>
          <a:xfrm>
            <a:off x="11909502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ell|N: Weissberg — RNA-seq (MED4)|mfs|ns"/>
          <p:cNvSpPr/>
          <p:nvPr/>
        </p:nvSpPr>
        <p:spPr>
          <a:xfrm>
            <a:off x="12268571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cell|N: Weissberg — RNA-seq (MED4)|phnD|down"/>
          <p:cNvSpPr/>
          <p:nvPr/>
        </p:nvSpPr>
        <p:spPr>
          <a:xfrm>
            <a:off x="12627640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ell|N: Weissberg — RNA-seq (MED4)|phoA|ns"/>
          <p:cNvSpPr/>
          <p:nvPr/>
        </p:nvSpPr>
        <p:spPr>
          <a:xfrm>
            <a:off x="12986710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cell|N: Weissberg — RNA-seq (MED4)|phoB|down"/>
          <p:cNvSpPr/>
          <p:nvPr/>
        </p:nvSpPr>
        <p:spPr>
          <a:xfrm>
            <a:off x="13345779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ell|N: Weissberg — RNA-seq (MED4)|phoE|up"/>
          <p:cNvSpPr/>
          <p:nvPr/>
        </p:nvSpPr>
        <p:spPr>
          <a:xfrm>
            <a:off x="13704848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cell|N: Weissberg — RNA-seq (MED4)|phoR|ns"/>
          <p:cNvSpPr/>
          <p:nvPr/>
        </p:nvSpPr>
        <p:spPr>
          <a:xfrm>
            <a:off x="14063918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ell|N: Weissberg — RNA-seq (MED4)|ppA|down"/>
          <p:cNvSpPr/>
          <p:nvPr/>
        </p:nvSpPr>
        <p:spPr>
          <a:xfrm>
            <a:off x="14422987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cell|N: Weissberg — RNA-seq (MED4)|ppX|down"/>
          <p:cNvSpPr/>
          <p:nvPr/>
        </p:nvSpPr>
        <p:spPr>
          <a:xfrm>
            <a:off x="14782056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cell|N: Weissberg — RNA-seq (MED4)|pstA|ns"/>
          <p:cNvSpPr/>
          <p:nvPr/>
        </p:nvSpPr>
        <p:spPr>
          <a:xfrm>
            <a:off x="15141125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cell|N: Weissberg — RNA-seq (MED4)|pstB|ns"/>
          <p:cNvSpPr/>
          <p:nvPr/>
        </p:nvSpPr>
        <p:spPr>
          <a:xfrm>
            <a:off x="15500195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cell|N: Weissberg — RNA-seq (MED4)|pstC|up"/>
          <p:cNvSpPr/>
          <p:nvPr/>
        </p:nvSpPr>
        <p:spPr>
          <a:xfrm>
            <a:off x="15859264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cell|N: Weissberg — RNA-seq (MED4)|pstS|down"/>
          <p:cNvSpPr/>
          <p:nvPr/>
        </p:nvSpPr>
        <p:spPr>
          <a:xfrm>
            <a:off x="16218333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cell|N: Weissberg — RNA-seq (MED4)|ptrA|ns"/>
          <p:cNvSpPr/>
          <p:nvPr/>
        </p:nvSpPr>
        <p:spPr>
          <a:xfrm>
            <a:off x="16577402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ell|N: Weissberg — RNA-seq (MED4)|sqdB|down"/>
          <p:cNvSpPr/>
          <p:nvPr/>
        </p:nvSpPr>
        <p:spPr>
          <a:xfrm>
            <a:off x="16936472" y="228600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cell|N: Weissberg — RNA-seq (MED4)|unkP2|up"/>
          <p:cNvSpPr/>
          <p:nvPr/>
        </p:nvSpPr>
        <p:spPr>
          <a:xfrm>
            <a:off x="17295541" y="22860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cell|N: Weissberg — RNA-seq (MED4)|unkP5|ns"/>
          <p:cNvSpPr/>
          <p:nvPr/>
        </p:nvSpPr>
        <p:spPr>
          <a:xfrm>
            <a:off x="17654610" y="228600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82880" y="265176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N: Read — RNA-seq (MED4)</a:t>
            </a:r>
          </a:p>
        </p:txBody>
      </p:sp>
      <p:sp>
        <p:nvSpPr>
          <p:cNvPr id="133" name="cell|N: Read — RNA-seq (MED4)|amtB/amt1|ns"/>
          <p:cNvSpPr/>
          <p:nvPr/>
        </p:nvSpPr>
        <p:spPr>
          <a:xfrm>
            <a:off x="3291840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ell|N: Read — RNA-seq (MED4)|cynA|up"/>
          <p:cNvSpPr/>
          <p:nvPr/>
        </p:nvSpPr>
        <p:spPr>
          <a:xfrm>
            <a:off x="3650909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ell|N: Read — RNA-seq (MED4)|cynB|up"/>
          <p:cNvSpPr/>
          <p:nvPr/>
        </p:nvSpPr>
        <p:spPr>
          <a:xfrm>
            <a:off x="4009978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ell|N: Read — RNA-seq (MED4)|cynD|nodata"/>
          <p:cNvSpPr/>
          <p:nvPr/>
        </p:nvSpPr>
        <p:spPr>
          <a:xfrm>
            <a:off x="4369047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cell|N: Read — RNA-seq (MED4)|cynS|ns"/>
          <p:cNvSpPr/>
          <p:nvPr/>
        </p:nvSpPr>
        <p:spPr>
          <a:xfrm>
            <a:off x="4728117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ell|N: Read — RNA-seq (MED4)|focA|absent"/>
          <p:cNvSpPr/>
          <p:nvPr/>
        </p:nvSpPr>
        <p:spPr>
          <a:xfrm>
            <a:off x="5087186" y="26517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cell|N: Read — RNA-seq (MED4)|glnA|up"/>
          <p:cNvSpPr/>
          <p:nvPr/>
        </p:nvSpPr>
        <p:spPr>
          <a:xfrm>
            <a:off x="5446255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cell|N: Read — RNA-seq (MED4)|glsF|ns"/>
          <p:cNvSpPr/>
          <p:nvPr/>
        </p:nvSpPr>
        <p:spPr>
          <a:xfrm>
            <a:off x="5805324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ell|N: Read — RNA-seq (MED4)|nirA|absent"/>
          <p:cNvSpPr/>
          <p:nvPr/>
        </p:nvSpPr>
        <p:spPr>
          <a:xfrm>
            <a:off x="6164394" y="26517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cell|N: Read — RNA-seq (MED4)|nirX|absent"/>
          <p:cNvSpPr/>
          <p:nvPr/>
        </p:nvSpPr>
        <p:spPr>
          <a:xfrm>
            <a:off x="6523463" y="26517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cell|N: Read — RNA-seq (MED4)|ntcA|up"/>
          <p:cNvSpPr/>
          <p:nvPr/>
        </p:nvSpPr>
        <p:spPr>
          <a:xfrm>
            <a:off x="6882532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cell|N: Read — RNA-seq (MED4)|pipX|nodata"/>
          <p:cNvSpPr/>
          <p:nvPr/>
        </p:nvSpPr>
        <p:spPr>
          <a:xfrm>
            <a:off x="7241601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cell|N: Read — RNA-seq (MED4)|ureA|up"/>
          <p:cNvSpPr/>
          <p:nvPr/>
        </p:nvSpPr>
        <p:spPr>
          <a:xfrm>
            <a:off x="7600671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cell|N: Read — RNA-seq (MED4)|ureB|up"/>
          <p:cNvSpPr/>
          <p:nvPr/>
        </p:nvSpPr>
        <p:spPr>
          <a:xfrm>
            <a:off x="7959740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cell|N: Read — RNA-seq (MED4)|ureC|up"/>
          <p:cNvSpPr/>
          <p:nvPr/>
        </p:nvSpPr>
        <p:spPr>
          <a:xfrm>
            <a:off x="8318809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cell|N: Read — RNA-seq (MED4)|ureG|up"/>
          <p:cNvSpPr/>
          <p:nvPr/>
        </p:nvSpPr>
        <p:spPr>
          <a:xfrm>
            <a:off x="8677879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cell|N: Read — RNA-seq (MED4)|urtA|up"/>
          <p:cNvSpPr/>
          <p:nvPr/>
        </p:nvSpPr>
        <p:spPr>
          <a:xfrm>
            <a:off x="9036948" y="265176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cell|N: Read — RNA-seq (MED4)|urtD|nodata"/>
          <p:cNvSpPr/>
          <p:nvPr/>
        </p:nvSpPr>
        <p:spPr>
          <a:xfrm>
            <a:off x="9396017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cell|N: Read — RNA-seq (MED4)|urtE|ns"/>
          <p:cNvSpPr/>
          <p:nvPr/>
        </p:nvSpPr>
        <p:spPr>
          <a:xfrm>
            <a:off x="9755086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cell|N: Read — RNA-seq (MED4)|PMM707|ns"/>
          <p:cNvSpPr/>
          <p:nvPr/>
        </p:nvSpPr>
        <p:spPr>
          <a:xfrm>
            <a:off x="10114156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cell|N: Read — RNA-seq (MED4)|PMM719|ns"/>
          <p:cNvSpPr/>
          <p:nvPr/>
        </p:nvSpPr>
        <p:spPr>
          <a:xfrm>
            <a:off x="10473225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cell|N: Read — RNA-seq (MED4)|PMM721|nodata"/>
          <p:cNvSpPr/>
          <p:nvPr/>
        </p:nvSpPr>
        <p:spPr>
          <a:xfrm>
            <a:off x="10832294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cell|N: Read — RNA-seq (MED4)|PsiP1|ns"/>
          <p:cNvSpPr/>
          <p:nvPr/>
        </p:nvSpPr>
        <p:spPr>
          <a:xfrm>
            <a:off x="11191363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cell|N: Read — RNA-seq (MED4)|arsR|ns"/>
          <p:cNvSpPr/>
          <p:nvPr/>
        </p:nvSpPr>
        <p:spPr>
          <a:xfrm>
            <a:off x="11550433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cell|N: Read — RNA-seq (MED4)|gap3|nodata"/>
          <p:cNvSpPr/>
          <p:nvPr/>
        </p:nvSpPr>
        <p:spPr>
          <a:xfrm>
            <a:off x="11909502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cell|N: Read — RNA-seq (MED4)|mfs|nodata"/>
          <p:cNvSpPr/>
          <p:nvPr/>
        </p:nvSpPr>
        <p:spPr>
          <a:xfrm>
            <a:off x="12268571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cell|N: Read — RNA-seq (MED4)|phnD|nodata"/>
          <p:cNvSpPr/>
          <p:nvPr/>
        </p:nvSpPr>
        <p:spPr>
          <a:xfrm>
            <a:off x="12627640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cell|N: Read — RNA-seq (MED4)|phoA|ns"/>
          <p:cNvSpPr/>
          <p:nvPr/>
        </p:nvSpPr>
        <p:spPr>
          <a:xfrm>
            <a:off x="12986710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ell|N: Read — RNA-seq (MED4)|phoB|ns"/>
          <p:cNvSpPr/>
          <p:nvPr/>
        </p:nvSpPr>
        <p:spPr>
          <a:xfrm>
            <a:off x="13345779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cell|N: Read — RNA-seq (MED4)|phoE|ns"/>
          <p:cNvSpPr/>
          <p:nvPr/>
        </p:nvSpPr>
        <p:spPr>
          <a:xfrm>
            <a:off x="13704848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cell|N: Read — RNA-seq (MED4)|phoR|nodata"/>
          <p:cNvSpPr/>
          <p:nvPr/>
        </p:nvSpPr>
        <p:spPr>
          <a:xfrm>
            <a:off x="14063918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cell|N: Read — RNA-seq (MED4)|ppA|down"/>
          <p:cNvSpPr/>
          <p:nvPr/>
        </p:nvSpPr>
        <p:spPr>
          <a:xfrm>
            <a:off x="14422987" y="26517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cell|N: Read — RNA-seq (MED4)|ppX|nodata"/>
          <p:cNvSpPr/>
          <p:nvPr/>
        </p:nvSpPr>
        <p:spPr>
          <a:xfrm>
            <a:off x="14782056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cell|N: Read — RNA-seq (MED4)|pstA|nodata"/>
          <p:cNvSpPr/>
          <p:nvPr/>
        </p:nvSpPr>
        <p:spPr>
          <a:xfrm>
            <a:off x="15141125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cell|N: Read — RNA-seq (MED4)|pstB|ns"/>
          <p:cNvSpPr/>
          <p:nvPr/>
        </p:nvSpPr>
        <p:spPr>
          <a:xfrm>
            <a:off x="15500195" y="265176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cell|N: Read — RNA-seq (MED4)|pstC|nodata"/>
          <p:cNvSpPr/>
          <p:nvPr/>
        </p:nvSpPr>
        <p:spPr>
          <a:xfrm>
            <a:off x="15859264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cell|N: Read — RNA-seq (MED4)|pstS|down"/>
          <p:cNvSpPr/>
          <p:nvPr/>
        </p:nvSpPr>
        <p:spPr>
          <a:xfrm>
            <a:off x="16218333" y="26517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cell|N: Read — RNA-seq (MED4)|ptrA|nodata"/>
          <p:cNvSpPr/>
          <p:nvPr/>
        </p:nvSpPr>
        <p:spPr>
          <a:xfrm>
            <a:off x="16577402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cell|N: Read — RNA-seq (MED4)|sqdB|down"/>
          <p:cNvSpPr/>
          <p:nvPr/>
        </p:nvSpPr>
        <p:spPr>
          <a:xfrm>
            <a:off x="16936472" y="26517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cell|N: Read — RNA-seq (MED4)|unkP2|nodata"/>
          <p:cNvSpPr/>
          <p:nvPr/>
        </p:nvSpPr>
        <p:spPr>
          <a:xfrm>
            <a:off x="17295541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cell|N: Read — RNA-seq (MED4)|unkP5|nodata"/>
          <p:cNvSpPr/>
          <p:nvPr/>
        </p:nvSpPr>
        <p:spPr>
          <a:xfrm>
            <a:off x="17654610" y="26517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82880" y="301752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N: Tolonen — Microarray (MED4)</a:t>
            </a:r>
          </a:p>
        </p:txBody>
      </p:sp>
      <p:sp>
        <p:nvSpPr>
          <p:cNvPr id="175" name="cell|N: Tolonen — Microarray (MED4)|amtB/amt1|ns"/>
          <p:cNvSpPr/>
          <p:nvPr/>
        </p:nvSpPr>
        <p:spPr>
          <a:xfrm>
            <a:off x="3291840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cell|N: Tolonen — Microarray (MED4)|cynA|up"/>
          <p:cNvSpPr/>
          <p:nvPr/>
        </p:nvSpPr>
        <p:spPr>
          <a:xfrm>
            <a:off x="3650909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cell|N: Tolonen — Microarray (MED4)|cynB|up"/>
          <p:cNvSpPr/>
          <p:nvPr/>
        </p:nvSpPr>
        <p:spPr>
          <a:xfrm>
            <a:off x="4009978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cell|N: Tolonen — Microarray (MED4)|cynD|up"/>
          <p:cNvSpPr/>
          <p:nvPr/>
        </p:nvSpPr>
        <p:spPr>
          <a:xfrm>
            <a:off x="4369047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cell|N: Tolonen — Microarray (MED4)|cynS|ns"/>
          <p:cNvSpPr/>
          <p:nvPr/>
        </p:nvSpPr>
        <p:spPr>
          <a:xfrm>
            <a:off x="4728117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cell|N: Tolonen — Microarray (MED4)|focA|absent"/>
          <p:cNvSpPr/>
          <p:nvPr/>
        </p:nvSpPr>
        <p:spPr>
          <a:xfrm>
            <a:off x="5087186" y="30175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cell|N: Tolonen — Microarray (MED4)|glnA|up"/>
          <p:cNvSpPr/>
          <p:nvPr/>
        </p:nvSpPr>
        <p:spPr>
          <a:xfrm>
            <a:off x="5446255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cell|N: Tolonen — Microarray (MED4)|glsF|up"/>
          <p:cNvSpPr/>
          <p:nvPr/>
        </p:nvSpPr>
        <p:spPr>
          <a:xfrm>
            <a:off x="5805324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cell|N: Tolonen — Microarray (MED4)|nirA|absent"/>
          <p:cNvSpPr/>
          <p:nvPr/>
        </p:nvSpPr>
        <p:spPr>
          <a:xfrm>
            <a:off x="6164394" y="30175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cell|N: Tolonen — Microarray (MED4)|nirX|absent"/>
          <p:cNvSpPr/>
          <p:nvPr/>
        </p:nvSpPr>
        <p:spPr>
          <a:xfrm>
            <a:off x="6523463" y="30175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cell|N: Tolonen — Microarray (MED4)|ntcA|up"/>
          <p:cNvSpPr/>
          <p:nvPr/>
        </p:nvSpPr>
        <p:spPr>
          <a:xfrm>
            <a:off x="6882532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cell|N: Tolonen — Microarray (MED4)|pipX|ns"/>
          <p:cNvSpPr/>
          <p:nvPr/>
        </p:nvSpPr>
        <p:spPr>
          <a:xfrm>
            <a:off x="7241601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cell|N: Tolonen — Microarray (MED4)|ureA|up"/>
          <p:cNvSpPr/>
          <p:nvPr/>
        </p:nvSpPr>
        <p:spPr>
          <a:xfrm>
            <a:off x="7600671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cell|N: Tolonen — Microarray (MED4)|ureB|up"/>
          <p:cNvSpPr/>
          <p:nvPr/>
        </p:nvSpPr>
        <p:spPr>
          <a:xfrm>
            <a:off x="7959740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cell|N: Tolonen — Microarray (MED4)|ureC|ns"/>
          <p:cNvSpPr/>
          <p:nvPr/>
        </p:nvSpPr>
        <p:spPr>
          <a:xfrm>
            <a:off x="8318809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cell|N: Tolonen — Microarray (MED4)|ureG|up"/>
          <p:cNvSpPr/>
          <p:nvPr/>
        </p:nvSpPr>
        <p:spPr>
          <a:xfrm>
            <a:off x="8677879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cell|N: Tolonen — Microarray (MED4)|urtA|up"/>
          <p:cNvSpPr/>
          <p:nvPr/>
        </p:nvSpPr>
        <p:spPr>
          <a:xfrm>
            <a:off x="9036948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cell|N: Tolonen — Microarray (MED4)|urtD|ns"/>
          <p:cNvSpPr/>
          <p:nvPr/>
        </p:nvSpPr>
        <p:spPr>
          <a:xfrm>
            <a:off x="9396017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cell|N: Tolonen — Microarray (MED4)|urtE|ns"/>
          <p:cNvSpPr/>
          <p:nvPr/>
        </p:nvSpPr>
        <p:spPr>
          <a:xfrm>
            <a:off x="9755086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cell|N: Tolonen — Microarray (MED4)|PMM707|ns"/>
          <p:cNvSpPr/>
          <p:nvPr/>
        </p:nvSpPr>
        <p:spPr>
          <a:xfrm>
            <a:off x="10114156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cell|N: Tolonen — Microarray (MED4)|PMM719|up"/>
          <p:cNvSpPr/>
          <p:nvPr/>
        </p:nvSpPr>
        <p:spPr>
          <a:xfrm>
            <a:off x="10473225" y="30175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cell|N: Tolonen — Microarray (MED4)|PMM721|ns"/>
          <p:cNvSpPr/>
          <p:nvPr/>
        </p:nvSpPr>
        <p:spPr>
          <a:xfrm>
            <a:off x="10832294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cell|N: Tolonen — Microarray (MED4)|PsiP1|ns"/>
          <p:cNvSpPr/>
          <p:nvPr/>
        </p:nvSpPr>
        <p:spPr>
          <a:xfrm>
            <a:off x="11191363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cell|N: Tolonen — Microarray (MED4)|arsR|ns"/>
          <p:cNvSpPr/>
          <p:nvPr/>
        </p:nvSpPr>
        <p:spPr>
          <a:xfrm>
            <a:off x="11550433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cell|N: Tolonen — Microarray (MED4)|gap3|ns"/>
          <p:cNvSpPr/>
          <p:nvPr/>
        </p:nvSpPr>
        <p:spPr>
          <a:xfrm>
            <a:off x="11909502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cell|N: Tolonen — Microarray (MED4)|mfs|ns"/>
          <p:cNvSpPr/>
          <p:nvPr/>
        </p:nvSpPr>
        <p:spPr>
          <a:xfrm>
            <a:off x="12268571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cell|N: Tolonen — Microarray (MED4)|phnD|down"/>
          <p:cNvSpPr/>
          <p:nvPr/>
        </p:nvSpPr>
        <p:spPr>
          <a:xfrm>
            <a:off x="12627640" y="301752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cell|N: Tolonen — Microarray (MED4)|phoA|ns"/>
          <p:cNvSpPr/>
          <p:nvPr/>
        </p:nvSpPr>
        <p:spPr>
          <a:xfrm>
            <a:off x="12986710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cell|N: Tolonen — Microarray (MED4)|phoB|ns"/>
          <p:cNvSpPr/>
          <p:nvPr/>
        </p:nvSpPr>
        <p:spPr>
          <a:xfrm>
            <a:off x="13345779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cell|N: Tolonen — Microarray (MED4)|phoE|ns"/>
          <p:cNvSpPr/>
          <p:nvPr/>
        </p:nvSpPr>
        <p:spPr>
          <a:xfrm>
            <a:off x="13704848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cell|N: Tolonen — Microarray (MED4)|phoR|ns"/>
          <p:cNvSpPr/>
          <p:nvPr/>
        </p:nvSpPr>
        <p:spPr>
          <a:xfrm>
            <a:off x="14063918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cell|N: Tolonen — Microarray (MED4)|ppA|down"/>
          <p:cNvSpPr/>
          <p:nvPr/>
        </p:nvSpPr>
        <p:spPr>
          <a:xfrm>
            <a:off x="14422987" y="301752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cell|N: Tolonen — Microarray (MED4)|ppX|ns"/>
          <p:cNvSpPr/>
          <p:nvPr/>
        </p:nvSpPr>
        <p:spPr>
          <a:xfrm>
            <a:off x="14782056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cell|N: Tolonen — Microarray (MED4)|pstA|ns"/>
          <p:cNvSpPr/>
          <p:nvPr/>
        </p:nvSpPr>
        <p:spPr>
          <a:xfrm>
            <a:off x="15141125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cell|N: Tolonen — Microarray (MED4)|pstB|ns"/>
          <p:cNvSpPr/>
          <p:nvPr/>
        </p:nvSpPr>
        <p:spPr>
          <a:xfrm>
            <a:off x="15500195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cell|N: Tolonen — Microarray (MED4)|pstC|ns"/>
          <p:cNvSpPr/>
          <p:nvPr/>
        </p:nvSpPr>
        <p:spPr>
          <a:xfrm>
            <a:off x="15859264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cell|N: Tolonen — Microarray (MED4)|pstS|down"/>
          <p:cNvSpPr/>
          <p:nvPr/>
        </p:nvSpPr>
        <p:spPr>
          <a:xfrm>
            <a:off x="16218333" y="301752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cell|N: Tolonen — Microarray (MED4)|ptrA|ns"/>
          <p:cNvSpPr/>
          <p:nvPr/>
        </p:nvSpPr>
        <p:spPr>
          <a:xfrm>
            <a:off x="16577402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ell|N: Tolonen — Microarray (MED4)|sqdB|ns"/>
          <p:cNvSpPr/>
          <p:nvPr/>
        </p:nvSpPr>
        <p:spPr>
          <a:xfrm>
            <a:off x="16936472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cell|N: Tolonen — Microarray (MED4)|unkP2|ns"/>
          <p:cNvSpPr/>
          <p:nvPr/>
        </p:nvSpPr>
        <p:spPr>
          <a:xfrm>
            <a:off x="17295541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cell|N: Tolonen — Microarray (MED4)|unkP5|ns"/>
          <p:cNvSpPr/>
          <p:nvPr/>
        </p:nvSpPr>
        <p:spPr>
          <a:xfrm>
            <a:off x="17654610" y="30175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82880" y="338328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N: Tolonen — Microarray (MIT9313)</a:t>
            </a:r>
          </a:p>
        </p:txBody>
      </p:sp>
      <p:sp>
        <p:nvSpPr>
          <p:cNvPr id="217" name="cell|N: Tolonen — Microarray (MIT9313)|amtB/amt1|up"/>
          <p:cNvSpPr/>
          <p:nvPr/>
        </p:nvSpPr>
        <p:spPr>
          <a:xfrm>
            <a:off x="3291840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cell|N: Tolonen — Microarray (MIT9313)|cynA|absent"/>
          <p:cNvSpPr/>
          <p:nvPr/>
        </p:nvSpPr>
        <p:spPr>
          <a:xfrm>
            <a:off x="3650909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ell|N: Tolonen — Microarray (MIT9313)|cynB|absent"/>
          <p:cNvSpPr/>
          <p:nvPr/>
        </p:nvSpPr>
        <p:spPr>
          <a:xfrm>
            <a:off x="4009978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cell|N: Tolonen — Microarray (MIT9313)|cynD|absent"/>
          <p:cNvSpPr/>
          <p:nvPr/>
        </p:nvSpPr>
        <p:spPr>
          <a:xfrm>
            <a:off x="4369047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cell|N: Tolonen — Microarray (MIT9313)|cynS|absent"/>
          <p:cNvSpPr/>
          <p:nvPr/>
        </p:nvSpPr>
        <p:spPr>
          <a:xfrm>
            <a:off x="4728117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ell|N: Tolonen — Microarray (MIT9313)|focA|up"/>
          <p:cNvSpPr/>
          <p:nvPr/>
        </p:nvSpPr>
        <p:spPr>
          <a:xfrm>
            <a:off x="5087186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cell|N: Tolonen — Microarray (MIT9313)|glnA|up"/>
          <p:cNvSpPr/>
          <p:nvPr/>
        </p:nvSpPr>
        <p:spPr>
          <a:xfrm>
            <a:off x="5446255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cell|N: Tolonen — Microarray (MIT9313)|glsF|ns"/>
          <p:cNvSpPr/>
          <p:nvPr/>
        </p:nvSpPr>
        <p:spPr>
          <a:xfrm>
            <a:off x="5805324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cell|N: Tolonen — Microarray (MIT9313)|nirA|up"/>
          <p:cNvSpPr/>
          <p:nvPr/>
        </p:nvSpPr>
        <p:spPr>
          <a:xfrm>
            <a:off x="6164394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cell|N: Tolonen — Microarray (MIT9313)|nirX|up"/>
          <p:cNvSpPr/>
          <p:nvPr/>
        </p:nvSpPr>
        <p:spPr>
          <a:xfrm>
            <a:off x="6523463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cell|N: Tolonen — Microarray (MIT9313)|ntcA|up"/>
          <p:cNvSpPr/>
          <p:nvPr/>
        </p:nvSpPr>
        <p:spPr>
          <a:xfrm>
            <a:off x="6882532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cell|N: Tolonen — Microarray (MIT9313)|pipX|ns"/>
          <p:cNvSpPr/>
          <p:nvPr/>
        </p:nvSpPr>
        <p:spPr>
          <a:xfrm>
            <a:off x="7241601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cell|N: Tolonen — Microarray (MIT9313)|ureA|ns"/>
          <p:cNvSpPr/>
          <p:nvPr/>
        </p:nvSpPr>
        <p:spPr>
          <a:xfrm>
            <a:off x="7600671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cell|N: Tolonen — Microarray (MIT9313)|ureB|ns"/>
          <p:cNvSpPr/>
          <p:nvPr/>
        </p:nvSpPr>
        <p:spPr>
          <a:xfrm>
            <a:off x="7959740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cell|N: Tolonen — Microarray (MIT9313)|ureC|ns"/>
          <p:cNvSpPr/>
          <p:nvPr/>
        </p:nvSpPr>
        <p:spPr>
          <a:xfrm>
            <a:off x="8318809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cell|N: Tolonen — Microarray (MIT9313)|ureG|ns"/>
          <p:cNvSpPr/>
          <p:nvPr/>
        </p:nvSpPr>
        <p:spPr>
          <a:xfrm>
            <a:off x="8677879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cell|N: Tolonen — Microarray (MIT9313)|urtA|up"/>
          <p:cNvSpPr/>
          <p:nvPr/>
        </p:nvSpPr>
        <p:spPr>
          <a:xfrm>
            <a:off x="9036948" y="33832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cell|N: Tolonen — Microarray (MIT9313)|urtD|ns"/>
          <p:cNvSpPr/>
          <p:nvPr/>
        </p:nvSpPr>
        <p:spPr>
          <a:xfrm>
            <a:off x="9396017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cell|N: Tolonen — Microarray (MIT9313)|urtE|ns"/>
          <p:cNvSpPr/>
          <p:nvPr/>
        </p:nvSpPr>
        <p:spPr>
          <a:xfrm>
            <a:off x="9755086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cell|N: Tolonen — Microarray (MIT9313)|PMM707|absent"/>
          <p:cNvSpPr/>
          <p:nvPr/>
        </p:nvSpPr>
        <p:spPr>
          <a:xfrm>
            <a:off x="10114156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cell|N: Tolonen — Microarray (MIT9313)|PMM719|absent"/>
          <p:cNvSpPr/>
          <p:nvPr/>
        </p:nvSpPr>
        <p:spPr>
          <a:xfrm>
            <a:off x="10473225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cell|N: Tolonen — Microarray (MIT9313)|PMM721|absent"/>
          <p:cNvSpPr/>
          <p:nvPr/>
        </p:nvSpPr>
        <p:spPr>
          <a:xfrm>
            <a:off x="10832294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cell|N: Tolonen — Microarray (MIT9313)|PsiP1|absent"/>
          <p:cNvSpPr/>
          <p:nvPr/>
        </p:nvSpPr>
        <p:spPr>
          <a:xfrm>
            <a:off x="11191363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cell|N: Tolonen — Microarray (MIT9313)|arsR|ns"/>
          <p:cNvSpPr/>
          <p:nvPr/>
        </p:nvSpPr>
        <p:spPr>
          <a:xfrm>
            <a:off x="11550433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cell|N: Tolonen — Microarray (MIT9313)|gap3|ns"/>
          <p:cNvSpPr/>
          <p:nvPr/>
        </p:nvSpPr>
        <p:spPr>
          <a:xfrm>
            <a:off x="11909502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cell|N: Tolonen — Microarray (MIT9313)|mfs|ns"/>
          <p:cNvSpPr/>
          <p:nvPr/>
        </p:nvSpPr>
        <p:spPr>
          <a:xfrm>
            <a:off x="12268571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cell|N: Tolonen — Microarray (MIT9313)|phnD|ns"/>
          <p:cNvSpPr/>
          <p:nvPr/>
        </p:nvSpPr>
        <p:spPr>
          <a:xfrm>
            <a:off x="12627640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cell|N: Tolonen — Microarray (MIT9313)|phoA|absent"/>
          <p:cNvSpPr/>
          <p:nvPr/>
        </p:nvSpPr>
        <p:spPr>
          <a:xfrm>
            <a:off x="12986710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cell|N: Tolonen — Microarray (MIT9313)|phoB|ns"/>
          <p:cNvSpPr/>
          <p:nvPr/>
        </p:nvSpPr>
        <p:spPr>
          <a:xfrm>
            <a:off x="13345779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cell|N: Tolonen — Microarray (MIT9313)|phoE|ns"/>
          <p:cNvSpPr/>
          <p:nvPr/>
        </p:nvSpPr>
        <p:spPr>
          <a:xfrm>
            <a:off x="13704848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cell|N: Tolonen — Microarray (MIT9313)|phoR|ns"/>
          <p:cNvSpPr/>
          <p:nvPr/>
        </p:nvSpPr>
        <p:spPr>
          <a:xfrm>
            <a:off x="14063918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cell|N: Tolonen — Microarray (MIT9313)|ppA|ns"/>
          <p:cNvSpPr/>
          <p:nvPr/>
        </p:nvSpPr>
        <p:spPr>
          <a:xfrm>
            <a:off x="14422987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cell|N: Tolonen — Microarray (MIT9313)|ppX|ns"/>
          <p:cNvSpPr/>
          <p:nvPr/>
        </p:nvSpPr>
        <p:spPr>
          <a:xfrm>
            <a:off x="14782056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cell|N: Tolonen — Microarray (MIT9313)|pstA|ns"/>
          <p:cNvSpPr/>
          <p:nvPr/>
        </p:nvSpPr>
        <p:spPr>
          <a:xfrm>
            <a:off x="15141125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cell|N: Tolonen — Microarray (MIT9313)|pstB|ns"/>
          <p:cNvSpPr/>
          <p:nvPr/>
        </p:nvSpPr>
        <p:spPr>
          <a:xfrm>
            <a:off x="15500195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cell|N: Tolonen — Microarray (MIT9313)|pstC|ns"/>
          <p:cNvSpPr/>
          <p:nvPr/>
        </p:nvSpPr>
        <p:spPr>
          <a:xfrm>
            <a:off x="15859264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cell|N: Tolonen — Microarray (MIT9313)|pstS|ns"/>
          <p:cNvSpPr/>
          <p:nvPr/>
        </p:nvSpPr>
        <p:spPr>
          <a:xfrm>
            <a:off x="16218333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cell|N: Tolonen — Microarray (MIT9313)|ptrA|absent"/>
          <p:cNvSpPr/>
          <p:nvPr/>
        </p:nvSpPr>
        <p:spPr>
          <a:xfrm>
            <a:off x="16577402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cell|N: Tolonen — Microarray (MIT9313)|sqdB|ns"/>
          <p:cNvSpPr/>
          <p:nvPr/>
        </p:nvSpPr>
        <p:spPr>
          <a:xfrm>
            <a:off x="16936472" y="33832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cell|N: Tolonen — Microarray (MIT9313)|unkP2|absent"/>
          <p:cNvSpPr/>
          <p:nvPr/>
        </p:nvSpPr>
        <p:spPr>
          <a:xfrm>
            <a:off x="17295541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cell|N: Tolonen — Microarray (MIT9313)|unkP5|absent"/>
          <p:cNvSpPr/>
          <p:nvPr/>
        </p:nvSpPr>
        <p:spPr>
          <a:xfrm>
            <a:off x="17654610" y="33832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82880" y="3749039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P: Lin — RNA-seq (NATL2A), 59h</a:t>
            </a:r>
          </a:p>
        </p:txBody>
      </p:sp>
      <p:sp>
        <p:nvSpPr>
          <p:cNvPr id="259" name="cell|P: Lin — RNA-seq (NATL2A), 59h|amtB/amt1|nodata"/>
          <p:cNvSpPr/>
          <p:nvPr/>
        </p:nvSpPr>
        <p:spPr>
          <a:xfrm>
            <a:off x="3291840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cell|P: Lin — RNA-seq (NATL2A), 59h|cynA|absent"/>
          <p:cNvSpPr/>
          <p:nvPr/>
        </p:nvSpPr>
        <p:spPr>
          <a:xfrm>
            <a:off x="3650909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cell|P: Lin — RNA-seq (NATL2A), 59h|cynB|absent"/>
          <p:cNvSpPr/>
          <p:nvPr/>
        </p:nvSpPr>
        <p:spPr>
          <a:xfrm>
            <a:off x="4009978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cell|P: Lin — RNA-seq (NATL2A), 59h|cynD|absent"/>
          <p:cNvSpPr/>
          <p:nvPr/>
        </p:nvSpPr>
        <p:spPr>
          <a:xfrm>
            <a:off x="4369047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cell|P: Lin — RNA-seq (NATL2A), 59h|cynS|nodata"/>
          <p:cNvSpPr/>
          <p:nvPr/>
        </p:nvSpPr>
        <p:spPr>
          <a:xfrm>
            <a:off x="4728117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cell|P: Lin — RNA-seq (NATL2A), 59h|focA|nodata"/>
          <p:cNvSpPr/>
          <p:nvPr/>
        </p:nvSpPr>
        <p:spPr>
          <a:xfrm>
            <a:off x="5087186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cell|P: Lin — RNA-seq (NATL2A), 59h|glnA|nodata"/>
          <p:cNvSpPr/>
          <p:nvPr/>
        </p:nvSpPr>
        <p:spPr>
          <a:xfrm>
            <a:off x="5446255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cell|P: Lin — RNA-seq (NATL2A), 59h|glsF|nodata"/>
          <p:cNvSpPr/>
          <p:nvPr/>
        </p:nvSpPr>
        <p:spPr>
          <a:xfrm>
            <a:off x="5805324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cell|P: Lin — RNA-seq (NATL2A), 59h|nirA|nodata"/>
          <p:cNvSpPr/>
          <p:nvPr/>
        </p:nvSpPr>
        <p:spPr>
          <a:xfrm>
            <a:off x="6164394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cell|P: Lin — RNA-seq (NATL2A), 59h|nirX|nodata"/>
          <p:cNvSpPr/>
          <p:nvPr/>
        </p:nvSpPr>
        <p:spPr>
          <a:xfrm>
            <a:off x="6523463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cell|P: Lin — RNA-seq (NATL2A), 59h|ntcA|nodata"/>
          <p:cNvSpPr/>
          <p:nvPr/>
        </p:nvSpPr>
        <p:spPr>
          <a:xfrm>
            <a:off x="6882532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cell|P: Lin — RNA-seq (NATL2A), 59h|pipX|nodata"/>
          <p:cNvSpPr/>
          <p:nvPr/>
        </p:nvSpPr>
        <p:spPr>
          <a:xfrm>
            <a:off x="7241601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cell|P: Lin — RNA-seq (NATL2A), 59h|ureA|nodata"/>
          <p:cNvSpPr/>
          <p:nvPr/>
        </p:nvSpPr>
        <p:spPr>
          <a:xfrm>
            <a:off x="7600671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cell|P: Lin — RNA-seq (NATL2A), 59h|ureB|nodata"/>
          <p:cNvSpPr/>
          <p:nvPr/>
        </p:nvSpPr>
        <p:spPr>
          <a:xfrm>
            <a:off x="7959740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cell|P: Lin — RNA-seq (NATL2A), 59h|ureC|nodata"/>
          <p:cNvSpPr/>
          <p:nvPr/>
        </p:nvSpPr>
        <p:spPr>
          <a:xfrm>
            <a:off x="8318809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cell|P: Lin — RNA-seq (NATL2A), 59h|ureG|nodata"/>
          <p:cNvSpPr/>
          <p:nvPr/>
        </p:nvSpPr>
        <p:spPr>
          <a:xfrm>
            <a:off x="8677879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ell|P: Lin — RNA-seq (NATL2A), 59h|urtA|nodata"/>
          <p:cNvSpPr/>
          <p:nvPr/>
        </p:nvSpPr>
        <p:spPr>
          <a:xfrm>
            <a:off x="9036948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cell|P: Lin — RNA-seq (NATL2A), 59h|urtD|nodata"/>
          <p:cNvSpPr/>
          <p:nvPr/>
        </p:nvSpPr>
        <p:spPr>
          <a:xfrm>
            <a:off x="9396017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cell|P: Lin — RNA-seq (NATL2A), 59h|urtE|nodata"/>
          <p:cNvSpPr/>
          <p:nvPr/>
        </p:nvSpPr>
        <p:spPr>
          <a:xfrm>
            <a:off x="9755086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cell|P: Lin — RNA-seq (NATL2A), 59h|PMM707|up"/>
          <p:cNvSpPr/>
          <p:nvPr/>
        </p:nvSpPr>
        <p:spPr>
          <a:xfrm>
            <a:off x="10114156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cell|P: Lin — RNA-seq (NATL2A), 59h|PMM719|absent"/>
          <p:cNvSpPr/>
          <p:nvPr/>
        </p:nvSpPr>
        <p:spPr>
          <a:xfrm>
            <a:off x="10473225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cell|P: Lin — RNA-seq (NATL2A), 59h|PMM721|absent"/>
          <p:cNvSpPr/>
          <p:nvPr/>
        </p:nvSpPr>
        <p:spPr>
          <a:xfrm>
            <a:off x="10832294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ell|P: Lin — RNA-seq (NATL2A), 59h|PsiP1|absent"/>
          <p:cNvSpPr/>
          <p:nvPr/>
        </p:nvSpPr>
        <p:spPr>
          <a:xfrm>
            <a:off x="11191363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cell|P: Lin — RNA-seq (NATL2A), 59h|arsR|nodata"/>
          <p:cNvSpPr/>
          <p:nvPr/>
        </p:nvSpPr>
        <p:spPr>
          <a:xfrm>
            <a:off x="11550433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cell|P: Lin — RNA-seq (NATL2A), 59h|gap3|up"/>
          <p:cNvSpPr/>
          <p:nvPr/>
        </p:nvSpPr>
        <p:spPr>
          <a:xfrm>
            <a:off x="11909502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ell|P: Lin — RNA-seq (NATL2A), 59h|mfs|up"/>
          <p:cNvSpPr/>
          <p:nvPr/>
        </p:nvSpPr>
        <p:spPr>
          <a:xfrm>
            <a:off x="12268571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cell|P: Lin — RNA-seq (NATL2A), 59h|phnD|nodata"/>
          <p:cNvSpPr/>
          <p:nvPr/>
        </p:nvSpPr>
        <p:spPr>
          <a:xfrm>
            <a:off x="12627640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cell|P: Lin — RNA-seq (NATL2A), 59h|phoA|up"/>
          <p:cNvSpPr/>
          <p:nvPr/>
        </p:nvSpPr>
        <p:spPr>
          <a:xfrm>
            <a:off x="12986710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cell|P: Lin — RNA-seq (NATL2A), 59h|phoB|up"/>
          <p:cNvSpPr/>
          <p:nvPr/>
        </p:nvSpPr>
        <p:spPr>
          <a:xfrm>
            <a:off x="13345779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cell|P: Lin — RNA-seq (NATL2A), 59h|phoE|up"/>
          <p:cNvSpPr/>
          <p:nvPr/>
        </p:nvSpPr>
        <p:spPr>
          <a:xfrm>
            <a:off x="13704848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cell|P: Lin — RNA-seq (NATL2A), 59h|phoR|up"/>
          <p:cNvSpPr/>
          <p:nvPr/>
        </p:nvSpPr>
        <p:spPr>
          <a:xfrm>
            <a:off x="14063918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cell|P: Lin — RNA-seq (NATL2A), 59h|ppA|nodata"/>
          <p:cNvSpPr/>
          <p:nvPr/>
        </p:nvSpPr>
        <p:spPr>
          <a:xfrm>
            <a:off x="14422987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cell|P: Lin — RNA-seq (NATL2A), 59h|ppX|nodata"/>
          <p:cNvSpPr/>
          <p:nvPr/>
        </p:nvSpPr>
        <p:spPr>
          <a:xfrm>
            <a:off x="14782056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cell|P: Lin — RNA-seq (NATL2A), 59h|pstA|up"/>
          <p:cNvSpPr/>
          <p:nvPr/>
        </p:nvSpPr>
        <p:spPr>
          <a:xfrm>
            <a:off x="15141125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cell|P: Lin — RNA-seq (NATL2A), 59h|pstB|up"/>
          <p:cNvSpPr/>
          <p:nvPr/>
        </p:nvSpPr>
        <p:spPr>
          <a:xfrm>
            <a:off x="15500195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cell|P: Lin — RNA-seq (NATL2A), 59h|pstC|up"/>
          <p:cNvSpPr/>
          <p:nvPr/>
        </p:nvSpPr>
        <p:spPr>
          <a:xfrm>
            <a:off x="15859264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cell|P: Lin — RNA-seq (NATL2A), 59h|pstS|up"/>
          <p:cNvSpPr/>
          <p:nvPr/>
        </p:nvSpPr>
        <p:spPr>
          <a:xfrm>
            <a:off x="16218333" y="3749039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cell|P: Lin — RNA-seq (NATL2A), 59h|ptrA|ns"/>
          <p:cNvSpPr/>
          <p:nvPr/>
        </p:nvSpPr>
        <p:spPr>
          <a:xfrm>
            <a:off x="16577402" y="3749039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cell|P: Lin — RNA-seq (NATL2A), 59h|sqdB|nodata"/>
          <p:cNvSpPr/>
          <p:nvPr/>
        </p:nvSpPr>
        <p:spPr>
          <a:xfrm>
            <a:off x="16936472" y="3749039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cell|P: Lin — RNA-seq (NATL2A), 59h|unkP2|absent"/>
          <p:cNvSpPr/>
          <p:nvPr/>
        </p:nvSpPr>
        <p:spPr>
          <a:xfrm>
            <a:off x="17295541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cell|P: Lin — RNA-seq (NATL2A), 59h|unkP5|absent"/>
          <p:cNvSpPr/>
          <p:nvPr/>
        </p:nvSpPr>
        <p:spPr>
          <a:xfrm>
            <a:off x="17654610" y="3749039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82880" y="411480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P: Fuszard — Proteomics (MIT9312)</a:t>
            </a:r>
          </a:p>
        </p:txBody>
      </p:sp>
      <p:sp>
        <p:nvSpPr>
          <p:cNvPr id="301" name="cell|P: Fuszard — Proteomics (MIT9312)|amtB/amt1|nodata"/>
          <p:cNvSpPr/>
          <p:nvPr/>
        </p:nvSpPr>
        <p:spPr>
          <a:xfrm>
            <a:off x="3291840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cell|P: Fuszard — Proteomics (MIT9312)|cynA|absent"/>
          <p:cNvSpPr/>
          <p:nvPr/>
        </p:nvSpPr>
        <p:spPr>
          <a:xfrm>
            <a:off x="3650909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cell|P: Fuszard — Proteomics (MIT9312)|cynB|absent"/>
          <p:cNvSpPr/>
          <p:nvPr/>
        </p:nvSpPr>
        <p:spPr>
          <a:xfrm>
            <a:off x="4009978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cell|P: Fuszard — Proteomics (MIT9312)|cynD|absent"/>
          <p:cNvSpPr/>
          <p:nvPr/>
        </p:nvSpPr>
        <p:spPr>
          <a:xfrm>
            <a:off x="4369047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ell|P: Fuszard — Proteomics (MIT9312)|cynS|absent"/>
          <p:cNvSpPr/>
          <p:nvPr/>
        </p:nvSpPr>
        <p:spPr>
          <a:xfrm>
            <a:off x="4728117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cell|P: Fuszard — Proteomics (MIT9312)|focA|absent"/>
          <p:cNvSpPr/>
          <p:nvPr/>
        </p:nvSpPr>
        <p:spPr>
          <a:xfrm>
            <a:off x="5087186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cell|P: Fuszard — Proteomics (MIT9312)|glnA|nodata"/>
          <p:cNvSpPr/>
          <p:nvPr/>
        </p:nvSpPr>
        <p:spPr>
          <a:xfrm>
            <a:off x="5446255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cell|P: Fuszard — Proteomics (MIT9312)|glsF|nodata"/>
          <p:cNvSpPr/>
          <p:nvPr/>
        </p:nvSpPr>
        <p:spPr>
          <a:xfrm>
            <a:off x="5805324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ell|P: Fuszard — Proteomics (MIT9312)|nirA|absent"/>
          <p:cNvSpPr/>
          <p:nvPr/>
        </p:nvSpPr>
        <p:spPr>
          <a:xfrm>
            <a:off x="6164394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cell|P: Fuszard — Proteomics (MIT9312)|nirX|absent"/>
          <p:cNvSpPr/>
          <p:nvPr/>
        </p:nvSpPr>
        <p:spPr>
          <a:xfrm>
            <a:off x="6523463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cell|P: Fuszard — Proteomics (MIT9312)|ntcA|nodata"/>
          <p:cNvSpPr/>
          <p:nvPr/>
        </p:nvSpPr>
        <p:spPr>
          <a:xfrm>
            <a:off x="6882532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cell|P: Fuszard — Proteomics (MIT9312)|pipX|nodata"/>
          <p:cNvSpPr/>
          <p:nvPr/>
        </p:nvSpPr>
        <p:spPr>
          <a:xfrm>
            <a:off x="7241601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cell|P: Fuszard — Proteomics (MIT9312)|ureA|nodata"/>
          <p:cNvSpPr/>
          <p:nvPr/>
        </p:nvSpPr>
        <p:spPr>
          <a:xfrm>
            <a:off x="7600671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cell|P: Fuszard — Proteomics (MIT9312)|ureB|nodata"/>
          <p:cNvSpPr/>
          <p:nvPr/>
        </p:nvSpPr>
        <p:spPr>
          <a:xfrm>
            <a:off x="7959740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cell|P: Fuszard — Proteomics (MIT9312)|ureC|nodata"/>
          <p:cNvSpPr/>
          <p:nvPr/>
        </p:nvSpPr>
        <p:spPr>
          <a:xfrm>
            <a:off x="8318809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cell|P: Fuszard — Proteomics (MIT9312)|ureG|nodata"/>
          <p:cNvSpPr/>
          <p:nvPr/>
        </p:nvSpPr>
        <p:spPr>
          <a:xfrm>
            <a:off x="8677879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cell|P: Fuszard — Proteomics (MIT9312)|urtA|nodata"/>
          <p:cNvSpPr/>
          <p:nvPr/>
        </p:nvSpPr>
        <p:spPr>
          <a:xfrm>
            <a:off x="9036948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cell|P: Fuszard — Proteomics (MIT9312)|urtD|nodata"/>
          <p:cNvSpPr/>
          <p:nvPr/>
        </p:nvSpPr>
        <p:spPr>
          <a:xfrm>
            <a:off x="9396017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cell|P: Fuszard — Proteomics (MIT9312)|urtE|nodata"/>
          <p:cNvSpPr/>
          <p:nvPr/>
        </p:nvSpPr>
        <p:spPr>
          <a:xfrm>
            <a:off x="9755086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cell|P: Fuszard — Proteomics (MIT9312)|PMM707|nodata"/>
          <p:cNvSpPr/>
          <p:nvPr/>
        </p:nvSpPr>
        <p:spPr>
          <a:xfrm>
            <a:off x="10114156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cell|P: Fuszard — Proteomics (MIT9312)|PMM719|absent"/>
          <p:cNvSpPr/>
          <p:nvPr/>
        </p:nvSpPr>
        <p:spPr>
          <a:xfrm>
            <a:off x="10473225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cell|P: Fuszard — Proteomics (MIT9312)|PMM721|absent"/>
          <p:cNvSpPr/>
          <p:nvPr/>
        </p:nvSpPr>
        <p:spPr>
          <a:xfrm>
            <a:off x="10832294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cell|P: Fuszard — Proteomics (MIT9312)|PsiP1|absent"/>
          <p:cNvSpPr/>
          <p:nvPr/>
        </p:nvSpPr>
        <p:spPr>
          <a:xfrm>
            <a:off x="11191363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cell|P: Fuszard — Proteomics (MIT9312)|arsR|nodata"/>
          <p:cNvSpPr/>
          <p:nvPr/>
        </p:nvSpPr>
        <p:spPr>
          <a:xfrm>
            <a:off x="11550433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cell|P: Fuszard — Proteomics (MIT9312)|gap3|nodata"/>
          <p:cNvSpPr/>
          <p:nvPr/>
        </p:nvSpPr>
        <p:spPr>
          <a:xfrm>
            <a:off x="11909502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cell|P: Fuszard — Proteomics (MIT9312)|mfs|nodata"/>
          <p:cNvSpPr/>
          <p:nvPr/>
        </p:nvSpPr>
        <p:spPr>
          <a:xfrm>
            <a:off x="12268571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cell|P: Fuszard — Proteomics (MIT9312)|phnD|nodata"/>
          <p:cNvSpPr/>
          <p:nvPr/>
        </p:nvSpPr>
        <p:spPr>
          <a:xfrm>
            <a:off x="12627640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cell|P: Fuszard — Proteomics (MIT9312)|phoA|up"/>
          <p:cNvSpPr/>
          <p:nvPr/>
        </p:nvSpPr>
        <p:spPr>
          <a:xfrm>
            <a:off x="12986710" y="41148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cell|P: Fuszard — Proteomics (MIT9312)|phoB|nodata"/>
          <p:cNvSpPr/>
          <p:nvPr/>
        </p:nvSpPr>
        <p:spPr>
          <a:xfrm>
            <a:off x="13345779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cell|P: Fuszard — Proteomics (MIT9312)|phoE|up"/>
          <p:cNvSpPr/>
          <p:nvPr/>
        </p:nvSpPr>
        <p:spPr>
          <a:xfrm>
            <a:off x="13704848" y="41148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cell|P: Fuszard — Proteomics (MIT9312)|phoR|nodata"/>
          <p:cNvSpPr/>
          <p:nvPr/>
        </p:nvSpPr>
        <p:spPr>
          <a:xfrm>
            <a:off x="14063918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cell|P: Fuszard — Proteomics (MIT9312)|ppA|nodata"/>
          <p:cNvSpPr/>
          <p:nvPr/>
        </p:nvSpPr>
        <p:spPr>
          <a:xfrm>
            <a:off x="14422987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cell|P: Fuszard — Proteomics (MIT9312)|ppX|nodata"/>
          <p:cNvSpPr/>
          <p:nvPr/>
        </p:nvSpPr>
        <p:spPr>
          <a:xfrm>
            <a:off x="14782056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cell|P: Fuszard — Proteomics (MIT9312)|pstA|nodata"/>
          <p:cNvSpPr/>
          <p:nvPr/>
        </p:nvSpPr>
        <p:spPr>
          <a:xfrm>
            <a:off x="15141125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cell|P: Fuszard — Proteomics (MIT9312)|pstB|nodata"/>
          <p:cNvSpPr/>
          <p:nvPr/>
        </p:nvSpPr>
        <p:spPr>
          <a:xfrm>
            <a:off x="15500195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cell|P: Fuszard — Proteomics (MIT9312)|pstC|nodata"/>
          <p:cNvSpPr/>
          <p:nvPr/>
        </p:nvSpPr>
        <p:spPr>
          <a:xfrm>
            <a:off x="15859264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cell|P: Fuszard — Proteomics (MIT9312)|pstS|up"/>
          <p:cNvSpPr/>
          <p:nvPr/>
        </p:nvSpPr>
        <p:spPr>
          <a:xfrm>
            <a:off x="16218333" y="411480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cell|P: Fuszard — Proteomics (MIT9312)|ptrA|absent"/>
          <p:cNvSpPr/>
          <p:nvPr/>
        </p:nvSpPr>
        <p:spPr>
          <a:xfrm>
            <a:off x="16577402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cell|P: Fuszard — Proteomics (MIT9312)|sqdB|nodata"/>
          <p:cNvSpPr/>
          <p:nvPr/>
        </p:nvSpPr>
        <p:spPr>
          <a:xfrm>
            <a:off x="16936472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cell|P: Fuszard — Proteomics (MIT9312)|unkP2|absent"/>
          <p:cNvSpPr/>
          <p:nvPr/>
        </p:nvSpPr>
        <p:spPr>
          <a:xfrm>
            <a:off x="17295541" y="411480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cell|P: Fuszard — Proteomics (MIT9312)|unkP5|nodata"/>
          <p:cNvSpPr/>
          <p:nvPr/>
        </p:nvSpPr>
        <p:spPr>
          <a:xfrm>
            <a:off x="17654610" y="411480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448056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P: Fuszard — Proteomics (NATL2A)</a:t>
            </a:r>
          </a:p>
        </p:txBody>
      </p:sp>
      <p:sp>
        <p:nvSpPr>
          <p:cNvPr id="343" name="cell|P: Fuszard — Proteomics (NATL2A)|amtB/amt1|nodata"/>
          <p:cNvSpPr/>
          <p:nvPr/>
        </p:nvSpPr>
        <p:spPr>
          <a:xfrm>
            <a:off x="3291840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cell|P: Fuszard — Proteomics (NATL2A)|cynA|absent"/>
          <p:cNvSpPr/>
          <p:nvPr/>
        </p:nvSpPr>
        <p:spPr>
          <a:xfrm>
            <a:off x="3650909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cell|P: Fuszard — Proteomics (NATL2A)|cynB|absent"/>
          <p:cNvSpPr/>
          <p:nvPr/>
        </p:nvSpPr>
        <p:spPr>
          <a:xfrm>
            <a:off x="4009978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cell|P: Fuszard — Proteomics (NATL2A)|cynD|absent"/>
          <p:cNvSpPr/>
          <p:nvPr/>
        </p:nvSpPr>
        <p:spPr>
          <a:xfrm>
            <a:off x="4369047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cell|P: Fuszard — Proteomics (NATL2A)|cynS|nodata"/>
          <p:cNvSpPr/>
          <p:nvPr/>
        </p:nvSpPr>
        <p:spPr>
          <a:xfrm>
            <a:off x="4728117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cell|P: Fuszard — Proteomics (NATL2A)|focA|nodata"/>
          <p:cNvSpPr/>
          <p:nvPr/>
        </p:nvSpPr>
        <p:spPr>
          <a:xfrm>
            <a:off x="5087186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cell|P: Fuszard — Proteomics (NATL2A)|glnA|down"/>
          <p:cNvSpPr/>
          <p:nvPr/>
        </p:nvSpPr>
        <p:spPr>
          <a:xfrm>
            <a:off x="5446255" y="44805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cell|P: Fuszard — Proteomics (NATL2A)|glsF|nodata"/>
          <p:cNvSpPr/>
          <p:nvPr/>
        </p:nvSpPr>
        <p:spPr>
          <a:xfrm>
            <a:off x="5805324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cell|P: Fuszard — Proteomics (NATL2A)|nirA|nodata"/>
          <p:cNvSpPr/>
          <p:nvPr/>
        </p:nvSpPr>
        <p:spPr>
          <a:xfrm>
            <a:off x="6164394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cell|P: Fuszard — Proteomics (NATL2A)|nirX|nodata"/>
          <p:cNvSpPr/>
          <p:nvPr/>
        </p:nvSpPr>
        <p:spPr>
          <a:xfrm>
            <a:off x="6523463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cell|P: Fuszard — Proteomics (NATL2A)|ntcA|nodata"/>
          <p:cNvSpPr/>
          <p:nvPr/>
        </p:nvSpPr>
        <p:spPr>
          <a:xfrm>
            <a:off x="6882532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cell|P: Fuszard — Proteomics (NATL2A)|pipX|nodata"/>
          <p:cNvSpPr/>
          <p:nvPr/>
        </p:nvSpPr>
        <p:spPr>
          <a:xfrm>
            <a:off x="7241601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cell|P: Fuszard — Proteomics (NATL2A)|ureA|nodata"/>
          <p:cNvSpPr/>
          <p:nvPr/>
        </p:nvSpPr>
        <p:spPr>
          <a:xfrm>
            <a:off x="7600671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cell|P: Fuszard — Proteomics (NATL2A)|ureB|nodata"/>
          <p:cNvSpPr/>
          <p:nvPr/>
        </p:nvSpPr>
        <p:spPr>
          <a:xfrm>
            <a:off x="7959740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cell|P: Fuszard — Proteomics (NATL2A)|ureC|nodata"/>
          <p:cNvSpPr/>
          <p:nvPr/>
        </p:nvSpPr>
        <p:spPr>
          <a:xfrm>
            <a:off x="8318809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cell|P: Fuszard — Proteomics (NATL2A)|ureG|nodata"/>
          <p:cNvSpPr/>
          <p:nvPr/>
        </p:nvSpPr>
        <p:spPr>
          <a:xfrm>
            <a:off x="8677879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cell|P: Fuszard — Proteomics (NATL2A)|urtA|nodata"/>
          <p:cNvSpPr/>
          <p:nvPr/>
        </p:nvSpPr>
        <p:spPr>
          <a:xfrm>
            <a:off x="9036948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cell|P: Fuszard — Proteomics (NATL2A)|urtD|nodata"/>
          <p:cNvSpPr/>
          <p:nvPr/>
        </p:nvSpPr>
        <p:spPr>
          <a:xfrm>
            <a:off x="9396017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cell|P: Fuszard — Proteomics (NATL2A)|urtE|nodata"/>
          <p:cNvSpPr/>
          <p:nvPr/>
        </p:nvSpPr>
        <p:spPr>
          <a:xfrm>
            <a:off x="9755086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cell|P: Fuszard — Proteomics (NATL2A)|PMM707|nodata"/>
          <p:cNvSpPr/>
          <p:nvPr/>
        </p:nvSpPr>
        <p:spPr>
          <a:xfrm>
            <a:off x="10114156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cell|P: Fuszard — Proteomics (NATL2A)|PMM719|absent"/>
          <p:cNvSpPr/>
          <p:nvPr/>
        </p:nvSpPr>
        <p:spPr>
          <a:xfrm>
            <a:off x="10473225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cell|P: Fuszard — Proteomics (NATL2A)|PMM721|absent"/>
          <p:cNvSpPr/>
          <p:nvPr/>
        </p:nvSpPr>
        <p:spPr>
          <a:xfrm>
            <a:off x="10832294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cell|P: Fuszard — Proteomics (NATL2A)|PsiP1|absent"/>
          <p:cNvSpPr/>
          <p:nvPr/>
        </p:nvSpPr>
        <p:spPr>
          <a:xfrm>
            <a:off x="11191363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cell|P: Fuszard — Proteomics (NATL2A)|arsR|nodata"/>
          <p:cNvSpPr/>
          <p:nvPr/>
        </p:nvSpPr>
        <p:spPr>
          <a:xfrm>
            <a:off x="11550433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cell|P: Fuszard — Proteomics (NATL2A)|gap3|nodata"/>
          <p:cNvSpPr/>
          <p:nvPr/>
        </p:nvSpPr>
        <p:spPr>
          <a:xfrm>
            <a:off x="11909502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cell|P: Fuszard — Proteomics (NATL2A)|mfs|nodata"/>
          <p:cNvSpPr/>
          <p:nvPr/>
        </p:nvSpPr>
        <p:spPr>
          <a:xfrm>
            <a:off x="12268571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cell|P: Fuszard — Proteomics (NATL2A)|phnD|nodata"/>
          <p:cNvSpPr/>
          <p:nvPr/>
        </p:nvSpPr>
        <p:spPr>
          <a:xfrm>
            <a:off x="12627640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cell|P: Fuszard — Proteomics (NATL2A)|phoA|nodata"/>
          <p:cNvSpPr/>
          <p:nvPr/>
        </p:nvSpPr>
        <p:spPr>
          <a:xfrm>
            <a:off x="12986710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cell|P: Fuszard — Proteomics (NATL2A)|phoB|nodata"/>
          <p:cNvSpPr/>
          <p:nvPr/>
        </p:nvSpPr>
        <p:spPr>
          <a:xfrm>
            <a:off x="13345779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cell|P: Fuszard — Proteomics (NATL2A)|phoE|nodata"/>
          <p:cNvSpPr/>
          <p:nvPr/>
        </p:nvSpPr>
        <p:spPr>
          <a:xfrm>
            <a:off x="13704848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cell|P: Fuszard — Proteomics (NATL2A)|phoR|nodata"/>
          <p:cNvSpPr/>
          <p:nvPr/>
        </p:nvSpPr>
        <p:spPr>
          <a:xfrm>
            <a:off x="14063918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cell|P: Fuszard — Proteomics (NATL2A)|ppA|down"/>
          <p:cNvSpPr/>
          <p:nvPr/>
        </p:nvSpPr>
        <p:spPr>
          <a:xfrm>
            <a:off x="14422987" y="44805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cell|P: Fuszard — Proteomics (NATL2A)|ppX|nodata"/>
          <p:cNvSpPr/>
          <p:nvPr/>
        </p:nvSpPr>
        <p:spPr>
          <a:xfrm>
            <a:off x="14782056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cell|P: Fuszard — Proteomics (NATL2A)|pstA|nodata"/>
          <p:cNvSpPr/>
          <p:nvPr/>
        </p:nvSpPr>
        <p:spPr>
          <a:xfrm>
            <a:off x="15141125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cell|P: Fuszard — Proteomics (NATL2A)|pstB|nodata"/>
          <p:cNvSpPr/>
          <p:nvPr/>
        </p:nvSpPr>
        <p:spPr>
          <a:xfrm>
            <a:off x="15500195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cell|P: Fuszard — Proteomics (NATL2A)|pstC|nodata"/>
          <p:cNvSpPr/>
          <p:nvPr/>
        </p:nvSpPr>
        <p:spPr>
          <a:xfrm>
            <a:off x="15859264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cell|P: Fuszard — Proteomics (NATL2A)|pstS|down"/>
          <p:cNvSpPr/>
          <p:nvPr/>
        </p:nvSpPr>
        <p:spPr>
          <a:xfrm>
            <a:off x="16218333" y="448056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cell|P: Fuszard — Proteomics (NATL2A)|ptrA|nodata"/>
          <p:cNvSpPr/>
          <p:nvPr/>
        </p:nvSpPr>
        <p:spPr>
          <a:xfrm>
            <a:off x="16577402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cell|P: Fuszard — Proteomics (NATL2A)|sqdB|nodata"/>
          <p:cNvSpPr/>
          <p:nvPr/>
        </p:nvSpPr>
        <p:spPr>
          <a:xfrm>
            <a:off x="16936472" y="4480560"/>
            <a:ext cx="359069" cy="365760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cell|P: Fuszard — Proteomics (NATL2A)|unkP2|absent"/>
          <p:cNvSpPr/>
          <p:nvPr/>
        </p:nvSpPr>
        <p:spPr>
          <a:xfrm>
            <a:off x="17295541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cell|P: Fuszard — Proteomics (NATL2A)|unkP5|absent"/>
          <p:cNvSpPr/>
          <p:nvPr/>
        </p:nvSpPr>
        <p:spPr>
          <a:xfrm>
            <a:off x="17654610" y="448056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82880" y="484632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P: Martiny — Microarray (MED4)</a:t>
            </a:r>
          </a:p>
        </p:txBody>
      </p:sp>
      <p:sp>
        <p:nvSpPr>
          <p:cNvPr id="385" name="cell|P: Martiny — Microarray (MED4)|amtB/amt1|ns"/>
          <p:cNvSpPr/>
          <p:nvPr/>
        </p:nvSpPr>
        <p:spPr>
          <a:xfrm>
            <a:off x="3291840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cell|P: Martiny — Microarray (MED4)|cynA|ns"/>
          <p:cNvSpPr/>
          <p:nvPr/>
        </p:nvSpPr>
        <p:spPr>
          <a:xfrm>
            <a:off x="3650909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cell|P: Martiny — Microarray (MED4)|cynB|ns"/>
          <p:cNvSpPr/>
          <p:nvPr/>
        </p:nvSpPr>
        <p:spPr>
          <a:xfrm>
            <a:off x="4009978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cell|P: Martiny — Microarray (MED4)|cynD|ns"/>
          <p:cNvSpPr/>
          <p:nvPr/>
        </p:nvSpPr>
        <p:spPr>
          <a:xfrm>
            <a:off x="4369047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cell|P: Martiny — Microarray (MED4)|cynS|ns"/>
          <p:cNvSpPr/>
          <p:nvPr/>
        </p:nvSpPr>
        <p:spPr>
          <a:xfrm>
            <a:off x="4728117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cell|P: Martiny — Microarray (MED4)|focA|absent"/>
          <p:cNvSpPr/>
          <p:nvPr/>
        </p:nvSpPr>
        <p:spPr>
          <a:xfrm>
            <a:off x="5087186" y="48463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cell|P: Martiny — Microarray (MED4)|glnA|ns"/>
          <p:cNvSpPr/>
          <p:nvPr/>
        </p:nvSpPr>
        <p:spPr>
          <a:xfrm>
            <a:off x="5446255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cell|P: Martiny — Microarray (MED4)|glsF|ns"/>
          <p:cNvSpPr/>
          <p:nvPr/>
        </p:nvSpPr>
        <p:spPr>
          <a:xfrm>
            <a:off x="5805324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cell|P: Martiny — Microarray (MED4)|nirA|absent"/>
          <p:cNvSpPr/>
          <p:nvPr/>
        </p:nvSpPr>
        <p:spPr>
          <a:xfrm>
            <a:off x="6164394" y="48463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cell|P: Martiny — Microarray (MED4)|nirX|absent"/>
          <p:cNvSpPr/>
          <p:nvPr/>
        </p:nvSpPr>
        <p:spPr>
          <a:xfrm>
            <a:off x="6523463" y="484632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cell|P: Martiny — Microarray (MED4)|ntcA|ns"/>
          <p:cNvSpPr/>
          <p:nvPr/>
        </p:nvSpPr>
        <p:spPr>
          <a:xfrm>
            <a:off x="6882532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cell|P: Martiny — Microarray (MED4)|pipX|ns"/>
          <p:cNvSpPr/>
          <p:nvPr/>
        </p:nvSpPr>
        <p:spPr>
          <a:xfrm>
            <a:off x="7241601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cell|P: Martiny — Microarray (MED4)|ureA|ns"/>
          <p:cNvSpPr/>
          <p:nvPr/>
        </p:nvSpPr>
        <p:spPr>
          <a:xfrm>
            <a:off x="7600671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cell|P: Martiny — Microarray (MED4)|ureB|ns"/>
          <p:cNvSpPr/>
          <p:nvPr/>
        </p:nvSpPr>
        <p:spPr>
          <a:xfrm>
            <a:off x="7959740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cell|P: Martiny — Microarray (MED4)|ureC|ns"/>
          <p:cNvSpPr/>
          <p:nvPr/>
        </p:nvSpPr>
        <p:spPr>
          <a:xfrm>
            <a:off x="8318809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cell|P: Martiny — Microarray (MED4)|ureG|ns"/>
          <p:cNvSpPr/>
          <p:nvPr/>
        </p:nvSpPr>
        <p:spPr>
          <a:xfrm>
            <a:off x="8677879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cell|P: Martiny — Microarray (MED4)|urtA|down"/>
          <p:cNvSpPr/>
          <p:nvPr/>
        </p:nvSpPr>
        <p:spPr>
          <a:xfrm>
            <a:off x="9036948" y="4846320"/>
            <a:ext cx="359069" cy="3657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cell|P: Martiny — Microarray (MED4)|urtD|ns"/>
          <p:cNvSpPr/>
          <p:nvPr/>
        </p:nvSpPr>
        <p:spPr>
          <a:xfrm>
            <a:off x="9396017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cell|P: Martiny — Microarray (MED4)|urtE|ns"/>
          <p:cNvSpPr/>
          <p:nvPr/>
        </p:nvSpPr>
        <p:spPr>
          <a:xfrm>
            <a:off x="9755086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cell|P: Martiny — Microarray (MED4)|PMM707|up"/>
          <p:cNvSpPr/>
          <p:nvPr/>
        </p:nvSpPr>
        <p:spPr>
          <a:xfrm>
            <a:off x="10114156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cell|P: Martiny — Microarray (MED4)|PMM719|up"/>
          <p:cNvSpPr/>
          <p:nvPr/>
        </p:nvSpPr>
        <p:spPr>
          <a:xfrm>
            <a:off x="10473225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cell|P: Martiny — Microarray (MED4)|PMM721|up"/>
          <p:cNvSpPr/>
          <p:nvPr/>
        </p:nvSpPr>
        <p:spPr>
          <a:xfrm>
            <a:off x="10832294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cell|P: Martiny — Microarray (MED4)|PsiP1|up"/>
          <p:cNvSpPr/>
          <p:nvPr/>
        </p:nvSpPr>
        <p:spPr>
          <a:xfrm>
            <a:off x="11191363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cell|P: Martiny — Microarray (MED4)|arsR|ns"/>
          <p:cNvSpPr/>
          <p:nvPr/>
        </p:nvSpPr>
        <p:spPr>
          <a:xfrm>
            <a:off x="11550433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cell|P: Martiny — Microarray (MED4)|gap3|up"/>
          <p:cNvSpPr/>
          <p:nvPr/>
        </p:nvSpPr>
        <p:spPr>
          <a:xfrm>
            <a:off x="11909502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cell|P: Martiny — Microarray (MED4)|mfs|up"/>
          <p:cNvSpPr/>
          <p:nvPr/>
        </p:nvSpPr>
        <p:spPr>
          <a:xfrm>
            <a:off x="12268571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cell|P: Martiny — Microarray (MED4)|phnD|ns"/>
          <p:cNvSpPr/>
          <p:nvPr/>
        </p:nvSpPr>
        <p:spPr>
          <a:xfrm>
            <a:off x="12627640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cell|P: Martiny — Microarray (MED4)|phoA|up"/>
          <p:cNvSpPr/>
          <p:nvPr/>
        </p:nvSpPr>
        <p:spPr>
          <a:xfrm>
            <a:off x="12986710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cell|P: Martiny — Microarray (MED4)|phoB|up"/>
          <p:cNvSpPr/>
          <p:nvPr/>
        </p:nvSpPr>
        <p:spPr>
          <a:xfrm>
            <a:off x="13345779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cell|P: Martiny — Microarray (MED4)|phoE|up"/>
          <p:cNvSpPr/>
          <p:nvPr/>
        </p:nvSpPr>
        <p:spPr>
          <a:xfrm>
            <a:off x="13704848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cell|P: Martiny — Microarray (MED4)|phoR|up"/>
          <p:cNvSpPr/>
          <p:nvPr/>
        </p:nvSpPr>
        <p:spPr>
          <a:xfrm>
            <a:off x="14063918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cell|P: Martiny — Microarray (MED4)|ppA|ns"/>
          <p:cNvSpPr/>
          <p:nvPr/>
        </p:nvSpPr>
        <p:spPr>
          <a:xfrm>
            <a:off x="14422987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cell|P: Martiny — Microarray (MED4)|ppX|ns"/>
          <p:cNvSpPr/>
          <p:nvPr/>
        </p:nvSpPr>
        <p:spPr>
          <a:xfrm>
            <a:off x="14782056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cell|P: Martiny — Microarray (MED4)|pstA|up"/>
          <p:cNvSpPr/>
          <p:nvPr/>
        </p:nvSpPr>
        <p:spPr>
          <a:xfrm>
            <a:off x="15141125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cell|P: Martiny — Microarray (MED4)|pstB|ns"/>
          <p:cNvSpPr/>
          <p:nvPr/>
        </p:nvSpPr>
        <p:spPr>
          <a:xfrm>
            <a:off x="15500195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cell|P: Martiny — Microarray (MED4)|pstC|up"/>
          <p:cNvSpPr/>
          <p:nvPr/>
        </p:nvSpPr>
        <p:spPr>
          <a:xfrm>
            <a:off x="15859264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cell|P: Martiny — Microarray (MED4)|pstS|up"/>
          <p:cNvSpPr/>
          <p:nvPr/>
        </p:nvSpPr>
        <p:spPr>
          <a:xfrm>
            <a:off x="16218333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cell|P: Martiny — Microarray (MED4)|ptrA|up"/>
          <p:cNvSpPr/>
          <p:nvPr/>
        </p:nvSpPr>
        <p:spPr>
          <a:xfrm>
            <a:off x="16577402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cell|P: Martiny — Microarray (MED4)|sqdB|ns"/>
          <p:cNvSpPr/>
          <p:nvPr/>
        </p:nvSpPr>
        <p:spPr>
          <a:xfrm>
            <a:off x="16936472" y="484632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cell|P: Martiny — Microarray (MED4)|unkP2|up"/>
          <p:cNvSpPr/>
          <p:nvPr/>
        </p:nvSpPr>
        <p:spPr>
          <a:xfrm>
            <a:off x="17295541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cell|P: Martiny — Microarray (MED4)|unkP5|up"/>
          <p:cNvSpPr/>
          <p:nvPr/>
        </p:nvSpPr>
        <p:spPr>
          <a:xfrm>
            <a:off x="17654610" y="484632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182880" y="5212080"/>
            <a:ext cx="292608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Calibri"/>
              </a:rPr>
              <a:t>P: Martiny — Microarray (MIT9313)*</a:t>
            </a:r>
          </a:p>
        </p:txBody>
      </p:sp>
      <p:sp>
        <p:nvSpPr>
          <p:cNvPr id="427" name="cell|P: Martiny — Microarray (MIT9313)*|amtB/amt1|ns"/>
          <p:cNvSpPr/>
          <p:nvPr/>
        </p:nvSpPr>
        <p:spPr>
          <a:xfrm>
            <a:off x="3291840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cell|P: Martiny — Microarray (MIT9313)*|cynA|absent"/>
          <p:cNvSpPr/>
          <p:nvPr/>
        </p:nvSpPr>
        <p:spPr>
          <a:xfrm>
            <a:off x="3650909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cell|P: Martiny — Microarray (MIT9313)*|cynB|absent"/>
          <p:cNvSpPr/>
          <p:nvPr/>
        </p:nvSpPr>
        <p:spPr>
          <a:xfrm>
            <a:off x="4009978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cell|P: Martiny — Microarray (MIT9313)*|cynD|absent"/>
          <p:cNvSpPr/>
          <p:nvPr/>
        </p:nvSpPr>
        <p:spPr>
          <a:xfrm>
            <a:off x="4369047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cell|P: Martiny — Microarray (MIT9313)*|cynS|absent"/>
          <p:cNvSpPr/>
          <p:nvPr/>
        </p:nvSpPr>
        <p:spPr>
          <a:xfrm>
            <a:off x="4728117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cell|P: Martiny — Microarray (MIT9313)*|focA|ns"/>
          <p:cNvSpPr/>
          <p:nvPr/>
        </p:nvSpPr>
        <p:spPr>
          <a:xfrm>
            <a:off x="5087186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cell|P: Martiny — Microarray (MIT9313)*|glnA|ns"/>
          <p:cNvSpPr/>
          <p:nvPr/>
        </p:nvSpPr>
        <p:spPr>
          <a:xfrm>
            <a:off x="5446255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cell|P: Martiny — Microarray (MIT9313)*|glsF|ns"/>
          <p:cNvSpPr/>
          <p:nvPr/>
        </p:nvSpPr>
        <p:spPr>
          <a:xfrm>
            <a:off x="5805324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cell|P: Martiny — Microarray (MIT9313)*|nirA|ns"/>
          <p:cNvSpPr/>
          <p:nvPr/>
        </p:nvSpPr>
        <p:spPr>
          <a:xfrm>
            <a:off x="6164394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cell|P: Martiny — Microarray (MIT9313)*|nirX|ns"/>
          <p:cNvSpPr/>
          <p:nvPr/>
        </p:nvSpPr>
        <p:spPr>
          <a:xfrm>
            <a:off x="6523463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cell|P: Martiny — Microarray (MIT9313)*|ntcA|ns"/>
          <p:cNvSpPr/>
          <p:nvPr/>
        </p:nvSpPr>
        <p:spPr>
          <a:xfrm>
            <a:off x="6882532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cell|P: Martiny — Microarray (MIT9313)*|pipX|ns"/>
          <p:cNvSpPr/>
          <p:nvPr/>
        </p:nvSpPr>
        <p:spPr>
          <a:xfrm>
            <a:off x="7241601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cell|P: Martiny — Microarray (MIT9313)*|ureA|ns"/>
          <p:cNvSpPr/>
          <p:nvPr/>
        </p:nvSpPr>
        <p:spPr>
          <a:xfrm>
            <a:off x="7600671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cell|P: Martiny — Microarray (MIT9313)*|ureB|ns"/>
          <p:cNvSpPr/>
          <p:nvPr/>
        </p:nvSpPr>
        <p:spPr>
          <a:xfrm>
            <a:off x="7959740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cell|P: Martiny — Microarray (MIT9313)*|ureC|ns"/>
          <p:cNvSpPr/>
          <p:nvPr/>
        </p:nvSpPr>
        <p:spPr>
          <a:xfrm>
            <a:off x="8318809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cell|P: Martiny — Microarray (MIT9313)*|ureG|ns"/>
          <p:cNvSpPr/>
          <p:nvPr/>
        </p:nvSpPr>
        <p:spPr>
          <a:xfrm>
            <a:off x="8677879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cell|P: Martiny — Microarray (MIT9313)*|urtA|ns"/>
          <p:cNvSpPr/>
          <p:nvPr/>
        </p:nvSpPr>
        <p:spPr>
          <a:xfrm>
            <a:off x="9036948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cell|P: Martiny — Microarray (MIT9313)*|urtD|ns"/>
          <p:cNvSpPr/>
          <p:nvPr/>
        </p:nvSpPr>
        <p:spPr>
          <a:xfrm>
            <a:off x="9396017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cell|P: Martiny — Microarray (MIT9313)*|urtE|ns"/>
          <p:cNvSpPr/>
          <p:nvPr/>
        </p:nvSpPr>
        <p:spPr>
          <a:xfrm>
            <a:off x="9755086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cell|P: Martiny — Microarray (MIT9313)*|PMM707|absent"/>
          <p:cNvSpPr/>
          <p:nvPr/>
        </p:nvSpPr>
        <p:spPr>
          <a:xfrm>
            <a:off x="10114156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cell|P: Martiny — Microarray (MIT9313)*|PMM719|absent"/>
          <p:cNvSpPr/>
          <p:nvPr/>
        </p:nvSpPr>
        <p:spPr>
          <a:xfrm>
            <a:off x="10473225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cell|P: Martiny — Microarray (MIT9313)*|PMM721|absent"/>
          <p:cNvSpPr/>
          <p:nvPr/>
        </p:nvSpPr>
        <p:spPr>
          <a:xfrm>
            <a:off x="10832294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cell|P: Martiny — Microarray (MIT9313)*|PsiP1|absent"/>
          <p:cNvSpPr/>
          <p:nvPr/>
        </p:nvSpPr>
        <p:spPr>
          <a:xfrm>
            <a:off x="11191363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cell|P: Martiny — Microarray (MIT9313)*|arsR|ns"/>
          <p:cNvSpPr/>
          <p:nvPr/>
        </p:nvSpPr>
        <p:spPr>
          <a:xfrm>
            <a:off x="11550433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cell|P: Martiny — Microarray (MIT9313)*|gap3|up"/>
          <p:cNvSpPr/>
          <p:nvPr/>
        </p:nvSpPr>
        <p:spPr>
          <a:xfrm>
            <a:off x="11909502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cell|P: Martiny — Microarray (MIT9313)*|mfs|up"/>
          <p:cNvSpPr/>
          <p:nvPr/>
        </p:nvSpPr>
        <p:spPr>
          <a:xfrm>
            <a:off x="12268571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cell|P: Martiny — Microarray (MIT9313)*|phnD|ns"/>
          <p:cNvSpPr/>
          <p:nvPr/>
        </p:nvSpPr>
        <p:spPr>
          <a:xfrm>
            <a:off x="12627640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cell|P: Martiny — Microarray (MIT9313)*|phoA|absent"/>
          <p:cNvSpPr/>
          <p:nvPr/>
        </p:nvSpPr>
        <p:spPr>
          <a:xfrm>
            <a:off x="12986710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cell|P: Martiny — Microarray (MIT9313)*|phoB|up"/>
          <p:cNvSpPr/>
          <p:nvPr/>
        </p:nvSpPr>
        <p:spPr>
          <a:xfrm>
            <a:off x="13345779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cell|P: Martiny — Microarray (MIT9313)*|phoE|up"/>
          <p:cNvSpPr/>
          <p:nvPr/>
        </p:nvSpPr>
        <p:spPr>
          <a:xfrm>
            <a:off x="13704848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cell|P: Martiny — Microarray (MIT9313)*|phoR|ns"/>
          <p:cNvSpPr/>
          <p:nvPr/>
        </p:nvSpPr>
        <p:spPr>
          <a:xfrm>
            <a:off x="14063918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cell|P: Martiny — Microarray (MIT9313)*|ppA|ns"/>
          <p:cNvSpPr/>
          <p:nvPr/>
        </p:nvSpPr>
        <p:spPr>
          <a:xfrm>
            <a:off x="14422987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cell|P: Martiny — Microarray (MIT9313)*|ppX|ns"/>
          <p:cNvSpPr/>
          <p:nvPr/>
        </p:nvSpPr>
        <p:spPr>
          <a:xfrm>
            <a:off x="14782056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cell|P: Martiny — Microarray (MIT9313)*|pstA|up"/>
          <p:cNvSpPr/>
          <p:nvPr/>
        </p:nvSpPr>
        <p:spPr>
          <a:xfrm>
            <a:off x="15141125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cell|P: Martiny — Microarray (MIT9313)*|pstB|up"/>
          <p:cNvSpPr/>
          <p:nvPr/>
        </p:nvSpPr>
        <p:spPr>
          <a:xfrm>
            <a:off x="15500195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cell|P: Martiny — Microarray (MIT9313)*|pstC|up"/>
          <p:cNvSpPr/>
          <p:nvPr/>
        </p:nvSpPr>
        <p:spPr>
          <a:xfrm>
            <a:off x="15859264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cell|P: Martiny — Microarray (MIT9313)*|pstS|up"/>
          <p:cNvSpPr/>
          <p:nvPr/>
        </p:nvSpPr>
        <p:spPr>
          <a:xfrm>
            <a:off x="16218333" y="5212080"/>
            <a:ext cx="359069" cy="3657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cell|P: Martiny — Microarray (MIT9313)*|ptrA|absent"/>
          <p:cNvSpPr/>
          <p:nvPr/>
        </p:nvSpPr>
        <p:spPr>
          <a:xfrm>
            <a:off x="16577402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cell|P: Martiny — Microarray (MIT9313)*|sqdB|ns"/>
          <p:cNvSpPr/>
          <p:nvPr/>
        </p:nvSpPr>
        <p:spPr>
          <a:xfrm>
            <a:off x="16936472" y="5212080"/>
            <a:ext cx="359069" cy="365760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cell|P: Martiny — Microarray (MIT9313)*|unkP2|absent"/>
          <p:cNvSpPr/>
          <p:nvPr/>
        </p:nvSpPr>
        <p:spPr>
          <a:xfrm>
            <a:off x="17295541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cell|P: Martiny — Microarray (MIT9313)*|unkP5|absent"/>
          <p:cNvSpPr/>
          <p:nvPr/>
        </p:nvSpPr>
        <p:spPr>
          <a:xfrm>
            <a:off x="17654610" y="5212080"/>
            <a:ext cx="359069" cy="365760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3291840" y="3739896"/>
            <a:ext cx="14721839" cy="22860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10105012" y="1920240"/>
            <a:ext cx="22860" cy="3657599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legend|up"/>
          <p:cNvSpPr/>
          <p:nvPr/>
        </p:nvSpPr>
        <p:spPr>
          <a:xfrm>
            <a:off x="3291840" y="5806440"/>
            <a:ext cx="256032" cy="256032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3621024" y="5788152"/>
            <a:ext cx="2834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B0B0B"/>
                </a:solidFill>
                <a:latin typeface="Calibri"/>
              </a:rPr>
              <a:t>Upregulated</a:t>
            </a:r>
          </a:p>
        </p:txBody>
      </p:sp>
      <p:sp>
        <p:nvSpPr>
          <p:cNvPr id="472" name="legend|down"/>
          <p:cNvSpPr/>
          <p:nvPr/>
        </p:nvSpPr>
        <p:spPr>
          <a:xfrm>
            <a:off x="4875580" y="5806440"/>
            <a:ext cx="256032" cy="256032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5204764" y="5788152"/>
            <a:ext cx="2834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B0B0B"/>
                </a:solidFill>
                <a:latin typeface="Calibri"/>
              </a:rPr>
              <a:t>Downregulated</a:t>
            </a:r>
          </a:p>
        </p:txBody>
      </p:sp>
      <p:sp>
        <p:nvSpPr>
          <p:cNvPr id="474" name="legend|ns"/>
          <p:cNvSpPr/>
          <p:nvPr/>
        </p:nvSpPr>
        <p:spPr>
          <a:xfrm>
            <a:off x="6572707" y="5806440"/>
            <a:ext cx="256032" cy="256032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6901891" y="5788152"/>
            <a:ext cx="2834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B0B0B"/>
                </a:solidFill>
                <a:latin typeface="Calibri"/>
              </a:rPr>
              <a:t>Tested, not significant</a:t>
            </a:r>
          </a:p>
        </p:txBody>
      </p:sp>
      <p:sp>
        <p:nvSpPr>
          <p:cNvPr id="476" name="legend|nodata"/>
          <p:cNvSpPr/>
          <p:nvPr/>
        </p:nvSpPr>
        <p:spPr>
          <a:xfrm>
            <a:off x="8836761" y="5806440"/>
            <a:ext cx="256032" cy="256032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9165945" y="5788152"/>
            <a:ext cx="2834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B0B0B"/>
                </a:solidFill>
                <a:latin typeface="Calibri"/>
              </a:rPr>
              <a:t>No data (gene present, not in table)</a:t>
            </a:r>
          </a:p>
        </p:txBody>
      </p:sp>
      <p:sp>
        <p:nvSpPr>
          <p:cNvPr id="478" name="legend|absent"/>
          <p:cNvSpPr/>
          <p:nvPr/>
        </p:nvSpPr>
        <p:spPr>
          <a:xfrm>
            <a:off x="11837822" y="5806440"/>
            <a:ext cx="256032" cy="256032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TextBox 478"/>
          <p:cNvSpPr txBox="1"/>
          <p:nvPr/>
        </p:nvSpPr>
        <p:spPr>
          <a:xfrm>
            <a:off x="12167006" y="5788152"/>
            <a:ext cx="28346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B0B0B"/>
                </a:solidFill>
                <a:latin typeface="Calibri"/>
              </a:rPr>
              <a:t>Gene absent from strain genome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3291840" y="6263640"/>
            <a:ext cx="14721839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898781"/>
                </a:solidFill>
                <a:latin typeface="Calibri"/>
              </a:rPr>
              <a:t>* Martiny MIT9313: significance-criterion / timepoint mismatch (24h used, not 48h) — see 5_analyze/notebook.md. Martiny 'tested, not significant' cells include genes absent from that publication's filtered 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
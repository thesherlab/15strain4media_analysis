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574000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574000" cy="786384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9842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0B0B0B"/>
                </a:solidFill>
                <a:latin typeface="Arial"/>
              </a:rPr>
              <a:t>Nitrogen- and phosphorus-acquisition gene response to nutrient starvation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98424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98781"/>
                </a:solidFill>
                <a:latin typeface="Arial"/>
              </a:rPr>
              <a:t>genes with a response in &gt;=1 experiment; each experiment at its single chosen starvation timepoint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23544"/>
            <a:ext cx="7076563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A78D6"/>
                </a:solidFill>
                <a:latin typeface="Arial"/>
              </a:rPr>
              <a:t>N acquisition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5763" y="923544"/>
            <a:ext cx="819391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E34948"/>
                </a:solidFill>
                <a:latin typeface="Arial"/>
              </a:rPr>
              <a:t>P acquisition genes</a:t>
            </a:r>
          </a:p>
        </p:txBody>
      </p:sp>
      <p:sp>
        <p:nvSpPr>
          <p:cNvPr id="7" name="TextBox 6"/>
          <p:cNvSpPr txBox="1"/>
          <p:nvPr/>
        </p:nvSpPr>
        <p:spPr>
          <a:xfrm rot="18000000">
            <a:off x="4529625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amtB/amt1</a:t>
            </a:r>
          </a:p>
        </p:txBody>
      </p:sp>
      <p:sp>
        <p:nvSpPr>
          <p:cNvPr id="8" name="TextBox 7"/>
          <p:cNvSpPr txBox="1"/>
          <p:nvPr/>
        </p:nvSpPr>
        <p:spPr>
          <a:xfrm rot="18000000">
            <a:off x="4902076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cynA</a:t>
            </a:r>
          </a:p>
        </p:txBody>
      </p:sp>
      <p:sp>
        <p:nvSpPr>
          <p:cNvPr id="9" name="TextBox 8"/>
          <p:cNvSpPr txBox="1"/>
          <p:nvPr/>
        </p:nvSpPr>
        <p:spPr>
          <a:xfrm rot="18000000">
            <a:off x="5274526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cynB</a:t>
            </a:r>
          </a:p>
        </p:txBody>
      </p:sp>
      <p:sp>
        <p:nvSpPr>
          <p:cNvPr id="10" name="TextBox 9"/>
          <p:cNvSpPr txBox="1"/>
          <p:nvPr/>
        </p:nvSpPr>
        <p:spPr>
          <a:xfrm rot="18000000">
            <a:off x="5646977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cynD</a:t>
            </a:r>
          </a:p>
        </p:txBody>
      </p:sp>
      <p:sp>
        <p:nvSpPr>
          <p:cNvPr id="11" name="TextBox 10"/>
          <p:cNvSpPr txBox="1"/>
          <p:nvPr/>
        </p:nvSpPr>
        <p:spPr>
          <a:xfrm rot="18000000">
            <a:off x="6019428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cynS</a:t>
            </a:r>
          </a:p>
        </p:txBody>
      </p:sp>
      <p:sp>
        <p:nvSpPr>
          <p:cNvPr id="12" name="TextBox 11"/>
          <p:cNvSpPr txBox="1"/>
          <p:nvPr/>
        </p:nvSpPr>
        <p:spPr>
          <a:xfrm rot="18000000">
            <a:off x="6391879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focA</a:t>
            </a:r>
          </a:p>
        </p:txBody>
      </p:sp>
      <p:sp>
        <p:nvSpPr>
          <p:cNvPr id="13" name="TextBox 12"/>
          <p:cNvSpPr txBox="1"/>
          <p:nvPr/>
        </p:nvSpPr>
        <p:spPr>
          <a:xfrm rot="18000000">
            <a:off x="6764329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glnA</a:t>
            </a:r>
          </a:p>
        </p:txBody>
      </p:sp>
      <p:sp>
        <p:nvSpPr>
          <p:cNvPr id="14" name="TextBox 13"/>
          <p:cNvSpPr txBox="1"/>
          <p:nvPr/>
        </p:nvSpPr>
        <p:spPr>
          <a:xfrm rot="18000000">
            <a:off x="7136780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glsF</a:t>
            </a:r>
          </a:p>
        </p:txBody>
      </p:sp>
      <p:sp>
        <p:nvSpPr>
          <p:cNvPr id="15" name="TextBox 14"/>
          <p:cNvSpPr txBox="1"/>
          <p:nvPr/>
        </p:nvSpPr>
        <p:spPr>
          <a:xfrm rot="18000000">
            <a:off x="7509231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nirA</a:t>
            </a:r>
          </a:p>
        </p:txBody>
      </p:sp>
      <p:sp>
        <p:nvSpPr>
          <p:cNvPr id="16" name="TextBox 15"/>
          <p:cNvSpPr txBox="1"/>
          <p:nvPr/>
        </p:nvSpPr>
        <p:spPr>
          <a:xfrm rot="18000000">
            <a:off x="7881681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nirX</a:t>
            </a:r>
          </a:p>
        </p:txBody>
      </p:sp>
      <p:sp>
        <p:nvSpPr>
          <p:cNvPr id="17" name="TextBox 16"/>
          <p:cNvSpPr txBox="1"/>
          <p:nvPr/>
        </p:nvSpPr>
        <p:spPr>
          <a:xfrm rot="18000000">
            <a:off x="8254132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ntcA</a:t>
            </a:r>
          </a:p>
        </p:txBody>
      </p:sp>
      <p:sp>
        <p:nvSpPr>
          <p:cNvPr id="18" name="TextBox 17"/>
          <p:cNvSpPr txBox="1"/>
          <p:nvPr/>
        </p:nvSpPr>
        <p:spPr>
          <a:xfrm rot="18000000">
            <a:off x="8626583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pipX</a:t>
            </a:r>
          </a:p>
        </p:txBody>
      </p:sp>
      <p:sp>
        <p:nvSpPr>
          <p:cNvPr id="19" name="TextBox 18"/>
          <p:cNvSpPr txBox="1"/>
          <p:nvPr/>
        </p:nvSpPr>
        <p:spPr>
          <a:xfrm rot="18000000">
            <a:off x="8999034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ureA</a:t>
            </a:r>
          </a:p>
        </p:txBody>
      </p:sp>
      <p:sp>
        <p:nvSpPr>
          <p:cNvPr id="20" name="TextBox 19"/>
          <p:cNvSpPr txBox="1"/>
          <p:nvPr/>
        </p:nvSpPr>
        <p:spPr>
          <a:xfrm rot="18000000">
            <a:off x="9371484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ureB</a:t>
            </a:r>
          </a:p>
        </p:txBody>
      </p:sp>
      <p:sp>
        <p:nvSpPr>
          <p:cNvPr id="21" name="TextBox 20"/>
          <p:cNvSpPr txBox="1"/>
          <p:nvPr/>
        </p:nvSpPr>
        <p:spPr>
          <a:xfrm rot="18000000">
            <a:off x="9743935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ureC</a:t>
            </a:r>
          </a:p>
        </p:txBody>
      </p:sp>
      <p:sp>
        <p:nvSpPr>
          <p:cNvPr id="22" name="TextBox 21"/>
          <p:cNvSpPr txBox="1"/>
          <p:nvPr/>
        </p:nvSpPr>
        <p:spPr>
          <a:xfrm rot="18000000">
            <a:off x="10116386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ureG</a:t>
            </a:r>
          </a:p>
        </p:txBody>
      </p:sp>
      <p:sp>
        <p:nvSpPr>
          <p:cNvPr id="23" name="TextBox 22"/>
          <p:cNvSpPr txBox="1"/>
          <p:nvPr/>
        </p:nvSpPr>
        <p:spPr>
          <a:xfrm rot="18000000">
            <a:off x="10488837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urtA</a:t>
            </a:r>
          </a:p>
        </p:txBody>
      </p:sp>
      <p:sp>
        <p:nvSpPr>
          <p:cNvPr id="24" name="TextBox 23"/>
          <p:cNvSpPr txBox="1"/>
          <p:nvPr/>
        </p:nvSpPr>
        <p:spPr>
          <a:xfrm rot="18000000">
            <a:off x="10861287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urtD</a:t>
            </a:r>
          </a:p>
        </p:txBody>
      </p:sp>
      <p:sp>
        <p:nvSpPr>
          <p:cNvPr id="25" name="TextBox 24"/>
          <p:cNvSpPr txBox="1"/>
          <p:nvPr/>
        </p:nvSpPr>
        <p:spPr>
          <a:xfrm rot="18000000">
            <a:off x="11233738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urtE</a:t>
            </a:r>
          </a:p>
        </p:txBody>
      </p:sp>
      <p:sp>
        <p:nvSpPr>
          <p:cNvPr id="26" name="TextBox 25"/>
          <p:cNvSpPr txBox="1"/>
          <p:nvPr/>
        </p:nvSpPr>
        <p:spPr>
          <a:xfrm rot="18000000">
            <a:off x="11606189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PMM707</a:t>
            </a:r>
          </a:p>
        </p:txBody>
      </p:sp>
      <p:sp>
        <p:nvSpPr>
          <p:cNvPr id="27" name="TextBox 26"/>
          <p:cNvSpPr txBox="1"/>
          <p:nvPr/>
        </p:nvSpPr>
        <p:spPr>
          <a:xfrm rot="18000000">
            <a:off x="11978640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PMM719</a:t>
            </a:r>
          </a:p>
        </p:txBody>
      </p:sp>
      <p:sp>
        <p:nvSpPr>
          <p:cNvPr id="28" name="TextBox 27"/>
          <p:cNvSpPr txBox="1"/>
          <p:nvPr/>
        </p:nvSpPr>
        <p:spPr>
          <a:xfrm rot="18000000">
            <a:off x="12351090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PMM721</a:t>
            </a:r>
          </a:p>
        </p:txBody>
      </p:sp>
      <p:sp>
        <p:nvSpPr>
          <p:cNvPr id="29" name="TextBox 28"/>
          <p:cNvSpPr txBox="1"/>
          <p:nvPr/>
        </p:nvSpPr>
        <p:spPr>
          <a:xfrm rot="18000000">
            <a:off x="12723541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PsiP1</a:t>
            </a:r>
          </a:p>
        </p:txBody>
      </p:sp>
      <p:sp>
        <p:nvSpPr>
          <p:cNvPr id="30" name="TextBox 29"/>
          <p:cNvSpPr txBox="1"/>
          <p:nvPr/>
        </p:nvSpPr>
        <p:spPr>
          <a:xfrm rot="18000000">
            <a:off x="13095992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arsR</a:t>
            </a:r>
          </a:p>
        </p:txBody>
      </p:sp>
      <p:sp>
        <p:nvSpPr>
          <p:cNvPr id="31" name="TextBox 30"/>
          <p:cNvSpPr txBox="1"/>
          <p:nvPr/>
        </p:nvSpPr>
        <p:spPr>
          <a:xfrm rot="18000000">
            <a:off x="13468442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gap3</a:t>
            </a:r>
          </a:p>
        </p:txBody>
      </p:sp>
      <p:sp>
        <p:nvSpPr>
          <p:cNvPr id="32" name="TextBox 31"/>
          <p:cNvSpPr txBox="1"/>
          <p:nvPr/>
        </p:nvSpPr>
        <p:spPr>
          <a:xfrm rot="18000000">
            <a:off x="13840893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mfs</a:t>
            </a:r>
          </a:p>
        </p:txBody>
      </p:sp>
      <p:sp>
        <p:nvSpPr>
          <p:cNvPr id="33" name="TextBox 32"/>
          <p:cNvSpPr txBox="1"/>
          <p:nvPr/>
        </p:nvSpPr>
        <p:spPr>
          <a:xfrm rot="18000000">
            <a:off x="14213344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phnD</a:t>
            </a:r>
          </a:p>
        </p:txBody>
      </p:sp>
      <p:sp>
        <p:nvSpPr>
          <p:cNvPr id="34" name="TextBox 33"/>
          <p:cNvSpPr txBox="1"/>
          <p:nvPr/>
        </p:nvSpPr>
        <p:spPr>
          <a:xfrm rot="18000000">
            <a:off x="14585795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phoA</a:t>
            </a:r>
          </a:p>
        </p:txBody>
      </p:sp>
      <p:sp>
        <p:nvSpPr>
          <p:cNvPr id="35" name="TextBox 34"/>
          <p:cNvSpPr txBox="1"/>
          <p:nvPr/>
        </p:nvSpPr>
        <p:spPr>
          <a:xfrm rot="18000000">
            <a:off x="14958245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phoB</a:t>
            </a:r>
          </a:p>
        </p:txBody>
      </p:sp>
      <p:sp>
        <p:nvSpPr>
          <p:cNvPr id="36" name="TextBox 35"/>
          <p:cNvSpPr txBox="1"/>
          <p:nvPr/>
        </p:nvSpPr>
        <p:spPr>
          <a:xfrm rot="18000000">
            <a:off x="15330696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phoE</a:t>
            </a:r>
          </a:p>
        </p:txBody>
      </p:sp>
      <p:sp>
        <p:nvSpPr>
          <p:cNvPr id="37" name="TextBox 36"/>
          <p:cNvSpPr txBox="1"/>
          <p:nvPr/>
        </p:nvSpPr>
        <p:spPr>
          <a:xfrm rot="18000000">
            <a:off x="15703147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phoR</a:t>
            </a:r>
          </a:p>
        </p:txBody>
      </p:sp>
      <p:sp>
        <p:nvSpPr>
          <p:cNvPr id="38" name="TextBox 37"/>
          <p:cNvSpPr txBox="1"/>
          <p:nvPr/>
        </p:nvSpPr>
        <p:spPr>
          <a:xfrm rot="18000000">
            <a:off x="16075598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ppA</a:t>
            </a:r>
          </a:p>
        </p:txBody>
      </p:sp>
      <p:sp>
        <p:nvSpPr>
          <p:cNvPr id="39" name="TextBox 38"/>
          <p:cNvSpPr txBox="1"/>
          <p:nvPr/>
        </p:nvSpPr>
        <p:spPr>
          <a:xfrm rot="18000000">
            <a:off x="16448048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ppX</a:t>
            </a:r>
          </a:p>
        </p:txBody>
      </p:sp>
      <p:sp>
        <p:nvSpPr>
          <p:cNvPr id="40" name="TextBox 39"/>
          <p:cNvSpPr txBox="1"/>
          <p:nvPr/>
        </p:nvSpPr>
        <p:spPr>
          <a:xfrm rot="18000000">
            <a:off x="16820499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pstA</a:t>
            </a:r>
          </a:p>
        </p:txBody>
      </p:sp>
      <p:sp>
        <p:nvSpPr>
          <p:cNvPr id="41" name="TextBox 40"/>
          <p:cNvSpPr txBox="1"/>
          <p:nvPr/>
        </p:nvSpPr>
        <p:spPr>
          <a:xfrm rot="18000000">
            <a:off x="17192950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pstB</a:t>
            </a:r>
          </a:p>
        </p:txBody>
      </p:sp>
      <p:sp>
        <p:nvSpPr>
          <p:cNvPr id="42" name="TextBox 41"/>
          <p:cNvSpPr txBox="1"/>
          <p:nvPr/>
        </p:nvSpPr>
        <p:spPr>
          <a:xfrm rot="18000000">
            <a:off x="17565400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pstC</a:t>
            </a:r>
          </a:p>
        </p:txBody>
      </p:sp>
      <p:sp>
        <p:nvSpPr>
          <p:cNvPr id="43" name="TextBox 42"/>
          <p:cNvSpPr txBox="1"/>
          <p:nvPr/>
        </p:nvSpPr>
        <p:spPr>
          <a:xfrm rot="18000000">
            <a:off x="17937851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pstS</a:t>
            </a:r>
          </a:p>
        </p:txBody>
      </p:sp>
      <p:sp>
        <p:nvSpPr>
          <p:cNvPr id="44" name="TextBox 43"/>
          <p:cNvSpPr txBox="1"/>
          <p:nvPr/>
        </p:nvSpPr>
        <p:spPr>
          <a:xfrm rot="18000000">
            <a:off x="18310302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ptrA</a:t>
            </a:r>
          </a:p>
        </p:txBody>
      </p:sp>
      <p:sp>
        <p:nvSpPr>
          <p:cNvPr id="45" name="TextBox 44"/>
          <p:cNvSpPr txBox="1"/>
          <p:nvPr/>
        </p:nvSpPr>
        <p:spPr>
          <a:xfrm rot="18000000">
            <a:off x="18682753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sqdB</a:t>
            </a:r>
          </a:p>
        </p:txBody>
      </p:sp>
      <p:sp>
        <p:nvSpPr>
          <p:cNvPr id="46" name="TextBox 45"/>
          <p:cNvSpPr txBox="1"/>
          <p:nvPr/>
        </p:nvSpPr>
        <p:spPr>
          <a:xfrm rot="18000000">
            <a:off x="19055203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unkP2</a:t>
            </a:r>
          </a:p>
        </p:txBody>
      </p:sp>
      <p:sp>
        <p:nvSpPr>
          <p:cNvPr id="47" name="TextBox 46"/>
          <p:cNvSpPr txBox="1"/>
          <p:nvPr/>
        </p:nvSpPr>
        <p:spPr>
          <a:xfrm rot="18000000">
            <a:off x="19427654" y="1216152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unkP5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2295144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Proteomics - MED4</a:t>
            </a:r>
          </a:p>
        </p:txBody>
      </p:sp>
      <p:sp>
        <p:nvSpPr>
          <p:cNvPr id="49" name="cell|Weissberg et al., 2025 - Proteomics - MED4|amtB/amt1|ns"/>
          <p:cNvSpPr/>
          <p:nvPr/>
        </p:nvSpPr>
        <p:spPr>
          <a:xfrm>
            <a:off x="5029200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ell|Weissberg et al., 2025 - Proteomics - MED4|cynA|up"/>
          <p:cNvSpPr/>
          <p:nvPr/>
        </p:nvSpPr>
        <p:spPr>
          <a:xfrm>
            <a:off x="5401650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ell|Weissberg et al., 2025 - Proteomics - MED4|cynB|ns"/>
          <p:cNvSpPr/>
          <p:nvPr/>
        </p:nvSpPr>
        <p:spPr>
          <a:xfrm>
            <a:off x="5774101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ell|Weissberg et al., 2025 - Proteomics - MED4|cynD|up"/>
          <p:cNvSpPr/>
          <p:nvPr/>
        </p:nvSpPr>
        <p:spPr>
          <a:xfrm>
            <a:off x="6146552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ell|Weissberg et al., 2025 - Proteomics - MED4|cynS|up"/>
          <p:cNvSpPr/>
          <p:nvPr/>
        </p:nvSpPr>
        <p:spPr>
          <a:xfrm>
            <a:off x="6519002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ell|Weissberg et al., 2025 - Proteomics - MED4|focA|absent"/>
          <p:cNvSpPr/>
          <p:nvPr/>
        </p:nvSpPr>
        <p:spPr>
          <a:xfrm>
            <a:off x="6891453" y="229514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6891453" y="229514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891453" y="229514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077679" y="250545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ell|Weissberg et al., 2025 - Proteomics - MED4|glnA|up"/>
          <p:cNvSpPr/>
          <p:nvPr/>
        </p:nvSpPr>
        <p:spPr>
          <a:xfrm>
            <a:off x="7263904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ell|Weissberg et al., 2025 - Proteomics - MED4|glsF|ns"/>
          <p:cNvSpPr/>
          <p:nvPr/>
        </p:nvSpPr>
        <p:spPr>
          <a:xfrm>
            <a:off x="7636355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ell|Weissberg et al., 2025 - Proteomics - MED4|nirA|absent"/>
          <p:cNvSpPr/>
          <p:nvPr/>
        </p:nvSpPr>
        <p:spPr>
          <a:xfrm>
            <a:off x="8008805" y="229514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8008805" y="229514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008805" y="229514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195031" y="250545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ell|Weissberg et al., 2025 - Proteomics - MED4|nirX|absent"/>
          <p:cNvSpPr/>
          <p:nvPr/>
        </p:nvSpPr>
        <p:spPr>
          <a:xfrm>
            <a:off x="8381256" y="229514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8381256" y="229514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381256" y="229514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67481" y="250545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ell|Weissberg et al., 2025 - Proteomics - MED4|ntcA|up"/>
          <p:cNvSpPr/>
          <p:nvPr/>
        </p:nvSpPr>
        <p:spPr>
          <a:xfrm>
            <a:off x="8753707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ell|Weissberg et al., 2025 - Proteomics - MED4|pipX|up"/>
          <p:cNvSpPr/>
          <p:nvPr/>
        </p:nvSpPr>
        <p:spPr>
          <a:xfrm>
            <a:off x="9126158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ell|Weissberg et al., 2025 - Proteomics - MED4|ureA|up"/>
          <p:cNvSpPr/>
          <p:nvPr/>
        </p:nvSpPr>
        <p:spPr>
          <a:xfrm>
            <a:off x="9498608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ell|Weissberg et al., 2025 - Proteomics - MED4|ureB|ns"/>
          <p:cNvSpPr/>
          <p:nvPr/>
        </p:nvSpPr>
        <p:spPr>
          <a:xfrm>
            <a:off x="9871059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ell|Weissberg et al., 2025 - Proteomics - MED4|ureC|ns"/>
          <p:cNvSpPr/>
          <p:nvPr/>
        </p:nvSpPr>
        <p:spPr>
          <a:xfrm>
            <a:off x="10243510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ell|Weissberg et al., 2025 - Proteomics - MED4|ureG|ns"/>
          <p:cNvSpPr/>
          <p:nvPr/>
        </p:nvSpPr>
        <p:spPr>
          <a:xfrm>
            <a:off x="10615960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ell|Weissberg et al., 2025 - Proteomics - MED4|urtA|ns"/>
          <p:cNvSpPr/>
          <p:nvPr/>
        </p:nvSpPr>
        <p:spPr>
          <a:xfrm>
            <a:off x="10988411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ell|Weissberg et al., 2025 - Proteomics - MED4|urtD|ns"/>
          <p:cNvSpPr/>
          <p:nvPr/>
        </p:nvSpPr>
        <p:spPr>
          <a:xfrm>
            <a:off x="11360862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ell|Weissberg et al., 2025 - Proteomics - MED4|urtE|ns"/>
          <p:cNvSpPr/>
          <p:nvPr/>
        </p:nvSpPr>
        <p:spPr>
          <a:xfrm>
            <a:off x="11733313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ell|Weissberg et al., 2025 - Proteomics - MED4|PMM707|nodata"/>
          <p:cNvSpPr/>
          <p:nvPr/>
        </p:nvSpPr>
        <p:spPr>
          <a:xfrm>
            <a:off x="12105763" y="2295144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ell|Weissberg et al., 2025 - Proteomics - MED4|PMM719|up"/>
          <p:cNvSpPr/>
          <p:nvPr/>
        </p:nvSpPr>
        <p:spPr>
          <a:xfrm>
            <a:off x="12478214" y="229514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ell|Weissberg et al., 2025 - Proteomics - MED4|PMM721|ns"/>
          <p:cNvSpPr/>
          <p:nvPr/>
        </p:nvSpPr>
        <p:spPr>
          <a:xfrm>
            <a:off x="12850665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ell|Weissberg et al., 2025 - Proteomics - MED4|PsiP1|ns"/>
          <p:cNvSpPr/>
          <p:nvPr/>
        </p:nvSpPr>
        <p:spPr>
          <a:xfrm>
            <a:off x="13223116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ell|Weissberg et al., 2025 - Proteomics - MED4|arsR|nodata"/>
          <p:cNvSpPr/>
          <p:nvPr/>
        </p:nvSpPr>
        <p:spPr>
          <a:xfrm>
            <a:off x="13595566" y="2295144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ell|Weissberg et al., 2025 - Proteomics - MED4|gap3|ns"/>
          <p:cNvSpPr/>
          <p:nvPr/>
        </p:nvSpPr>
        <p:spPr>
          <a:xfrm>
            <a:off x="13968017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ell|Weissberg et al., 2025 - Proteomics - MED4|mfs|ns"/>
          <p:cNvSpPr/>
          <p:nvPr/>
        </p:nvSpPr>
        <p:spPr>
          <a:xfrm>
            <a:off x="14340468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ell|Weissberg et al., 2025 - Proteomics - MED4|phnD|down"/>
          <p:cNvSpPr/>
          <p:nvPr/>
        </p:nvSpPr>
        <p:spPr>
          <a:xfrm>
            <a:off x="14712919" y="2295144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ell|Weissberg et al., 2025 - Proteomics - MED4|phoA|ns"/>
          <p:cNvSpPr/>
          <p:nvPr/>
        </p:nvSpPr>
        <p:spPr>
          <a:xfrm>
            <a:off x="15085369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ell|Weissberg et al., 2025 - Proteomics - MED4|phoB|ns"/>
          <p:cNvSpPr/>
          <p:nvPr/>
        </p:nvSpPr>
        <p:spPr>
          <a:xfrm>
            <a:off x="15457820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ell|Weissberg et al., 2025 - Proteomics - MED4|phoE|ns"/>
          <p:cNvSpPr/>
          <p:nvPr/>
        </p:nvSpPr>
        <p:spPr>
          <a:xfrm>
            <a:off x="15830271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ell|Weissberg et al., 2025 - Proteomics - MED4|phoR|ns"/>
          <p:cNvSpPr/>
          <p:nvPr/>
        </p:nvSpPr>
        <p:spPr>
          <a:xfrm>
            <a:off x="16202721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ell|Weissberg et al., 2025 - Proteomics - MED4|ppA|ns"/>
          <p:cNvSpPr/>
          <p:nvPr/>
        </p:nvSpPr>
        <p:spPr>
          <a:xfrm>
            <a:off x="16575172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ell|Weissberg et al., 2025 - Proteomics - MED4|ppX|ns"/>
          <p:cNvSpPr/>
          <p:nvPr/>
        </p:nvSpPr>
        <p:spPr>
          <a:xfrm>
            <a:off x="16947623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ell|Weissberg et al., 2025 - Proteomics - MED4|pstA|ns"/>
          <p:cNvSpPr/>
          <p:nvPr/>
        </p:nvSpPr>
        <p:spPr>
          <a:xfrm>
            <a:off x="17320074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ell|Weissberg et al., 2025 - Proteomics - MED4|pstB|ns"/>
          <p:cNvSpPr/>
          <p:nvPr/>
        </p:nvSpPr>
        <p:spPr>
          <a:xfrm>
            <a:off x="17692524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ell|Weissberg et al., 2025 - Proteomics - MED4|pstC|ns"/>
          <p:cNvSpPr/>
          <p:nvPr/>
        </p:nvSpPr>
        <p:spPr>
          <a:xfrm>
            <a:off x="18064975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ell|Weissberg et al., 2025 - Proteomics - MED4|pstS|ns"/>
          <p:cNvSpPr/>
          <p:nvPr/>
        </p:nvSpPr>
        <p:spPr>
          <a:xfrm>
            <a:off x="18437426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ell|Weissberg et al., 2025 - Proteomics - MED4|ptrA|nodata"/>
          <p:cNvSpPr/>
          <p:nvPr/>
        </p:nvSpPr>
        <p:spPr>
          <a:xfrm>
            <a:off x="18809877" y="2295144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ell|Weissberg et al., 2025 - Proteomics - MED4|sqdB|ns"/>
          <p:cNvSpPr/>
          <p:nvPr/>
        </p:nvSpPr>
        <p:spPr>
          <a:xfrm>
            <a:off x="19182327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ell|Weissberg et al., 2025 - Proteomics - MED4|unkP2|ns"/>
          <p:cNvSpPr/>
          <p:nvPr/>
        </p:nvSpPr>
        <p:spPr>
          <a:xfrm>
            <a:off x="19554778" y="229514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ell|Weissberg et al., 2025 - Proteomics - MED4|unkP5|nodata"/>
          <p:cNvSpPr/>
          <p:nvPr/>
        </p:nvSpPr>
        <p:spPr>
          <a:xfrm>
            <a:off x="19927229" y="2295144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4400" y="2715768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RNA-seq - MED4</a:t>
            </a:r>
          </a:p>
        </p:txBody>
      </p:sp>
      <p:sp>
        <p:nvSpPr>
          <p:cNvPr id="100" name="cell|Weissberg et al., 2025 - RNA-seq - MED4|amtB/amt1|up"/>
          <p:cNvSpPr/>
          <p:nvPr/>
        </p:nvSpPr>
        <p:spPr>
          <a:xfrm>
            <a:off x="5029200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ell|Weissberg et al., 2025 - RNA-seq - MED4|cynA|up"/>
          <p:cNvSpPr/>
          <p:nvPr/>
        </p:nvSpPr>
        <p:spPr>
          <a:xfrm>
            <a:off x="5401650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ell|Weissberg et al., 2025 - RNA-seq - MED4|cynB|up"/>
          <p:cNvSpPr/>
          <p:nvPr/>
        </p:nvSpPr>
        <p:spPr>
          <a:xfrm>
            <a:off x="5774101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ell|Weissberg et al., 2025 - RNA-seq - MED4|cynD|up"/>
          <p:cNvSpPr/>
          <p:nvPr/>
        </p:nvSpPr>
        <p:spPr>
          <a:xfrm>
            <a:off x="6146552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ell|Weissberg et al., 2025 - RNA-seq - MED4|cynS|ns"/>
          <p:cNvSpPr/>
          <p:nvPr/>
        </p:nvSpPr>
        <p:spPr>
          <a:xfrm>
            <a:off x="6519002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ell|Weissberg et al., 2025 - RNA-seq - MED4|focA|absent"/>
          <p:cNvSpPr/>
          <p:nvPr/>
        </p:nvSpPr>
        <p:spPr>
          <a:xfrm>
            <a:off x="6891453" y="271576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6891453" y="271576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891453" y="271576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77679" y="292608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ell|Weissberg et al., 2025 - RNA-seq - MED4|glnA|up"/>
          <p:cNvSpPr/>
          <p:nvPr/>
        </p:nvSpPr>
        <p:spPr>
          <a:xfrm>
            <a:off x="7263904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ell|Weissberg et al., 2025 - RNA-seq - MED4|glsF|up"/>
          <p:cNvSpPr/>
          <p:nvPr/>
        </p:nvSpPr>
        <p:spPr>
          <a:xfrm>
            <a:off x="7636355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ell|Weissberg et al., 2025 - RNA-seq - MED4|nirA|absent"/>
          <p:cNvSpPr/>
          <p:nvPr/>
        </p:nvSpPr>
        <p:spPr>
          <a:xfrm>
            <a:off x="8008805" y="271576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 flipV="1">
            <a:off x="8008805" y="271576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008805" y="271576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195031" y="292608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cell|Weissberg et al., 2025 - RNA-seq - MED4|nirX|absent"/>
          <p:cNvSpPr/>
          <p:nvPr/>
        </p:nvSpPr>
        <p:spPr>
          <a:xfrm>
            <a:off x="8381256" y="271576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V="1">
            <a:off x="8381256" y="271576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381256" y="271576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567481" y="292608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ell|Weissberg et al., 2025 - RNA-seq - MED4|ntcA|up"/>
          <p:cNvSpPr/>
          <p:nvPr/>
        </p:nvSpPr>
        <p:spPr>
          <a:xfrm>
            <a:off x="8753707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cell|Weissberg et al., 2025 - RNA-seq - MED4|pipX|ns"/>
          <p:cNvSpPr/>
          <p:nvPr/>
        </p:nvSpPr>
        <p:spPr>
          <a:xfrm>
            <a:off x="9126158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ell|Weissberg et al., 2025 - RNA-seq - MED4|ureA|up"/>
          <p:cNvSpPr/>
          <p:nvPr/>
        </p:nvSpPr>
        <p:spPr>
          <a:xfrm>
            <a:off x="9498608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ell|Weissberg et al., 2025 - RNA-seq - MED4|ureB|up"/>
          <p:cNvSpPr/>
          <p:nvPr/>
        </p:nvSpPr>
        <p:spPr>
          <a:xfrm>
            <a:off x="9871059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cell|Weissberg et al., 2025 - RNA-seq - MED4|ureC|up"/>
          <p:cNvSpPr/>
          <p:nvPr/>
        </p:nvSpPr>
        <p:spPr>
          <a:xfrm>
            <a:off x="10243510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ell|Weissberg et al., 2025 - RNA-seq - MED4|ureG|ns"/>
          <p:cNvSpPr/>
          <p:nvPr/>
        </p:nvSpPr>
        <p:spPr>
          <a:xfrm>
            <a:off x="10615960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cell|Weissberg et al., 2025 - RNA-seq - MED4|urtA|up"/>
          <p:cNvSpPr/>
          <p:nvPr/>
        </p:nvSpPr>
        <p:spPr>
          <a:xfrm>
            <a:off x="10988411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cell|Weissberg et al., 2025 - RNA-seq - MED4|urtD|up"/>
          <p:cNvSpPr/>
          <p:nvPr/>
        </p:nvSpPr>
        <p:spPr>
          <a:xfrm>
            <a:off x="11360862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cell|Weissberg et al., 2025 - RNA-seq - MED4|urtE|up"/>
          <p:cNvSpPr/>
          <p:nvPr/>
        </p:nvSpPr>
        <p:spPr>
          <a:xfrm>
            <a:off x="11733313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cell|Weissberg et al., 2025 - RNA-seq - MED4|PMM707|up"/>
          <p:cNvSpPr/>
          <p:nvPr/>
        </p:nvSpPr>
        <p:spPr>
          <a:xfrm>
            <a:off x="12105763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ell|Weissberg et al., 2025 - RNA-seq - MED4|PMM719|up"/>
          <p:cNvSpPr/>
          <p:nvPr/>
        </p:nvSpPr>
        <p:spPr>
          <a:xfrm>
            <a:off x="12478214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cell|Weissberg et al., 2025 - RNA-seq - MED4|PMM721|up"/>
          <p:cNvSpPr/>
          <p:nvPr/>
        </p:nvSpPr>
        <p:spPr>
          <a:xfrm>
            <a:off x="12850665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cell|Weissberg et al., 2025 - RNA-seq - MED4|PsiP1|up"/>
          <p:cNvSpPr/>
          <p:nvPr/>
        </p:nvSpPr>
        <p:spPr>
          <a:xfrm>
            <a:off x="13223116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cell|Weissberg et al., 2025 - RNA-seq - MED4|arsR|up"/>
          <p:cNvSpPr/>
          <p:nvPr/>
        </p:nvSpPr>
        <p:spPr>
          <a:xfrm>
            <a:off x="13595566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cell|Weissberg et al., 2025 - RNA-seq - MED4|gap3|ns"/>
          <p:cNvSpPr/>
          <p:nvPr/>
        </p:nvSpPr>
        <p:spPr>
          <a:xfrm>
            <a:off x="13968017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ell|Weissberg et al., 2025 - RNA-seq - MED4|mfs|ns"/>
          <p:cNvSpPr/>
          <p:nvPr/>
        </p:nvSpPr>
        <p:spPr>
          <a:xfrm>
            <a:off x="14340468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ell|Weissberg et al., 2025 - RNA-seq - MED4|phnD|down"/>
          <p:cNvSpPr/>
          <p:nvPr/>
        </p:nvSpPr>
        <p:spPr>
          <a:xfrm>
            <a:off x="14712919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ell|Weissberg et al., 2025 - RNA-seq - MED4|phoA|ns"/>
          <p:cNvSpPr/>
          <p:nvPr/>
        </p:nvSpPr>
        <p:spPr>
          <a:xfrm>
            <a:off x="15085369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cell|Weissberg et al., 2025 - RNA-seq - MED4|phoB|down"/>
          <p:cNvSpPr/>
          <p:nvPr/>
        </p:nvSpPr>
        <p:spPr>
          <a:xfrm>
            <a:off x="15457820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ell|Weissberg et al., 2025 - RNA-seq - MED4|phoE|up"/>
          <p:cNvSpPr/>
          <p:nvPr/>
        </p:nvSpPr>
        <p:spPr>
          <a:xfrm>
            <a:off x="15830271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ell|Weissberg et al., 2025 - RNA-seq - MED4|phoR|ns"/>
          <p:cNvSpPr/>
          <p:nvPr/>
        </p:nvSpPr>
        <p:spPr>
          <a:xfrm>
            <a:off x="16202721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ell|Weissberg et al., 2025 - RNA-seq - MED4|ppA|down"/>
          <p:cNvSpPr/>
          <p:nvPr/>
        </p:nvSpPr>
        <p:spPr>
          <a:xfrm>
            <a:off x="16575172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ell|Weissberg et al., 2025 - RNA-seq - MED4|ppX|down"/>
          <p:cNvSpPr/>
          <p:nvPr/>
        </p:nvSpPr>
        <p:spPr>
          <a:xfrm>
            <a:off x="16947623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ell|Weissberg et al., 2025 - RNA-seq - MED4|pstA|ns"/>
          <p:cNvSpPr/>
          <p:nvPr/>
        </p:nvSpPr>
        <p:spPr>
          <a:xfrm>
            <a:off x="17320074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cell|Weissberg et al., 2025 - RNA-seq - MED4|pstB|ns"/>
          <p:cNvSpPr/>
          <p:nvPr/>
        </p:nvSpPr>
        <p:spPr>
          <a:xfrm>
            <a:off x="17692524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cell|Weissberg et al., 2025 - RNA-seq - MED4|pstC|up"/>
          <p:cNvSpPr/>
          <p:nvPr/>
        </p:nvSpPr>
        <p:spPr>
          <a:xfrm>
            <a:off x="18064975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ell|Weissberg et al., 2025 - RNA-seq - MED4|pstS|down"/>
          <p:cNvSpPr/>
          <p:nvPr/>
        </p:nvSpPr>
        <p:spPr>
          <a:xfrm>
            <a:off x="18437426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ell|Weissberg et al., 2025 - RNA-seq - MED4|ptrA|ns"/>
          <p:cNvSpPr/>
          <p:nvPr/>
        </p:nvSpPr>
        <p:spPr>
          <a:xfrm>
            <a:off x="18809877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ell|Weissberg et al., 2025 - RNA-seq - MED4|sqdB|down"/>
          <p:cNvSpPr/>
          <p:nvPr/>
        </p:nvSpPr>
        <p:spPr>
          <a:xfrm>
            <a:off x="19182327" y="2715768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ell|Weissberg et al., 2025 - RNA-seq - MED4|unkP2|up"/>
          <p:cNvSpPr/>
          <p:nvPr/>
        </p:nvSpPr>
        <p:spPr>
          <a:xfrm>
            <a:off x="19554778" y="271576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ell|Weissberg et al., 2025 - RNA-seq - MED4|unkP5|ns"/>
          <p:cNvSpPr/>
          <p:nvPr/>
        </p:nvSpPr>
        <p:spPr>
          <a:xfrm>
            <a:off x="19927229" y="2715768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4400" y="3136392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Read et al., 2017 - RNA-seq - MED4</a:t>
            </a:r>
          </a:p>
        </p:txBody>
      </p:sp>
      <p:sp>
        <p:nvSpPr>
          <p:cNvPr id="151" name="cell|Read et al., 2017 - RNA-seq - MED4|amtB/amt1|ns"/>
          <p:cNvSpPr/>
          <p:nvPr/>
        </p:nvSpPr>
        <p:spPr>
          <a:xfrm>
            <a:off x="5029200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ell|Read et al., 2017 - RNA-seq - MED4|cynA|up"/>
          <p:cNvSpPr/>
          <p:nvPr/>
        </p:nvSpPr>
        <p:spPr>
          <a:xfrm>
            <a:off x="5401650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cell|Read et al., 2017 - RNA-seq - MED4|cynB|up"/>
          <p:cNvSpPr/>
          <p:nvPr/>
        </p:nvSpPr>
        <p:spPr>
          <a:xfrm>
            <a:off x="5774101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ell|Read et al., 2017 - RNA-seq - MED4|cynD|nodata"/>
          <p:cNvSpPr/>
          <p:nvPr/>
        </p:nvSpPr>
        <p:spPr>
          <a:xfrm>
            <a:off x="6146552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ell|Read et al., 2017 - RNA-seq - MED4|cynS|ns"/>
          <p:cNvSpPr/>
          <p:nvPr/>
        </p:nvSpPr>
        <p:spPr>
          <a:xfrm>
            <a:off x="6519002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ell|Read et al., 2017 - RNA-seq - MED4|focA|absent"/>
          <p:cNvSpPr/>
          <p:nvPr/>
        </p:nvSpPr>
        <p:spPr>
          <a:xfrm>
            <a:off x="6891453" y="313639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 flipV="1">
            <a:off x="6891453" y="313639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891453" y="313639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7077679" y="334670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cell|Read et al., 2017 - RNA-seq - MED4|glnA|up"/>
          <p:cNvSpPr/>
          <p:nvPr/>
        </p:nvSpPr>
        <p:spPr>
          <a:xfrm>
            <a:off x="7263904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ell|Read et al., 2017 - RNA-seq - MED4|glsF|ns"/>
          <p:cNvSpPr/>
          <p:nvPr/>
        </p:nvSpPr>
        <p:spPr>
          <a:xfrm>
            <a:off x="7636355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ell|Read et al., 2017 - RNA-seq - MED4|nirA|absent"/>
          <p:cNvSpPr/>
          <p:nvPr/>
        </p:nvSpPr>
        <p:spPr>
          <a:xfrm>
            <a:off x="8008805" y="313639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8008805" y="313639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8008805" y="313639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195031" y="334670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ell|Read et al., 2017 - RNA-seq - MED4|nirX|absent"/>
          <p:cNvSpPr/>
          <p:nvPr/>
        </p:nvSpPr>
        <p:spPr>
          <a:xfrm>
            <a:off x="8381256" y="313639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 flipV="1">
            <a:off x="8381256" y="313639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381256" y="313639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567481" y="334670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ell|Read et al., 2017 - RNA-seq - MED4|ntcA|up"/>
          <p:cNvSpPr/>
          <p:nvPr/>
        </p:nvSpPr>
        <p:spPr>
          <a:xfrm>
            <a:off x="8753707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ell|Read et al., 2017 - RNA-seq - MED4|pipX|nodata"/>
          <p:cNvSpPr/>
          <p:nvPr/>
        </p:nvSpPr>
        <p:spPr>
          <a:xfrm>
            <a:off x="9126158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ell|Read et al., 2017 - RNA-seq - MED4|ureA|up"/>
          <p:cNvSpPr/>
          <p:nvPr/>
        </p:nvSpPr>
        <p:spPr>
          <a:xfrm>
            <a:off x="9498608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cell|Read et al., 2017 - RNA-seq - MED4|ureB|up"/>
          <p:cNvSpPr/>
          <p:nvPr/>
        </p:nvSpPr>
        <p:spPr>
          <a:xfrm>
            <a:off x="9871059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cell|Read et al., 2017 - RNA-seq - MED4|ureC|up"/>
          <p:cNvSpPr/>
          <p:nvPr/>
        </p:nvSpPr>
        <p:spPr>
          <a:xfrm>
            <a:off x="10243510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ell|Read et al., 2017 - RNA-seq - MED4|ureG|up"/>
          <p:cNvSpPr/>
          <p:nvPr/>
        </p:nvSpPr>
        <p:spPr>
          <a:xfrm>
            <a:off x="10615960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cell|Read et al., 2017 - RNA-seq - MED4|urtA|up"/>
          <p:cNvSpPr/>
          <p:nvPr/>
        </p:nvSpPr>
        <p:spPr>
          <a:xfrm>
            <a:off x="10988411" y="3136392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cell|Read et al., 2017 - RNA-seq - MED4|urtD|nodata"/>
          <p:cNvSpPr/>
          <p:nvPr/>
        </p:nvSpPr>
        <p:spPr>
          <a:xfrm>
            <a:off x="11360862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cell|Read et al., 2017 - RNA-seq - MED4|urtE|ns"/>
          <p:cNvSpPr/>
          <p:nvPr/>
        </p:nvSpPr>
        <p:spPr>
          <a:xfrm>
            <a:off x="11733313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cell|Read et al., 2017 - RNA-seq - MED4|PMM707|ns"/>
          <p:cNvSpPr/>
          <p:nvPr/>
        </p:nvSpPr>
        <p:spPr>
          <a:xfrm>
            <a:off x="12105763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ell|Read et al., 2017 - RNA-seq - MED4|PMM719|ns"/>
          <p:cNvSpPr/>
          <p:nvPr/>
        </p:nvSpPr>
        <p:spPr>
          <a:xfrm>
            <a:off x="12478214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cell|Read et al., 2017 - RNA-seq - MED4|PMM721|nodata"/>
          <p:cNvSpPr/>
          <p:nvPr/>
        </p:nvSpPr>
        <p:spPr>
          <a:xfrm>
            <a:off x="12850665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ell|Read et al., 2017 - RNA-seq - MED4|PsiP1|ns"/>
          <p:cNvSpPr/>
          <p:nvPr/>
        </p:nvSpPr>
        <p:spPr>
          <a:xfrm>
            <a:off x="13223116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cell|Read et al., 2017 - RNA-seq - MED4|arsR|ns"/>
          <p:cNvSpPr/>
          <p:nvPr/>
        </p:nvSpPr>
        <p:spPr>
          <a:xfrm>
            <a:off x="13595566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cell|Read et al., 2017 - RNA-seq - MED4|gap3|nodata"/>
          <p:cNvSpPr/>
          <p:nvPr/>
        </p:nvSpPr>
        <p:spPr>
          <a:xfrm>
            <a:off x="13968017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cell|Read et al., 2017 - RNA-seq - MED4|mfs|nodata"/>
          <p:cNvSpPr/>
          <p:nvPr/>
        </p:nvSpPr>
        <p:spPr>
          <a:xfrm>
            <a:off x="14340468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cell|Read et al., 2017 - RNA-seq - MED4|phnD|nodata"/>
          <p:cNvSpPr/>
          <p:nvPr/>
        </p:nvSpPr>
        <p:spPr>
          <a:xfrm>
            <a:off x="14712919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cell|Read et al., 2017 - RNA-seq - MED4|phoA|ns"/>
          <p:cNvSpPr/>
          <p:nvPr/>
        </p:nvSpPr>
        <p:spPr>
          <a:xfrm>
            <a:off x="15085369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cell|Read et al., 2017 - RNA-seq - MED4|phoB|ns"/>
          <p:cNvSpPr/>
          <p:nvPr/>
        </p:nvSpPr>
        <p:spPr>
          <a:xfrm>
            <a:off x="15457820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cell|Read et al., 2017 - RNA-seq - MED4|phoE|ns"/>
          <p:cNvSpPr/>
          <p:nvPr/>
        </p:nvSpPr>
        <p:spPr>
          <a:xfrm>
            <a:off x="15830271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cell|Read et al., 2017 - RNA-seq - MED4|phoR|nodata"/>
          <p:cNvSpPr/>
          <p:nvPr/>
        </p:nvSpPr>
        <p:spPr>
          <a:xfrm>
            <a:off x="16202721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cell|Read et al., 2017 - RNA-seq - MED4|ppA|down"/>
          <p:cNvSpPr/>
          <p:nvPr/>
        </p:nvSpPr>
        <p:spPr>
          <a:xfrm>
            <a:off x="16575172" y="313639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cell|Read et al., 2017 - RNA-seq - MED4|ppX|nodata"/>
          <p:cNvSpPr/>
          <p:nvPr/>
        </p:nvSpPr>
        <p:spPr>
          <a:xfrm>
            <a:off x="16947623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cell|Read et al., 2017 - RNA-seq - MED4|pstA|nodata"/>
          <p:cNvSpPr/>
          <p:nvPr/>
        </p:nvSpPr>
        <p:spPr>
          <a:xfrm>
            <a:off x="17320074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cell|Read et al., 2017 - RNA-seq - MED4|pstB|ns"/>
          <p:cNvSpPr/>
          <p:nvPr/>
        </p:nvSpPr>
        <p:spPr>
          <a:xfrm>
            <a:off x="17692524" y="3136392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ell|Read et al., 2017 - RNA-seq - MED4|pstC|nodata"/>
          <p:cNvSpPr/>
          <p:nvPr/>
        </p:nvSpPr>
        <p:spPr>
          <a:xfrm>
            <a:off x="18064975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cell|Read et al., 2017 - RNA-seq - MED4|pstS|down"/>
          <p:cNvSpPr/>
          <p:nvPr/>
        </p:nvSpPr>
        <p:spPr>
          <a:xfrm>
            <a:off x="18437426" y="313639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cell|Read et al., 2017 - RNA-seq - MED4|ptrA|nodata"/>
          <p:cNvSpPr/>
          <p:nvPr/>
        </p:nvSpPr>
        <p:spPr>
          <a:xfrm>
            <a:off x="18809877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cell|Read et al., 2017 - RNA-seq - MED4|sqdB|down"/>
          <p:cNvSpPr/>
          <p:nvPr/>
        </p:nvSpPr>
        <p:spPr>
          <a:xfrm>
            <a:off x="19182327" y="313639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cell|Read et al., 2017 - RNA-seq - MED4|unkP2|nodata"/>
          <p:cNvSpPr/>
          <p:nvPr/>
        </p:nvSpPr>
        <p:spPr>
          <a:xfrm>
            <a:off x="19554778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cell|Read et al., 2017 - RNA-seq - MED4|unkP5|nodata"/>
          <p:cNvSpPr/>
          <p:nvPr/>
        </p:nvSpPr>
        <p:spPr>
          <a:xfrm>
            <a:off x="19927229" y="313639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14400" y="3557016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MED4</a:t>
            </a:r>
          </a:p>
        </p:txBody>
      </p:sp>
      <p:sp>
        <p:nvSpPr>
          <p:cNvPr id="202" name="cell|Tolonen et al., 2006 - Microarray - MED4|amtB/amt1|ns"/>
          <p:cNvSpPr/>
          <p:nvPr/>
        </p:nvSpPr>
        <p:spPr>
          <a:xfrm>
            <a:off x="5029200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cell|Tolonen et al., 2006 - Microarray - MED4|cynA|up"/>
          <p:cNvSpPr/>
          <p:nvPr/>
        </p:nvSpPr>
        <p:spPr>
          <a:xfrm>
            <a:off x="5401650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cell|Tolonen et al., 2006 - Microarray - MED4|cynB|up"/>
          <p:cNvSpPr/>
          <p:nvPr/>
        </p:nvSpPr>
        <p:spPr>
          <a:xfrm>
            <a:off x="5774101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ell|Tolonen et al., 2006 - Microarray - MED4|cynD|up"/>
          <p:cNvSpPr/>
          <p:nvPr/>
        </p:nvSpPr>
        <p:spPr>
          <a:xfrm>
            <a:off x="6146552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cell|Tolonen et al., 2006 - Microarray - MED4|cynS|ns"/>
          <p:cNvSpPr/>
          <p:nvPr/>
        </p:nvSpPr>
        <p:spPr>
          <a:xfrm>
            <a:off x="6519002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ell|Tolonen et al., 2006 - Microarray - MED4|focA|absent"/>
          <p:cNvSpPr/>
          <p:nvPr/>
        </p:nvSpPr>
        <p:spPr>
          <a:xfrm>
            <a:off x="6891453" y="355701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6891453" y="355701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891453" y="355701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077679" y="376732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cell|Tolonen et al., 2006 - Microarray - MED4|glnA|up"/>
          <p:cNvSpPr/>
          <p:nvPr/>
        </p:nvSpPr>
        <p:spPr>
          <a:xfrm>
            <a:off x="7263904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ell|Tolonen et al., 2006 - Microarray - MED4|glsF|up"/>
          <p:cNvSpPr/>
          <p:nvPr/>
        </p:nvSpPr>
        <p:spPr>
          <a:xfrm>
            <a:off x="7636355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ell|Tolonen et al., 2006 - Microarray - MED4|nirA|absent"/>
          <p:cNvSpPr/>
          <p:nvPr/>
        </p:nvSpPr>
        <p:spPr>
          <a:xfrm>
            <a:off x="8008805" y="355701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 flipV="1">
            <a:off x="8008805" y="355701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008805" y="355701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8195031" y="376732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cell|Tolonen et al., 2006 - Microarray - MED4|nirX|absent"/>
          <p:cNvSpPr/>
          <p:nvPr/>
        </p:nvSpPr>
        <p:spPr>
          <a:xfrm>
            <a:off x="8381256" y="355701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V="1">
            <a:off x="8381256" y="355701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381256" y="355701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567481" y="376732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cell|Tolonen et al., 2006 - Microarray - MED4|ntcA|up"/>
          <p:cNvSpPr/>
          <p:nvPr/>
        </p:nvSpPr>
        <p:spPr>
          <a:xfrm>
            <a:off x="8753707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ell|Tolonen et al., 2006 - Microarray - MED4|pipX|ns"/>
          <p:cNvSpPr/>
          <p:nvPr/>
        </p:nvSpPr>
        <p:spPr>
          <a:xfrm>
            <a:off x="9126158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cell|Tolonen et al., 2006 - Microarray - MED4|ureA|up"/>
          <p:cNvSpPr/>
          <p:nvPr/>
        </p:nvSpPr>
        <p:spPr>
          <a:xfrm>
            <a:off x="9498608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cell|Tolonen et al., 2006 - Microarray - MED4|ureB|up"/>
          <p:cNvSpPr/>
          <p:nvPr/>
        </p:nvSpPr>
        <p:spPr>
          <a:xfrm>
            <a:off x="9871059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cell|Tolonen et al., 2006 - Microarray - MED4|ureC|ns"/>
          <p:cNvSpPr/>
          <p:nvPr/>
        </p:nvSpPr>
        <p:spPr>
          <a:xfrm>
            <a:off x="10243510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cell|Tolonen et al., 2006 - Microarray - MED4|ureG|up"/>
          <p:cNvSpPr/>
          <p:nvPr/>
        </p:nvSpPr>
        <p:spPr>
          <a:xfrm>
            <a:off x="10615960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cell|Tolonen et al., 2006 - Microarray - MED4|urtA|up"/>
          <p:cNvSpPr/>
          <p:nvPr/>
        </p:nvSpPr>
        <p:spPr>
          <a:xfrm>
            <a:off x="10988411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cell|Tolonen et al., 2006 - Microarray - MED4|urtD|ns"/>
          <p:cNvSpPr/>
          <p:nvPr/>
        </p:nvSpPr>
        <p:spPr>
          <a:xfrm>
            <a:off x="11360862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cell|Tolonen et al., 2006 - Microarray - MED4|urtE|ns"/>
          <p:cNvSpPr/>
          <p:nvPr/>
        </p:nvSpPr>
        <p:spPr>
          <a:xfrm>
            <a:off x="11733313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cell|Tolonen et al., 2006 - Microarray - MED4|PMM707|ns"/>
          <p:cNvSpPr/>
          <p:nvPr/>
        </p:nvSpPr>
        <p:spPr>
          <a:xfrm>
            <a:off x="12105763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cell|Tolonen et al., 2006 - Microarray - MED4|PMM719|up"/>
          <p:cNvSpPr/>
          <p:nvPr/>
        </p:nvSpPr>
        <p:spPr>
          <a:xfrm>
            <a:off x="12478214" y="355701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cell|Tolonen et al., 2006 - Microarray - MED4|PMM721|ns"/>
          <p:cNvSpPr/>
          <p:nvPr/>
        </p:nvSpPr>
        <p:spPr>
          <a:xfrm>
            <a:off x="12850665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cell|Tolonen et al., 2006 - Microarray - MED4|PsiP1|ns"/>
          <p:cNvSpPr/>
          <p:nvPr/>
        </p:nvSpPr>
        <p:spPr>
          <a:xfrm>
            <a:off x="13223116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cell|Tolonen et al., 2006 - Microarray - MED4|arsR|ns"/>
          <p:cNvSpPr/>
          <p:nvPr/>
        </p:nvSpPr>
        <p:spPr>
          <a:xfrm>
            <a:off x="13595566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cell|Tolonen et al., 2006 - Microarray - MED4|gap3|ns"/>
          <p:cNvSpPr/>
          <p:nvPr/>
        </p:nvSpPr>
        <p:spPr>
          <a:xfrm>
            <a:off x="13968017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cell|Tolonen et al., 2006 - Microarray - MED4|mfs|ns"/>
          <p:cNvSpPr/>
          <p:nvPr/>
        </p:nvSpPr>
        <p:spPr>
          <a:xfrm>
            <a:off x="14340468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cell|Tolonen et al., 2006 - Microarray - MED4|phnD|down"/>
          <p:cNvSpPr/>
          <p:nvPr/>
        </p:nvSpPr>
        <p:spPr>
          <a:xfrm>
            <a:off x="14712919" y="3557016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cell|Tolonen et al., 2006 - Microarray - MED4|phoA|ns"/>
          <p:cNvSpPr/>
          <p:nvPr/>
        </p:nvSpPr>
        <p:spPr>
          <a:xfrm>
            <a:off x="15085369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cell|Tolonen et al., 2006 - Microarray - MED4|phoB|ns"/>
          <p:cNvSpPr/>
          <p:nvPr/>
        </p:nvSpPr>
        <p:spPr>
          <a:xfrm>
            <a:off x="15457820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cell|Tolonen et al., 2006 - Microarray - MED4|phoE|ns"/>
          <p:cNvSpPr/>
          <p:nvPr/>
        </p:nvSpPr>
        <p:spPr>
          <a:xfrm>
            <a:off x="15830271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cell|Tolonen et al., 2006 - Microarray - MED4|phoR|ns"/>
          <p:cNvSpPr/>
          <p:nvPr/>
        </p:nvSpPr>
        <p:spPr>
          <a:xfrm>
            <a:off x="16202721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cell|Tolonen et al., 2006 - Microarray - MED4|ppA|down"/>
          <p:cNvSpPr/>
          <p:nvPr/>
        </p:nvSpPr>
        <p:spPr>
          <a:xfrm>
            <a:off x="16575172" y="3557016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cell|Tolonen et al., 2006 - Microarray - MED4|ppX|ns"/>
          <p:cNvSpPr/>
          <p:nvPr/>
        </p:nvSpPr>
        <p:spPr>
          <a:xfrm>
            <a:off x="16947623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cell|Tolonen et al., 2006 - Microarray - MED4|pstA|ns"/>
          <p:cNvSpPr/>
          <p:nvPr/>
        </p:nvSpPr>
        <p:spPr>
          <a:xfrm>
            <a:off x="17320074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cell|Tolonen et al., 2006 - Microarray - MED4|pstB|ns"/>
          <p:cNvSpPr/>
          <p:nvPr/>
        </p:nvSpPr>
        <p:spPr>
          <a:xfrm>
            <a:off x="17692524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cell|Tolonen et al., 2006 - Microarray - MED4|pstC|ns"/>
          <p:cNvSpPr/>
          <p:nvPr/>
        </p:nvSpPr>
        <p:spPr>
          <a:xfrm>
            <a:off x="18064975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ell|Tolonen et al., 2006 - Microarray - MED4|pstS|down"/>
          <p:cNvSpPr/>
          <p:nvPr/>
        </p:nvSpPr>
        <p:spPr>
          <a:xfrm>
            <a:off x="18437426" y="3557016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cell|Tolonen et al., 2006 - Microarray - MED4|ptrA|ns"/>
          <p:cNvSpPr/>
          <p:nvPr/>
        </p:nvSpPr>
        <p:spPr>
          <a:xfrm>
            <a:off x="18809877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cell|Tolonen et al., 2006 - Microarray - MED4|sqdB|ns"/>
          <p:cNvSpPr/>
          <p:nvPr/>
        </p:nvSpPr>
        <p:spPr>
          <a:xfrm>
            <a:off x="19182327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cell|Tolonen et al., 2006 - Microarray - MED4|unkP2|ns"/>
          <p:cNvSpPr/>
          <p:nvPr/>
        </p:nvSpPr>
        <p:spPr>
          <a:xfrm>
            <a:off x="19554778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cell|Tolonen et al., 2006 - Microarray - MED4|unkP5|ns"/>
          <p:cNvSpPr/>
          <p:nvPr/>
        </p:nvSpPr>
        <p:spPr>
          <a:xfrm>
            <a:off x="19927229" y="355701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914400" y="3977640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MIT9313</a:t>
            </a:r>
          </a:p>
        </p:txBody>
      </p:sp>
      <p:sp>
        <p:nvSpPr>
          <p:cNvPr id="253" name="cell|Tolonen et al., 2006 - Microarray - MIT9313|amtB/amt1|up"/>
          <p:cNvSpPr/>
          <p:nvPr/>
        </p:nvSpPr>
        <p:spPr>
          <a:xfrm>
            <a:off x="5029200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cell|Tolonen et al., 2006 - Microarray - MIT9313|cynA|absent"/>
          <p:cNvSpPr/>
          <p:nvPr/>
        </p:nvSpPr>
        <p:spPr>
          <a:xfrm>
            <a:off x="5401650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 flipV="1">
            <a:off x="5401650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5401650" y="397764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5587876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cell|Tolonen et al., 2006 - Microarray - MIT9313|cynB|absent"/>
          <p:cNvSpPr/>
          <p:nvPr/>
        </p:nvSpPr>
        <p:spPr>
          <a:xfrm>
            <a:off x="5774101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 flipV="1">
            <a:off x="5774101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5774101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5960326" y="418795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cell|Tolonen et al., 2006 - Microarray - MIT9313|cynD|absent"/>
          <p:cNvSpPr/>
          <p:nvPr/>
        </p:nvSpPr>
        <p:spPr>
          <a:xfrm>
            <a:off x="6146552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6146552" y="397764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146552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6332777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cell|Tolonen et al., 2006 - Microarray - MIT9313|cynS|absent"/>
          <p:cNvSpPr/>
          <p:nvPr/>
        </p:nvSpPr>
        <p:spPr>
          <a:xfrm>
            <a:off x="6519002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 flipV="1">
            <a:off x="6519002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6519002" y="397764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6705228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cell|Tolonen et al., 2006 - Microarray - MIT9313|focA|up"/>
          <p:cNvSpPr/>
          <p:nvPr/>
        </p:nvSpPr>
        <p:spPr>
          <a:xfrm>
            <a:off x="6891453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cell|Tolonen et al., 2006 - Microarray - MIT9313|glnA|up"/>
          <p:cNvSpPr/>
          <p:nvPr/>
        </p:nvSpPr>
        <p:spPr>
          <a:xfrm>
            <a:off x="7263904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cell|Tolonen et al., 2006 - Microarray - MIT9313|glsF|ns"/>
          <p:cNvSpPr/>
          <p:nvPr/>
        </p:nvSpPr>
        <p:spPr>
          <a:xfrm>
            <a:off x="7636355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cell|Tolonen et al., 2006 - Microarray - MIT9313|nirA|up"/>
          <p:cNvSpPr/>
          <p:nvPr/>
        </p:nvSpPr>
        <p:spPr>
          <a:xfrm>
            <a:off x="8008805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cell|Tolonen et al., 2006 - Microarray - MIT9313|nirX|up"/>
          <p:cNvSpPr/>
          <p:nvPr/>
        </p:nvSpPr>
        <p:spPr>
          <a:xfrm>
            <a:off x="8381256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cell|Tolonen et al., 2006 - Microarray - MIT9313|ntcA|up"/>
          <p:cNvSpPr/>
          <p:nvPr/>
        </p:nvSpPr>
        <p:spPr>
          <a:xfrm>
            <a:off x="8753707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cell|Tolonen et al., 2006 - Microarray - MIT9313|pipX|ns"/>
          <p:cNvSpPr/>
          <p:nvPr/>
        </p:nvSpPr>
        <p:spPr>
          <a:xfrm>
            <a:off x="9126158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cell|Tolonen et al., 2006 - Microarray - MIT9313|ureA|ns"/>
          <p:cNvSpPr/>
          <p:nvPr/>
        </p:nvSpPr>
        <p:spPr>
          <a:xfrm>
            <a:off x="9498608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cell|Tolonen et al., 2006 - Microarray - MIT9313|ureB|ns"/>
          <p:cNvSpPr/>
          <p:nvPr/>
        </p:nvSpPr>
        <p:spPr>
          <a:xfrm>
            <a:off x="9871059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cell|Tolonen et al., 2006 - Microarray - MIT9313|ureC|ns"/>
          <p:cNvSpPr/>
          <p:nvPr/>
        </p:nvSpPr>
        <p:spPr>
          <a:xfrm>
            <a:off x="10243510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cell|Tolonen et al., 2006 - Microarray - MIT9313|ureG|ns"/>
          <p:cNvSpPr/>
          <p:nvPr/>
        </p:nvSpPr>
        <p:spPr>
          <a:xfrm>
            <a:off x="10615960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cell|Tolonen et al., 2006 - Microarray - MIT9313|urtA|up"/>
          <p:cNvSpPr/>
          <p:nvPr/>
        </p:nvSpPr>
        <p:spPr>
          <a:xfrm>
            <a:off x="10988411" y="397764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cell|Tolonen et al., 2006 - Microarray - MIT9313|urtD|ns"/>
          <p:cNvSpPr/>
          <p:nvPr/>
        </p:nvSpPr>
        <p:spPr>
          <a:xfrm>
            <a:off x="11360862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cell|Tolonen et al., 2006 - Microarray - MIT9313|urtE|ns"/>
          <p:cNvSpPr/>
          <p:nvPr/>
        </p:nvSpPr>
        <p:spPr>
          <a:xfrm>
            <a:off x="11733313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cell|Tolonen et al., 2006 - Microarray - MIT9313|PMM707|absent"/>
          <p:cNvSpPr/>
          <p:nvPr/>
        </p:nvSpPr>
        <p:spPr>
          <a:xfrm>
            <a:off x="12105763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 flipV="1">
            <a:off x="12105763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2105763" y="397764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2291989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ell|Tolonen et al., 2006 - Microarray - MIT9313|PMM719|absent"/>
          <p:cNvSpPr/>
          <p:nvPr/>
        </p:nvSpPr>
        <p:spPr>
          <a:xfrm>
            <a:off x="12478214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V="1">
            <a:off x="12478214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2478214" y="397764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2664440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ell|Tolonen et al., 2006 - Microarray - MIT9313|PMM721|absent"/>
          <p:cNvSpPr/>
          <p:nvPr/>
        </p:nvSpPr>
        <p:spPr>
          <a:xfrm>
            <a:off x="12850665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nnector 292"/>
          <p:cNvCxnSpPr/>
          <p:nvPr/>
        </p:nvCxnSpPr>
        <p:spPr>
          <a:xfrm flipV="1">
            <a:off x="12850665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12850665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3036890" y="418795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cell|Tolonen et al., 2006 - Microarray - MIT9313|PsiP1|absent"/>
          <p:cNvSpPr/>
          <p:nvPr/>
        </p:nvSpPr>
        <p:spPr>
          <a:xfrm>
            <a:off x="13223116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 flipV="1">
            <a:off x="13223116" y="397764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3223116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3409341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cell|Tolonen et al., 2006 - Microarray - MIT9313|arsR|ns"/>
          <p:cNvSpPr/>
          <p:nvPr/>
        </p:nvSpPr>
        <p:spPr>
          <a:xfrm>
            <a:off x="13595566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ell|Tolonen et al., 2006 - Microarray - MIT9313|gap3|ns"/>
          <p:cNvSpPr/>
          <p:nvPr/>
        </p:nvSpPr>
        <p:spPr>
          <a:xfrm>
            <a:off x="13968017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cell|Tolonen et al., 2006 - Microarray - MIT9313|mfs|ns"/>
          <p:cNvSpPr/>
          <p:nvPr/>
        </p:nvSpPr>
        <p:spPr>
          <a:xfrm>
            <a:off x="14340468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ell|Tolonen et al., 2006 - Microarray - MIT9313|phnD|ns"/>
          <p:cNvSpPr/>
          <p:nvPr/>
        </p:nvSpPr>
        <p:spPr>
          <a:xfrm>
            <a:off x="14712919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cell|Tolonen et al., 2006 - Microarray - MIT9313|phoA|absent"/>
          <p:cNvSpPr/>
          <p:nvPr/>
        </p:nvSpPr>
        <p:spPr>
          <a:xfrm>
            <a:off x="15085369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5085369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5085369" y="397764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5271595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cell|Tolonen et al., 2006 - Microarray - MIT9313|phoB|ns"/>
          <p:cNvSpPr/>
          <p:nvPr/>
        </p:nvSpPr>
        <p:spPr>
          <a:xfrm>
            <a:off x="15457820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ell|Tolonen et al., 2006 - Microarray - MIT9313|phoE|ns"/>
          <p:cNvSpPr/>
          <p:nvPr/>
        </p:nvSpPr>
        <p:spPr>
          <a:xfrm>
            <a:off x="15830271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cell|Tolonen et al., 2006 - Microarray - MIT9313|phoR|ns"/>
          <p:cNvSpPr/>
          <p:nvPr/>
        </p:nvSpPr>
        <p:spPr>
          <a:xfrm>
            <a:off x="16202721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cell|Tolonen et al., 2006 - Microarray - MIT9313|ppA|ns"/>
          <p:cNvSpPr/>
          <p:nvPr/>
        </p:nvSpPr>
        <p:spPr>
          <a:xfrm>
            <a:off x="16575172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cell|Tolonen et al., 2006 - Microarray - MIT9313|ppX|ns"/>
          <p:cNvSpPr/>
          <p:nvPr/>
        </p:nvSpPr>
        <p:spPr>
          <a:xfrm>
            <a:off x="16947623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cell|Tolonen et al., 2006 - Microarray - MIT9313|pstA|ns"/>
          <p:cNvSpPr/>
          <p:nvPr/>
        </p:nvSpPr>
        <p:spPr>
          <a:xfrm>
            <a:off x="17320074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cell|Tolonen et al., 2006 - Microarray - MIT9313|pstB|ns"/>
          <p:cNvSpPr/>
          <p:nvPr/>
        </p:nvSpPr>
        <p:spPr>
          <a:xfrm>
            <a:off x="17692524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cell|Tolonen et al., 2006 - Microarray - MIT9313|pstC|ns"/>
          <p:cNvSpPr/>
          <p:nvPr/>
        </p:nvSpPr>
        <p:spPr>
          <a:xfrm>
            <a:off x="18064975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cell|Tolonen et al., 2006 - Microarray - MIT9313|pstS|ns"/>
          <p:cNvSpPr/>
          <p:nvPr/>
        </p:nvSpPr>
        <p:spPr>
          <a:xfrm>
            <a:off x="18437426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cell|Tolonen et al., 2006 - Microarray - MIT9313|ptrA|absent"/>
          <p:cNvSpPr/>
          <p:nvPr/>
        </p:nvSpPr>
        <p:spPr>
          <a:xfrm>
            <a:off x="18809877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 flipV="1">
            <a:off x="18809877" y="397764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8809877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8996102" y="418795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cell|Tolonen et al., 2006 - Microarray - MIT9313|sqdB|ns"/>
          <p:cNvSpPr/>
          <p:nvPr/>
        </p:nvSpPr>
        <p:spPr>
          <a:xfrm>
            <a:off x="19182327" y="397764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cell|Tolonen et al., 2006 - Microarray - MIT9313|unkP2|absent"/>
          <p:cNvSpPr/>
          <p:nvPr/>
        </p:nvSpPr>
        <p:spPr>
          <a:xfrm>
            <a:off x="19554778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 flipV="1">
            <a:off x="19554778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9554778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9741003" y="418795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cell|Tolonen et al., 2006 - Microarray - MIT9313|unkP5|absent"/>
          <p:cNvSpPr/>
          <p:nvPr/>
        </p:nvSpPr>
        <p:spPr>
          <a:xfrm>
            <a:off x="19927229" y="397764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Connector 326"/>
          <p:cNvCxnSpPr/>
          <p:nvPr/>
        </p:nvCxnSpPr>
        <p:spPr>
          <a:xfrm flipV="1">
            <a:off x="19927229" y="397764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9927229" y="397764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20113454" y="418795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TextBox 329"/>
          <p:cNvSpPr txBox="1"/>
          <p:nvPr/>
        </p:nvSpPr>
        <p:spPr>
          <a:xfrm>
            <a:off x="914400" y="4398264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Lin et al., 2015 - RNA-seq - NATL2A</a:t>
            </a:r>
          </a:p>
        </p:txBody>
      </p:sp>
      <p:sp>
        <p:nvSpPr>
          <p:cNvPr id="331" name="cell|Lin et al., 2015 - RNA-seq - NATL2A|amtB/amt1|ns"/>
          <p:cNvSpPr/>
          <p:nvPr/>
        </p:nvSpPr>
        <p:spPr>
          <a:xfrm>
            <a:off x="5029200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cell|Lin et al., 2015 - RNA-seq - NATL2A|cynA|absent"/>
          <p:cNvSpPr/>
          <p:nvPr/>
        </p:nvSpPr>
        <p:spPr>
          <a:xfrm>
            <a:off x="5401650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 flipV="1">
            <a:off x="5401650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5401650" y="439826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5587876" y="460857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ell|Lin et al., 2015 - RNA-seq - NATL2A|cynB|absent"/>
          <p:cNvSpPr/>
          <p:nvPr/>
        </p:nvSpPr>
        <p:spPr>
          <a:xfrm>
            <a:off x="5774101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5774101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5774101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5960326" y="460857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ell|Lin et al., 2015 - RNA-seq - NATL2A|cynD|absent"/>
          <p:cNvSpPr/>
          <p:nvPr/>
        </p:nvSpPr>
        <p:spPr>
          <a:xfrm>
            <a:off x="6146552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Connector 340"/>
          <p:cNvCxnSpPr/>
          <p:nvPr/>
        </p:nvCxnSpPr>
        <p:spPr>
          <a:xfrm flipV="1">
            <a:off x="6146552" y="4398264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6146552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6332777" y="460857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cell|Lin et al., 2015 - RNA-seq - NATL2A|cynS|ns"/>
          <p:cNvSpPr/>
          <p:nvPr/>
        </p:nvSpPr>
        <p:spPr>
          <a:xfrm>
            <a:off x="6519002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cell|Lin et al., 2015 - RNA-seq - NATL2A|focA|ns"/>
          <p:cNvSpPr/>
          <p:nvPr/>
        </p:nvSpPr>
        <p:spPr>
          <a:xfrm>
            <a:off x="6891453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cell|Lin et al., 2015 - RNA-seq - NATL2A|glnA|ns"/>
          <p:cNvSpPr/>
          <p:nvPr/>
        </p:nvSpPr>
        <p:spPr>
          <a:xfrm>
            <a:off x="7263904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cell|Lin et al., 2015 - RNA-seq - NATL2A|glsF|ns"/>
          <p:cNvSpPr/>
          <p:nvPr/>
        </p:nvSpPr>
        <p:spPr>
          <a:xfrm>
            <a:off x="7636355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cell|Lin et al., 2015 - RNA-seq - NATL2A|nirA|ns"/>
          <p:cNvSpPr/>
          <p:nvPr/>
        </p:nvSpPr>
        <p:spPr>
          <a:xfrm>
            <a:off x="8008805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cell|Lin et al., 2015 - RNA-seq - NATL2A|nirX|ns"/>
          <p:cNvSpPr/>
          <p:nvPr/>
        </p:nvSpPr>
        <p:spPr>
          <a:xfrm>
            <a:off x="8381256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cell|Lin et al., 2015 - RNA-seq - NATL2A|ntcA|ns"/>
          <p:cNvSpPr/>
          <p:nvPr/>
        </p:nvSpPr>
        <p:spPr>
          <a:xfrm>
            <a:off x="8753707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cell|Lin et al., 2015 - RNA-seq - NATL2A|pipX|ns"/>
          <p:cNvSpPr/>
          <p:nvPr/>
        </p:nvSpPr>
        <p:spPr>
          <a:xfrm>
            <a:off x="9126158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cell|Lin et al., 2015 - RNA-seq - NATL2A|ureA|ns"/>
          <p:cNvSpPr/>
          <p:nvPr/>
        </p:nvSpPr>
        <p:spPr>
          <a:xfrm>
            <a:off x="9498608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cell|Lin et al., 2015 - RNA-seq - NATL2A|ureB|ns"/>
          <p:cNvSpPr/>
          <p:nvPr/>
        </p:nvSpPr>
        <p:spPr>
          <a:xfrm>
            <a:off x="9871059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cell|Lin et al., 2015 - RNA-seq - NATL2A|ureC|ns"/>
          <p:cNvSpPr/>
          <p:nvPr/>
        </p:nvSpPr>
        <p:spPr>
          <a:xfrm>
            <a:off x="10243510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cell|Lin et al., 2015 - RNA-seq - NATL2A|ureG|ns"/>
          <p:cNvSpPr/>
          <p:nvPr/>
        </p:nvSpPr>
        <p:spPr>
          <a:xfrm>
            <a:off x="10615960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cell|Lin et al., 2015 - RNA-seq - NATL2A|urtA|ns"/>
          <p:cNvSpPr/>
          <p:nvPr/>
        </p:nvSpPr>
        <p:spPr>
          <a:xfrm>
            <a:off x="10988411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cell|Lin et al., 2015 - RNA-seq - NATL2A|urtD|ns"/>
          <p:cNvSpPr/>
          <p:nvPr/>
        </p:nvSpPr>
        <p:spPr>
          <a:xfrm>
            <a:off x="11360862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cell|Lin et al., 2015 - RNA-seq - NATL2A|urtE|ns"/>
          <p:cNvSpPr/>
          <p:nvPr/>
        </p:nvSpPr>
        <p:spPr>
          <a:xfrm>
            <a:off x="11733313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cell|Lin et al., 2015 - RNA-seq - NATL2A|PMM707|up"/>
          <p:cNvSpPr/>
          <p:nvPr/>
        </p:nvSpPr>
        <p:spPr>
          <a:xfrm>
            <a:off x="12105763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cell|Lin et al., 2015 - RNA-seq - NATL2A|PMM719|absent"/>
          <p:cNvSpPr/>
          <p:nvPr/>
        </p:nvSpPr>
        <p:spPr>
          <a:xfrm>
            <a:off x="12478214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Connector 360"/>
          <p:cNvCxnSpPr/>
          <p:nvPr/>
        </p:nvCxnSpPr>
        <p:spPr>
          <a:xfrm flipV="1">
            <a:off x="12478214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2478214" y="439826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2664440" y="460857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cell|Lin et al., 2015 - RNA-seq - NATL2A|PMM721|absent"/>
          <p:cNvSpPr/>
          <p:nvPr/>
        </p:nvSpPr>
        <p:spPr>
          <a:xfrm>
            <a:off x="12850665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 flipV="1">
            <a:off x="12850665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2850665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3036890" y="460857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cell|Lin et al., 2015 - RNA-seq - NATL2A|PsiP1|absent"/>
          <p:cNvSpPr/>
          <p:nvPr/>
        </p:nvSpPr>
        <p:spPr>
          <a:xfrm>
            <a:off x="13223116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Connector 368"/>
          <p:cNvCxnSpPr/>
          <p:nvPr/>
        </p:nvCxnSpPr>
        <p:spPr>
          <a:xfrm flipV="1">
            <a:off x="13223116" y="4398264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13223116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13409341" y="460857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cell|Lin et al., 2015 - RNA-seq - NATL2A|arsR|ns"/>
          <p:cNvSpPr/>
          <p:nvPr/>
        </p:nvSpPr>
        <p:spPr>
          <a:xfrm>
            <a:off x="13595566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cell|Lin et al., 2015 - RNA-seq - NATL2A|gap3|up"/>
          <p:cNvSpPr/>
          <p:nvPr/>
        </p:nvSpPr>
        <p:spPr>
          <a:xfrm>
            <a:off x="13968017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cell|Lin et al., 2015 - RNA-seq - NATL2A|mfs|up"/>
          <p:cNvSpPr/>
          <p:nvPr/>
        </p:nvSpPr>
        <p:spPr>
          <a:xfrm>
            <a:off x="14340468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cell|Lin et al., 2015 - RNA-seq - NATL2A|phnD|ns"/>
          <p:cNvSpPr/>
          <p:nvPr/>
        </p:nvSpPr>
        <p:spPr>
          <a:xfrm>
            <a:off x="14712919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cell|Lin et al., 2015 - RNA-seq - NATL2A|phoA|up"/>
          <p:cNvSpPr/>
          <p:nvPr/>
        </p:nvSpPr>
        <p:spPr>
          <a:xfrm>
            <a:off x="15085369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cell|Lin et al., 2015 - RNA-seq - NATL2A|phoB|up"/>
          <p:cNvSpPr/>
          <p:nvPr/>
        </p:nvSpPr>
        <p:spPr>
          <a:xfrm>
            <a:off x="15457820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cell|Lin et al., 2015 - RNA-seq - NATL2A|phoE|up"/>
          <p:cNvSpPr/>
          <p:nvPr/>
        </p:nvSpPr>
        <p:spPr>
          <a:xfrm>
            <a:off x="15830271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cell|Lin et al., 2015 - RNA-seq - NATL2A|phoR|up"/>
          <p:cNvSpPr/>
          <p:nvPr/>
        </p:nvSpPr>
        <p:spPr>
          <a:xfrm>
            <a:off x="16202721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cell|Lin et al., 2015 - RNA-seq - NATL2A|ppA|ns"/>
          <p:cNvSpPr/>
          <p:nvPr/>
        </p:nvSpPr>
        <p:spPr>
          <a:xfrm>
            <a:off x="16575172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cell|Lin et al., 2015 - RNA-seq - NATL2A|ppX|ns"/>
          <p:cNvSpPr/>
          <p:nvPr/>
        </p:nvSpPr>
        <p:spPr>
          <a:xfrm>
            <a:off x="16947623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cell|Lin et al., 2015 - RNA-seq - NATL2A|pstA|up"/>
          <p:cNvSpPr/>
          <p:nvPr/>
        </p:nvSpPr>
        <p:spPr>
          <a:xfrm>
            <a:off x="17320074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cell|Lin et al., 2015 - RNA-seq - NATL2A|pstB|up"/>
          <p:cNvSpPr/>
          <p:nvPr/>
        </p:nvSpPr>
        <p:spPr>
          <a:xfrm>
            <a:off x="17692524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cell|Lin et al., 2015 - RNA-seq - NATL2A|pstC|up"/>
          <p:cNvSpPr/>
          <p:nvPr/>
        </p:nvSpPr>
        <p:spPr>
          <a:xfrm>
            <a:off x="18064975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cell|Lin et al., 2015 - RNA-seq - NATL2A|pstS|up"/>
          <p:cNvSpPr/>
          <p:nvPr/>
        </p:nvSpPr>
        <p:spPr>
          <a:xfrm>
            <a:off x="18437426" y="4398264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cell|Lin et al., 2015 - RNA-seq - NATL2A|ptrA|ns"/>
          <p:cNvSpPr/>
          <p:nvPr/>
        </p:nvSpPr>
        <p:spPr>
          <a:xfrm>
            <a:off x="18809877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cell|Lin et al., 2015 - RNA-seq - NATL2A|sqdB|ns"/>
          <p:cNvSpPr/>
          <p:nvPr/>
        </p:nvSpPr>
        <p:spPr>
          <a:xfrm>
            <a:off x="19182327" y="4398264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cell|Lin et al., 2015 - RNA-seq - NATL2A|unkP2|absent"/>
          <p:cNvSpPr/>
          <p:nvPr/>
        </p:nvSpPr>
        <p:spPr>
          <a:xfrm>
            <a:off x="19554778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19554778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19554778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19741003" y="460857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cell|Lin et al., 2015 - RNA-seq - NATL2A|unkP5|absent"/>
          <p:cNvSpPr/>
          <p:nvPr/>
        </p:nvSpPr>
        <p:spPr>
          <a:xfrm>
            <a:off x="19927229" y="4398264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V="1">
            <a:off x="19927229" y="4398264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9927229" y="439826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0113454" y="460857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/>
          <p:cNvSpPr txBox="1"/>
          <p:nvPr/>
        </p:nvSpPr>
        <p:spPr>
          <a:xfrm>
            <a:off x="914400" y="4818888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MIT9312</a:t>
            </a:r>
          </a:p>
        </p:txBody>
      </p:sp>
      <p:sp>
        <p:nvSpPr>
          <p:cNvPr id="397" name="cell|Fuszard et al., 2012 - Proteomics - MIT9312|amtB/amt1|nodata"/>
          <p:cNvSpPr/>
          <p:nvPr/>
        </p:nvSpPr>
        <p:spPr>
          <a:xfrm>
            <a:off x="5029200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cell|Fuszard et al., 2012 - Proteomics - MIT9312|cynA|absent"/>
          <p:cNvSpPr/>
          <p:nvPr/>
        </p:nvSpPr>
        <p:spPr>
          <a:xfrm>
            <a:off x="5401650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 flipV="1">
            <a:off x="5401650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5401650" y="481888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5587876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cell|Fuszard et al., 2012 - Proteomics - MIT9312|cynB|absent"/>
          <p:cNvSpPr/>
          <p:nvPr/>
        </p:nvSpPr>
        <p:spPr>
          <a:xfrm>
            <a:off x="5774101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 flipV="1">
            <a:off x="5774101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5774101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5960326" y="502920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cell|Fuszard et al., 2012 - Proteomics - MIT9312|cynD|absent"/>
          <p:cNvSpPr/>
          <p:nvPr/>
        </p:nvSpPr>
        <p:spPr>
          <a:xfrm>
            <a:off x="6146552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7" name="Connector 406"/>
          <p:cNvCxnSpPr/>
          <p:nvPr/>
        </p:nvCxnSpPr>
        <p:spPr>
          <a:xfrm flipV="1">
            <a:off x="6146552" y="4818888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6146552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6332777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cell|Fuszard et al., 2012 - Proteomics - MIT9312|cynS|absent"/>
          <p:cNvSpPr/>
          <p:nvPr/>
        </p:nvSpPr>
        <p:spPr>
          <a:xfrm>
            <a:off x="6519002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 flipV="1">
            <a:off x="6519002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519002" y="481888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705228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cell|Fuszard et al., 2012 - Proteomics - MIT9312|focA|absent"/>
          <p:cNvSpPr/>
          <p:nvPr/>
        </p:nvSpPr>
        <p:spPr>
          <a:xfrm>
            <a:off x="6891453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5" name="Connector 414"/>
          <p:cNvCxnSpPr/>
          <p:nvPr/>
        </p:nvCxnSpPr>
        <p:spPr>
          <a:xfrm flipV="1">
            <a:off x="6891453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6891453" y="481888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077679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cell|Fuszard et al., 2012 - Proteomics - MIT9312|glnA|nodata"/>
          <p:cNvSpPr/>
          <p:nvPr/>
        </p:nvSpPr>
        <p:spPr>
          <a:xfrm>
            <a:off x="7263904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cell|Fuszard et al., 2012 - Proteomics - MIT9312|glsF|nodata"/>
          <p:cNvSpPr/>
          <p:nvPr/>
        </p:nvSpPr>
        <p:spPr>
          <a:xfrm>
            <a:off x="7636355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cell|Fuszard et al., 2012 - Proteomics - MIT9312|nirA|absent"/>
          <p:cNvSpPr/>
          <p:nvPr/>
        </p:nvSpPr>
        <p:spPr>
          <a:xfrm>
            <a:off x="8008805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 flipV="1">
            <a:off x="8008805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8008805" y="481888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8195031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cell|Fuszard et al., 2012 - Proteomics - MIT9312|nirX|absent"/>
          <p:cNvSpPr/>
          <p:nvPr/>
        </p:nvSpPr>
        <p:spPr>
          <a:xfrm>
            <a:off x="8381256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5" name="Connector 424"/>
          <p:cNvCxnSpPr/>
          <p:nvPr/>
        </p:nvCxnSpPr>
        <p:spPr>
          <a:xfrm flipV="1">
            <a:off x="8381256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8381256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8567481" y="502920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cell|Fuszard et al., 2012 - Proteomics - MIT9312|ntcA|nodata"/>
          <p:cNvSpPr/>
          <p:nvPr/>
        </p:nvSpPr>
        <p:spPr>
          <a:xfrm>
            <a:off x="8753707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cell|Fuszard et al., 2012 - Proteomics - MIT9312|pipX|nodata"/>
          <p:cNvSpPr/>
          <p:nvPr/>
        </p:nvSpPr>
        <p:spPr>
          <a:xfrm>
            <a:off x="9126158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cell|Fuszard et al., 2012 - Proteomics - MIT9312|ureA|nodata"/>
          <p:cNvSpPr/>
          <p:nvPr/>
        </p:nvSpPr>
        <p:spPr>
          <a:xfrm>
            <a:off x="9498608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cell|Fuszard et al., 2012 - Proteomics - MIT9312|ureB|nodata"/>
          <p:cNvSpPr/>
          <p:nvPr/>
        </p:nvSpPr>
        <p:spPr>
          <a:xfrm>
            <a:off x="9871059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cell|Fuszard et al., 2012 - Proteomics - MIT9312|ureC|nodata"/>
          <p:cNvSpPr/>
          <p:nvPr/>
        </p:nvSpPr>
        <p:spPr>
          <a:xfrm>
            <a:off x="10243510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cell|Fuszard et al., 2012 - Proteomics - MIT9312|ureG|nodata"/>
          <p:cNvSpPr/>
          <p:nvPr/>
        </p:nvSpPr>
        <p:spPr>
          <a:xfrm>
            <a:off x="10615960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cell|Fuszard et al., 2012 - Proteomics - MIT9312|urtA|nodata"/>
          <p:cNvSpPr/>
          <p:nvPr/>
        </p:nvSpPr>
        <p:spPr>
          <a:xfrm>
            <a:off x="10988411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cell|Fuszard et al., 2012 - Proteomics - MIT9312|urtD|nodata"/>
          <p:cNvSpPr/>
          <p:nvPr/>
        </p:nvSpPr>
        <p:spPr>
          <a:xfrm>
            <a:off x="11360862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cell|Fuszard et al., 2012 - Proteomics - MIT9312|urtE|nodata"/>
          <p:cNvSpPr/>
          <p:nvPr/>
        </p:nvSpPr>
        <p:spPr>
          <a:xfrm>
            <a:off x="11733313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cell|Fuszard et al., 2012 - Proteomics - MIT9312|PMM707|nodata"/>
          <p:cNvSpPr/>
          <p:nvPr/>
        </p:nvSpPr>
        <p:spPr>
          <a:xfrm>
            <a:off x="12105763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cell|Fuszard et al., 2012 - Proteomics - MIT9312|PMM719|absent"/>
          <p:cNvSpPr/>
          <p:nvPr/>
        </p:nvSpPr>
        <p:spPr>
          <a:xfrm>
            <a:off x="12478214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9" name="Connector 438"/>
          <p:cNvCxnSpPr/>
          <p:nvPr/>
        </p:nvCxnSpPr>
        <p:spPr>
          <a:xfrm flipV="1">
            <a:off x="12478214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2478214" y="481888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2664440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cell|Fuszard et al., 2012 - Proteomics - MIT9312|PMM721|absent"/>
          <p:cNvSpPr/>
          <p:nvPr/>
        </p:nvSpPr>
        <p:spPr>
          <a:xfrm>
            <a:off x="12850665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3" name="Connector 442"/>
          <p:cNvCxnSpPr/>
          <p:nvPr/>
        </p:nvCxnSpPr>
        <p:spPr>
          <a:xfrm flipV="1">
            <a:off x="12850665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12850665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13036890" y="502920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cell|Fuszard et al., 2012 - Proteomics - MIT9312|PsiP1|absent"/>
          <p:cNvSpPr/>
          <p:nvPr/>
        </p:nvSpPr>
        <p:spPr>
          <a:xfrm>
            <a:off x="13223116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 flipV="1">
            <a:off x="13223116" y="4818888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13223116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13409341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cell|Fuszard et al., 2012 - Proteomics - MIT9312|arsR|nodata"/>
          <p:cNvSpPr/>
          <p:nvPr/>
        </p:nvSpPr>
        <p:spPr>
          <a:xfrm>
            <a:off x="13595566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cell|Fuszard et al., 2012 - Proteomics - MIT9312|gap3|nodata"/>
          <p:cNvSpPr/>
          <p:nvPr/>
        </p:nvSpPr>
        <p:spPr>
          <a:xfrm>
            <a:off x="13968017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cell|Fuszard et al., 2012 - Proteomics - MIT9312|mfs|nodata"/>
          <p:cNvSpPr/>
          <p:nvPr/>
        </p:nvSpPr>
        <p:spPr>
          <a:xfrm>
            <a:off x="14340468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cell|Fuszard et al., 2012 - Proteomics - MIT9312|phnD|nodata"/>
          <p:cNvSpPr/>
          <p:nvPr/>
        </p:nvSpPr>
        <p:spPr>
          <a:xfrm>
            <a:off x="14712919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cell|Fuszard et al., 2012 - Proteomics - MIT9312|phoA|up"/>
          <p:cNvSpPr/>
          <p:nvPr/>
        </p:nvSpPr>
        <p:spPr>
          <a:xfrm>
            <a:off x="15085369" y="481888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cell|Fuszard et al., 2012 - Proteomics - MIT9312|phoB|nodata"/>
          <p:cNvSpPr/>
          <p:nvPr/>
        </p:nvSpPr>
        <p:spPr>
          <a:xfrm>
            <a:off x="15457820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cell|Fuszard et al., 2012 - Proteomics - MIT9312|phoE|up"/>
          <p:cNvSpPr/>
          <p:nvPr/>
        </p:nvSpPr>
        <p:spPr>
          <a:xfrm>
            <a:off x="15830271" y="481888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cell|Fuszard et al., 2012 - Proteomics - MIT9312|phoR|nodata"/>
          <p:cNvSpPr/>
          <p:nvPr/>
        </p:nvSpPr>
        <p:spPr>
          <a:xfrm>
            <a:off x="16202721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cell|Fuszard et al., 2012 - Proteomics - MIT9312|ppA|nodata"/>
          <p:cNvSpPr/>
          <p:nvPr/>
        </p:nvSpPr>
        <p:spPr>
          <a:xfrm>
            <a:off x="16575172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cell|Fuszard et al., 2012 - Proteomics - MIT9312|ppX|nodata"/>
          <p:cNvSpPr/>
          <p:nvPr/>
        </p:nvSpPr>
        <p:spPr>
          <a:xfrm>
            <a:off x="16947623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cell|Fuszard et al., 2012 - Proteomics - MIT9312|pstA|nodata"/>
          <p:cNvSpPr/>
          <p:nvPr/>
        </p:nvSpPr>
        <p:spPr>
          <a:xfrm>
            <a:off x="17320074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cell|Fuszard et al., 2012 - Proteomics - MIT9312|pstB|nodata"/>
          <p:cNvSpPr/>
          <p:nvPr/>
        </p:nvSpPr>
        <p:spPr>
          <a:xfrm>
            <a:off x="17692524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cell|Fuszard et al., 2012 - Proteomics - MIT9312|pstC|nodata"/>
          <p:cNvSpPr/>
          <p:nvPr/>
        </p:nvSpPr>
        <p:spPr>
          <a:xfrm>
            <a:off x="18064975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cell|Fuszard et al., 2012 - Proteomics - MIT9312|pstS|up"/>
          <p:cNvSpPr/>
          <p:nvPr/>
        </p:nvSpPr>
        <p:spPr>
          <a:xfrm>
            <a:off x="18437426" y="4818888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cell|Fuszard et al., 2012 - Proteomics - MIT9312|ptrA|absent"/>
          <p:cNvSpPr/>
          <p:nvPr/>
        </p:nvSpPr>
        <p:spPr>
          <a:xfrm>
            <a:off x="18809877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 flipV="1">
            <a:off x="18809877" y="4818888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8809877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8996102" y="502920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cell|Fuszard et al., 2012 - Proteomics - MIT9312|sqdB|nodata"/>
          <p:cNvSpPr/>
          <p:nvPr/>
        </p:nvSpPr>
        <p:spPr>
          <a:xfrm>
            <a:off x="19182327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cell|Fuszard et al., 2012 - Proteomics - MIT9312|unkP2|absent"/>
          <p:cNvSpPr/>
          <p:nvPr/>
        </p:nvSpPr>
        <p:spPr>
          <a:xfrm>
            <a:off x="19554778" y="4818888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0" name="Connector 469"/>
          <p:cNvCxnSpPr/>
          <p:nvPr/>
        </p:nvCxnSpPr>
        <p:spPr>
          <a:xfrm flipV="1">
            <a:off x="19554778" y="4818888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19554778" y="481888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19741003" y="502920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cell|Fuszard et al., 2012 - Proteomics - MIT9312|unkP5|nodata"/>
          <p:cNvSpPr/>
          <p:nvPr/>
        </p:nvSpPr>
        <p:spPr>
          <a:xfrm>
            <a:off x="19927229" y="4818888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914400" y="5239512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NATL2A</a:t>
            </a:r>
          </a:p>
        </p:txBody>
      </p:sp>
      <p:sp>
        <p:nvSpPr>
          <p:cNvPr id="475" name="cell|Fuszard et al., 2012 - Proteomics - NATL2A|amtB/amt1|nodata"/>
          <p:cNvSpPr/>
          <p:nvPr/>
        </p:nvSpPr>
        <p:spPr>
          <a:xfrm>
            <a:off x="5029200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cell|Fuszard et al., 2012 - Proteomics - NATL2A|cynA|absent"/>
          <p:cNvSpPr/>
          <p:nvPr/>
        </p:nvSpPr>
        <p:spPr>
          <a:xfrm>
            <a:off x="5401650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5401650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5401650" y="523951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5587876" y="544982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cell|Fuszard et al., 2012 - Proteomics - NATL2A|cynB|absent"/>
          <p:cNvSpPr/>
          <p:nvPr/>
        </p:nvSpPr>
        <p:spPr>
          <a:xfrm>
            <a:off x="5774101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5774101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5774101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5960326" y="544982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cell|Fuszard et al., 2012 - Proteomics - NATL2A|cynD|absent"/>
          <p:cNvSpPr/>
          <p:nvPr/>
        </p:nvSpPr>
        <p:spPr>
          <a:xfrm>
            <a:off x="6146552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5" name="Connector 484"/>
          <p:cNvCxnSpPr/>
          <p:nvPr/>
        </p:nvCxnSpPr>
        <p:spPr>
          <a:xfrm flipV="1">
            <a:off x="6146552" y="5239512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6146552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6332777" y="544982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cell|Fuszard et al., 2012 - Proteomics - NATL2A|cynS|nodata"/>
          <p:cNvSpPr/>
          <p:nvPr/>
        </p:nvSpPr>
        <p:spPr>
          <a:xfrm>
            <a:off x="6519002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cell|Fuszard et al., 2012 - Proteomics - NATL2A|focA|nodata"/>
          <p:cNvSpPr/>
          <p:nvPr/>
        </p:nvSpPr>
        <p:spPr>
          <a:xfrm>
            <a:off x="6891453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cell|Fuszard et al., 2012 - Proteomics - NATL2A|glnA|down"/>
          <p:cNvSpPr/>
          <p:nvPr/>
        </p:nvSpPr>
        <p:spPr>
          <a:xfrm>
            <a:off x="7263904" y="523951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cell|Fuszard et al., 2012 - Proteomics - NATL2A|glsF|nodata"/>
          <p:cNvSpPr/>
          <p:nvPr/>
        </p:nvSpPr>
        <p:spPr>
          <a:xfrm>
            <a:off x="7636355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cell|Fuszard et al., 2012 - Proteomics - NATL2A|nirA|nodata"/>
          <p:cNvSpPr/>
          <p:nvPr/>
        </p:nvSpPr>
        <p:spPr>
          <a:xfrm>
            <a:off x="8008805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cell|Fuszard et al., 2012 - Proteomics - NATL2A|nirX|nodata"/>
          <p:cNvSpPr/>
          <p:nvPr/>
        </p:nvSpPr>
        <p:spPr>
          <a:xfrm>
            <a:off x="8381256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cell|Fuszard et al., 2012 - Proteomics - NATL2A|ntcA|nodata"/>
          <p:cNvSpPr/>
          <p:nvPr/>
        </p:nvSpPr>
        <p:spPr>
          <a:xfrm>
            <a:off x="8753707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cell|Fuszard et al., 2012 - Proteomics - NATL2A|pipX|nodata"/>
          <p:cNvSpPr/>
          <p:nvPr/>
        </p:nvSpPr>
        <p:spPr>
          <a:xfrm>
            <a:off x="9126158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cell|Fuszard et al., 2012 - Proteomics - NATL2A|ureA|nodata"/>
          <p:cNvSpPr/>
          <p:nvPr/>
        </p:nvSpPr>
        <p:spPr>
          <a:xfrm>
            <a:off x="9498608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cell|Fuszard et al., 2012 - Proteomics - NATL2A|ureB|nodata"/>
          <p:cNvSpPr/>
          <p:nvPr/>
        </p:nvSpPr>
        <p:spPr>
          <a:xfrm>
            <a:off x="9871059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cell|Fuszard et al., 2012 - Proteomics - NATL2A|ureC|nodata"/>
          <p:cNvSpPr/>
          <p:nvPr/>
        </p:nvSpPr>
        <p:spPr>
          <a:xfrm>
            <a:off x="10243510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cell|Fuszard et al., 2012 - Proteomics - NATL2A|ureG|nodata"/>
          <p:cNvSpPr/>
          <p:nvPr/>
        </p:nvSpPr>
        <p:spPr>
          <a:xfrm>
            <a:off x="10615960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cell|Fuszard et al., 2012 - Proteomics - NATL2A|urtA|nodata"/>
          <p:cNvSpPr/>
          <p:nvPr/>
        </p:nvSpPr>
        <p:spPr>
          <a:xfrm>
            <a:off x="10988411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cell|Fuszard et al., 2012 - Proteomics - NATL2A|urtD|nodata"/>
          <p:cNvSpPr/>
          <p:nvPr/>
        </p:nvSpPr>
        <p:spPr>
          <a:xfrm>
            <a:off x="11360862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cell|Fuszard et al., 2012 - Proteomics - NATL2A|urtE|nodata"/>
          <p:cNvSpPr/>
          <p:nvPr/>
        </p:nvSpPr>
        <p:spPr>
          <a:xfrm>
            <a:off x="11733313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cell|Fuszard et al., 2012 - Proteomics - NATL2A|PMM707|nodata"/>
          <p:cNvSpPr/>
          <p:nvPr/>
        </p:nvSpPr>
        <p:spPr>
          <a:xfrm>
            <a:off x="12105763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cell|Fuszard et al., 2012 - Proteomics - NATL2A|PMM719|absent"/>
          <p:cNvSpPr/>
          <p:nvPr/>
        </p:nvSpPr>
        <p:spPr>
          <a:xfrm>
            <a:off x="12478214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5" name="Connector 504"/>
          <p:cNvCxnSpPr/>
          <p:nvPr/>
        </p:nvCxnSpPr>
        <p:spPr>
          <a:xfrm flipV="1">
            <a:off x="12478214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12478214" y="523951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12664440" y="544982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cell|Fuszard et al., 2012 - Proteomics - NATL2A|PMM721|absent"/>
          <p:cNvSpPr/>
          <p:nvPr/>
        </p:nvSpPr>
        <p:spPr>
          <a:xfrm>
            <a:off x="12850665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 flipV="1">
            <a:off x="12850665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12850665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13036890" y="544982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cell|Fuszard et al., 2012 - Proteomics - NATL2A|PsiP1|absent"/>
          <p:cNvSpPr/>
          <p:nvPr/>
        </p:nvSpPr>
        <p:spPr>
          <a:xfrm>
            <a:off x="13223116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3" name="Connector 512"/>
          <p:cNvCxnSpPr/>
          <p:nvPr/>
        </p:nvCxnSpPr>
        <p:spPr>
          <a:xfrm flipV="1">
            <a:off x="13223116" y="5239512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V="1">
            <a:off x="13223116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13409341" y="5449824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cell|Fuszard et al., 2012 - Proteomics - NATL2A|arsR|nodata"/>
          <p:cNvSpPr/>
          <p:nvPr/>
        </p:nvSpPr>
        <p:spPr>
          <a:xfrm>
            <a:off x="13595566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cell|Fuszard et al., 2012 - Proteomics - NATL2A|gap3|nodata"/>
          <p:cNvSpPr/>
          <p:nvPr/>
        </p:nvSpPr>
        <p:spPr>
          <a:xfrm>
            <a:off x="13968017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cell|Fuszard et al., 2012 - Proteomics - NATL2A|mfs|nodata"/>
          <p:cNvSpPr/>
          <p:nvPr/>
        </p:nvSpPr>
        <p:spPr>
          <a:xfrm>
            <a:off x="14340468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cell|Fuszard et al., 2012 - Proteomics - NATL2A|phnD|nodata"/>
          <p:cNvSpPr/>
          <p:nvPr/>
        </p:nvSpPr>
        <p:spPr>
          <a:xfrm>
            <a:off x="14712919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cell|Fuszard et al., 2012 - Proteomics - NATL2A|phoA|nodata"/>
          <p:cNvSpPr/>
          <p:nvPr/>
        </p:nvSpPr>
        <p:spPr>
          <a:xfrm>
            <a:off x="15085369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cell|Fuszard et al., 2012 - Proteomics - NATL2A|phoB|nodata"/>
          <p:cNvSpPr/>
          <p:nvPr/>
        </p:nvSpPr>
        <p:spPr>
          <a:xfrm>
            <a:off x="15457820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cell|Fuszard et al., 2012 - Proteomics - NATL2A|phoE|nodata"/>
          <p:cNvSpPr/>
          <p:nvPr/>
        </p:nvSpPr>
        <p:spPr>
          <a:xfrm>
            <a:off x="15830271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cell|Fuszard et al., 2012 - Proteomics - NATL2A|phoR|nodata"/>
          <p:cNvSpPr/>
          <p:nvPr/>
        </p:nvSpPr>
        <p:spPr>
          <a:xfrm>
            <a:off x="16202721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cell|Fuszard et al., 2012 - Proteomics - NATL2A|ppA|down"/>
          <p:cNvSpPr/>
          <p:nvPr/>
        </p:nvSpPr>
        <p:spPr>
          <a:xfrm>
            <a:off x="16575172" y="523951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cell|Fuszard et al., 2012 - Proteomics - NATL2A|ppX|nodata"/>
          <p:cNvSpPr/>
          <p:nvPr/>
        </p:nvSpPr>
        <p:spPr>
          <a:xfrm>
            <a:off x="16947623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cell|Fuszard et al., 2012 - Proteomics - NATL2A|pstA|nodata"/>
          <p:cNvSpPr/>
          <p:nvPr/>
        </p:nvSpPr>
        <p:spPr>
          <a:xfrm>
            <a:off x="17320074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cell|Fuszard et al., 2012 - Proteomics - NATL2A|pstB|nodata"/>
          <p:cNvSpPr/>
          <p:nvPr/>
        </p:nvSpPr>
        <p:spPr>
          <a:xfrm>
            <a:off x="17692524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cell|Fuszard et al., 2012 - Proteomics - NATL2A|pstC|nodata"/>
          <p:cNvSpPr/>
          <p:nvPr/>
        </p:nvSpPr>
        <p:spPr>
          <a:xfrm>
            <a:off x="18064975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cell|Fuszard et al., 2012 - Proteomics - NATL2A|pstS|down"/>
          <p:cNvSpPr/>
          <p:nvPr/>
        </p:nvSpPr>
        <p:spPr>
          <a:xfrm>
            <a:off x="18437426" y="5239512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cell|Fuszard et al., 2012 - Proteomics - NATL2A|ptrA|nodata"/>
          <p:cNvSpPr/>
          <p:nvPr/>
        </p:nvSpPr>
        <p:spPr>
          <a:xfrm>
            <a:off x="18809877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cell|Fuszard et al., 2012 - Proteomics - NATL2A|sqdB|nodata"/>
          <p:cNvSpPr/>
          <p:nvPr/>
        </p:nvSpPr>
        <p:spPr>
          <a:xfrm>
            <a:off x="19182327" y="5239512"/>
            <a:ext cx="372450" cy="420624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cell|Fuszard et al., 2012 - Proteomics - NATL2A|unkP2|absent"/>
          <p:cNvSpPr/>
          <p:nvPr/>
        </p:nvSpPr>
        <p:spPr>
          <a:xfrm>
            <a:off x="19554778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3" name="Connector 532"/>
          <p:cNvCxnSpPr/>
          <p:nvPr/>
        </p:nvCxnSpPr>
        <p:spPr>
          <a:xfrm flipV="1">
            <a:off x="19554778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19554778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19741003" y="544982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cell|Fuszard et al., 2012 - Proteomics - NATL2A|unkP5|absent"/>
          <p:cNvSpPr/>
          <p:nvPr/>
        </p:nvSpPr>
        <p:spPr>
          <a:xfrm>
            <a:off x="19927229" y="5239512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19927229" y="5239512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19927229" y="523951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20113454" y="5449824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914400" y="5660136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MED4</a:t>
            </a:r>
          </a:p>
        </p:txBody>
      </p:sp>
      <p:sp>
        <p:nvSpPr>
          <p:cNvPr id="541" name="cell|Martiny et al., 2006 - Microarray - MED4|amtB/amt1|ns"/>
          <p:cNvSpPr/>
          <p:nvPr/>
        </p:nvSpPr>
        <p:spPr>
          <a:xfrm>
            <a:off x="5029200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cell|Martiny et al., 2006 - Microarray - MED4|cynA|ns"/>
          <p:cNvSpPr/>
          <p:nvPr/>
        </p:nvSpPr>
        <p:spPr>
          <a:xfrm>
            <a:off x="5401650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cell|Martiny et al., 2006 - Microarray - MED4|cynB|ns"/>
          <p:cNvSpPr/>
          <p:nvPr/>
        </p:nvSpPr>
        <p:spPr>
          <a:xfrm>
            <a:off x="5774101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cell|Martiny et al., 2006 - Microarray - MED4|cynD|ns"/>
          <p:cNvSpPr/>
          <p:nvPr/>
        </p:nvSpPr>
        <p:spPr>
          <a:xfrm>
            <a:off x="6146552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cell|Martiny et al., 2006 - Microarray - MED4|cynS|ns"/>
          <p:cNvSpPr/>
          <p:nvPr/>
        </p:nvSpPr>
        <p:spPr>
          <a:xfrm>
            <a:off x="6519002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cell|Martiny et al., 2006 - Microarray - MED4|focA|absent"/>
          <p:cNvSpPr/>
          <p:nvPr/>
        </p:nvSpPr>
        <p:spPr>
          <a:xfrm>
            <a:off x="6891453" y="566013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7" name="Connector 546"/>
          <p:cNvCxnSpPr/>
          <p:nvPr/>
        </p:nvCxnSpPr>
        <p:spPr>
          <a:xfrm flipV="1">
            <a:off x="6891453" y="566013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6891453" y="566013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7077679" y="587044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cell|Martiny et al., 2006 - Microarray - MED4|glnA|ns"/>
          <p:cNvSpPr/>
          <p:nvPr/>
        </p:nvSpPr>
        <p:spPr>
          <a:xfrm>
            <a:off x="7263904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cell|Martiny et al., 2006 - Microarray - MED4|glsF|ns"/>
          <p:cNvSpPr/>
          <p:nvPr/>
        </p:nvSpPr>
        <p:spPr>
          <a:xfrm>
            <a:off x="7636355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cell|Martiny et al., 2006 - Microarray - MED4|nirA|absent"/>
          <p:cNvSpPr/>
          <p:nvPr/>
        </p:nvSpPr>
        <p:spPr>
          <a:xfrm>
            <a:off x="8008805" y="566013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3" name="Connector 552"/>
          <p:cNvCxnSpPr/>
          <p:nvPr/>
        </p:nvCxnSpPr>
        <p:spPr>
          <a:xfrm flipV="1">
            <a:off x="8008805" y="566013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8008805" y="5660136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8195031" y="5870448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cell|Martiny et al., 2006 - Microarray - MED4|nirX|absent"/>
          <p:cNvSpPr/>
          <p:nvPr/>
        </p:nvSpPr>
        <p:spPr>
          <a:xfrm>
            <a:off x="8381256" y="5660136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 flipV="1">
            <a:off x="8381256" y="5660136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8381256" y="5660136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8567481" y="5870448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cell|Martiny et al., 2006 - Microarray - MED4|ntcA|ns"/>
          <p:cNvSpPr/>
          <p:nvPr/>
        </p:nvSpPr>
        <p:spPr>
          <a:xfrm>
            <a:off x="8753707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cell|Martiny et al., 2006 - Microarray - MED4|pipX|ns"/>
          <p:cNvSpPr/>
          <p:nvPr/>
        </p:nvSpPr>
        <p:spPr>
          <a:xfrm>
            <a:off x="9126158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cell|Martiny et al., 2006 - Microarray - MED4|ureA|ns"/>
          <p:cNvSpPr/>
          <p:nvPr/>
        </p:nvSpPr>
        <p:spPr>
          <a:xfrm>
            <a:off x="9498608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cell|Martiny et al., 2006 - Microarray - MED4|ureB|ns"/>
          <p:cNvSpPr/>
          <p:nvPr/>
        </p:nvSpPr>
        <p:spPr>
          <a:xfrm>
            <a:off x="9871059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cell|Martiny et al., 2006 - Microarray - MED4|ureC|ns"/>
          <p:cNvSpPr/>
          <p:nvPr/>
        </p:nvSpPr>
        <p:spPr>
          <a:xfrm>
            <a:off x="10243510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cell|Martiny et al., 2006 - Microarray - MED4|ureG|ns"/>
          <p:cNvSpPr/>
          <p:nvPr/>
        </p:nvSpPr>
        <p:spPr>
          <a:xfrm>
            <a:off x="10615960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cell|Martiny et al., 2006 - Microarray - MED4|urtA|down"/>
          <p:cNvSpPr/>
          <p:nvPr/>
        </p:nvSpPr>
        <p:spPr>
          <a:xfrm>
            <a:off x="10988411" y="5660136"/>
            <a:ext cx="372450" cy="420624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cell|Martiny et al., 2006 - Microarray - MED4|urtD|ns"/>
          <p:cNvSpPr/>
          <p:nvPr/>
        </p:nvSpPr>
        <p:spPr>
          <a:xfrm>
            <a:off x="11360862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cell|Martiny et al., 2006 - Microarray - MED4|urtE|ns"/>
          <p:cNvSpPr/>
          <p:nvPr/>
        </p:nvSpPr>
        <p:spPr>
          <a:xfrm>
            <a:off x="11733313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cell|Martiny et al., 2006 - Microarray - MED4|PMM707|up"/>
          <p:cNvSpPr/>
          <p:nvPr/>
        </p:nvSpPr>
        <p:spPr>
          <a:xfrm>
            <a:off x="12105763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cell|Martiny et al., 2006 - Microarray - MED4|PMM719|up"/>
          <p:cNvSpPr/>
          <p:nvPr/>
        </p:nvSpPr>
        <p:spPr>
          <a:xfrm>
            <a:off x="12478214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cell|Martiny et al., 2006 - Microarray - MED4|PMM721|up"/>
          <p:cNvSpPr/>
          <p:nvPr/>
        </p:nvSpPr>
        <p:spPr>
          <a:xfrm>
            <a:off x="12850665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cell|Martiny et al., 2006 - Microarray - MED4|PsiP1|up"/>
          <p:cNvSpPr/>
          <p:nvPr/>
        </p:nvSpPr>
        <p:spPr>
          <a:xfrm>
            <a:off x="13223116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cell|Martiny et al., 2006 - Microarray - MED4|arsR|ns"/>
          <p:cNvSpPr/>
          <p:nvPr/>
        </p:nvSpPr>
        <p:spPr>
          <a:xfrm>
            <a:off x="13595566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cell|Martiny et al., 2006 - Microarray - MED4|gap3|up"/>
          <p:cNvSpPr/>
          <p:nvPr/>
        </p:nvSpPr>
        <p:spPr>
          <a:xfrm>
            <a:off x="13968017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cell|Martiny et al., 2006 - Microarray - MED4|mfs|up"/>
          <p:cNvSpPr/>
          <p:nvPr/>
        </p:nvSpPr>
        <p:spPr>
          <a:xfrm>
            <a:off x="14340468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cell|Martiny et al., 2006 - Microarray - MED4|phnD|ns"/>
          <p:cNvSpPr/>
          <p:nvPr/>
        </p:nvSpPr>
        <p:spPr>
          <a:xfrm>
            <a:off x="14712919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cell|Martiny et al., 2006 - Microarray - MED4|phoA|up"/>
          <p:cNvSpPr/>
          <p:nvPr/>
        </p:nvSpPr>
        <p:spPr>
          <a:xfrm>
            <a:off x="15085369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cell|Martiny et al., 2006 - Microarray - MED4|phoB|up"/>
          <p:cNvSpPr/>
          <p:nvPr/>
        </p:nvSpPr>
        <p:spPr>
          <a:xfrm>
            <a:off x="15457820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cell|Martiny et al., 2006 - Microarray - MED4|phoE|up"/>
          <p:cNvSpPr/>
          <p:nvPr/>
        </p:nvSpPr>
        <p:spPr>
          <a:xfrm>
            <a:off x="15830271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cell|Martiny et al., 2006 - Microarray - MED4|phoR|up"/>
          <p:cNvSpPr/>
          <p:nvPr/>
        </p:nvSpPr>
        <p:spPr>
          <a:xfrm>
            <a:off x="16202721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cell|Martiny et al., 2006 - Microarray - MED4|ppA|ns"/>
          <p:cNvSpPr/>
          <p:nvPr/>
        </p:nvSpPr>
        <p:spPr>
          <a:xfrm>
            <a:off x="16575172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cell|Martiny et al., 2006 - Microarray - MED4|ppX|ns"/>
          <p:cNvSpPr/>
          <p:nvPr/>
        </p:nvSpPr>
        <p:spPr>
          <a:xfrm>
            <a:off x="16947623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cell|Martiny et al., 2006 - Microarray - MED4|pstA|up"/>
          <p:cNvSpPr/>
          <p:nvPr/>
        </p:nvSpPr>
        <p:spPr>
          <a:xfrm>
            <a:off x="17320074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cell|Martiny et al., 2006 - Microarray - MED4|pstB|ns"/>
          <p:cNvSpPr/>
          <p:nvPr/>
        </p:nvSpPr>
        <p:spPr>
          <a:xfrm>
            <a:off x="17692524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cell|Martiny et al., 2006 - Microarray - MED4|pstC|up"/>
          <p:cNvSpPr/>
          <p:nvPr/>
        </p:nvSpPr>
        <p:spPr>
          <a:xfrm>
            <a:off x="18064975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cell|Martiny et al., 2006 - Microarray - MED4|pstS|up"/>
          <p:cNvSpPr/>
          <p:nvPr/>
        </p:nvSpPr>
        <p:spPr>
          <a:xfrm>
            <a:off x="18437426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cell|Martiny et al., 2006 - Microarray - MED4|ptrA|up"/>
          <p:cNvSpPr/>
          <p:nvPr/>
        </p:nvSpPr>
        <p:spPr>
          <a:xfrm>
            <a:off x="18809877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cell|Martiny et al., 2006 - Microarray - MED4|sqdB|ns"/>
          <p:cNvSpPr/>
          <p:nvPr/>
        </p:nvSpPr>
        <p:spPr>
          <a:xfrm>
            <a:off x="19182327" y="5660136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cell|Martiny et al., 2006 - Microarray - MED4|unkP2|up"/>
          <p:cNvSpPr/>
          <p:nvPr/>
        </p:nvSpPr>
        <p:spPr>
          <a:xfrm>
            <a:off x="19554778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cell|Martiny et al., 2006 - Microarray - MED4|unkP5|up"/>
          <p:cNvSpPr/>
          <p:nvPr/>
        </p:nvSpPr>
        <p:spPr>
          <a:xfrm>
            <a:off x="19927229" y="5660136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914400" y="6080760"/>
            <a:ext cx="388620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MIT9313*</a:t>
            </a:r>
          </a:p>
        </p:txBody>
      </p:sp>
      <p:sp>
        <p:nvSpPr>
          <p:cNvPr id="592" name="cell|Martiny et al., 2006 - Microarray - MIT9313*|amtB/amt1|ns"/>
          <p:cNvSpPr/>
          <p:nvPr/>
        </p:nvSpPr>
        <p:spPr>
          <a:xfrm>
            <a:off x="5029200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cell|Martiny et al., 2006 - Microarray - MIT9313*|cynA|absent"/>
          <p:cNvSpPr/>
          <p:nvPr/>
        </p:nvSpPr>
        <p:spPr>
          <a:xfrm>
            <a:off x="5401650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4" name="Connector 593"/>
          <p:cNvCxnSpPr/>
          <p:nvPr/>
        </p:nvCxnSpPr>
        <p:spPr>
          <a:xfrm flipV="1">
            <a:off x="5401650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5401650" y="608076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5587876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cell|Martiny et al., 2006 - Microarray - MIT9313*|cynB|absent"/>
          <p:cNvSpPr/>
          <p:nvPr/>
        </p:nvSpPr>
        <p:spPr>
          <a:xfrm>
            <a:off x="5774101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8" name="Connector 597"/>
          <p:cNvCxnSpPr/>
          <p:nvPr/>
        </p:nvCxnSpPr>
        <p:spPr>
          <a:xfrm flipV="1">
            <a:off x="5774101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5774101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5960326" y="629107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cell|Martiny et al., 2006 - Microarray - MIT9313*|cynD|absent"/>
          <p:cNvSpPr/>
          <p:nvPr/>
        </p:nvSpPr>
        <p:spPr>
          <a:xfrm>
            <a:off x="6146552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6146552" y="608076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6146552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6332777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cell|Martiny et al., 2006 - Microarray - MIT9313*|cynS|absent"/>
          <p:cNvSpPr/>
          <p:nvPr/>
        </p:nvSpPr>
        <p:spPr>
          <a:xfrm>
            <a:off x="6519002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6519002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6519002" y="608076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6705228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cell|Martiny et al., 2006 - Microarray - MIT9313*|focA|ns"/>
          <p:cNvSpPr/>
          <p:nvPr/>
        </p:nvSpPr>
        <p:spPr>
          <a:xfrm>
            <a:off x="6891453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cell|Martiny et al., 2006 - Microarray - MIT9313*|glnA|ns"/>
          <p:cNvSpPr/>
          <p:nvPr/>
        </p:nvSpPr>
        <p:spPr>
          <a:xfrm>
            <a:off x="7263904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cell|Martiny et al., 2006 - Microarray - MIT9313*|glsF|ns"/>
          <p:cNvSpPr/>
          <p:nvPr/>
        </p:nvSpPr>
        <p:spPr>
          <a:xfrm>
            <a:off x="7636355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cell|Martiny et al., 2006 - Microarray - MIT9313*|nirA|ns"/>
          <p:cNvSpPr/>
          <p:nvPr/>
        </p:nvSpPr>
        <p:spPr>
          <a:xfrm>
            <a:off x="8008805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cell|Martiny et al., 2006 - Microarray - MIT9313*|nirX|ns"/>
          <p:cNvSpPr/>
          <p:nvPr/>
        </p:nvSpPr>
        <p:spPr>
          <a:xfrm>
            <a:off x="8381256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cell|Martiny et al., 2006 - Microarray - MIT9313*|ntcA|ns"/>
          <p:cNvSpPr/>
          <p:nvPr/>
        </p:nvSpPr>
        <p:spPr>
          <a:xfrm>
            <a:off x="8753707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cell|Martiny et al., 2006 - Microarray - MIT9313*|pipX|ns"/>
          <p:cNvSpPr/>
          <p:nvPr/>
        </p:nvSpPr>
        <p:spPr>
          <a:xfrm>
            <a:off x="9126158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cell|Martiny et al., 2006 - Microarray - MIT9313*|ureA|ns"/>
          <p:cNvSpPr/>
          <p:nvPr/>
        </p:nvSpPr>
        <p:spPr>
          <a:xfrm>
            <a:off x="9498608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cell|Martiny et al., 2006 - Microarray - MIT9313*|ureB|ns"/>
          <p:cNvSpPr/>
          <p:nvPr/>
        </p:nvSpPr>
        <p:spPr>
          <a:xfrm>
            <a:off x="9871059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cell|Martiny et al., 2006 - Microarray - MIT9313*|ureC|ns"/>
          <p:cNvSpPr/>
          <p:nvPr/>
        </p:nvSpPr>
        <p:spPr>
          <a:xfrm>
            <a:off x="10243510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cell|Martiny et al., 2006 - Microarray - MIT9313*|ureG|ns"/>
          <p:cNvSpPr/>
          <p:nvPr/>
        </p:nvSpPr>
        <p:spPr>
          <a:xfrm>
            <a:off x="10615960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cell|Martiny et al., 2006 - Microarray - MIT9313*|urtA|ns"/>
          <p:cNvSpPr/>
          <p:nvPr/>
        </p:nvSpPr>
        <p:spPr>
          <a:xfrm>
            <a:off x="10988411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cell|Martiny et al., 2006 - Microarray - MIT9313*|urtD|ns"/>
          <p:cNvSpPr/>
          <p:nvPr/>
        </p:nvSpPr>
        <p:spPr>
          <a:xfrm>
            <a:off x="11360862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cell|Martiny et al., 2006 - Microarray - MIT9313*|urtE|ns"/>
          <p:cNvSpPr/>
          <p:nvPr/>
        </p:nvSpPr>
        <p:spPr>
          <a:xfrm>
            <a:off x="11733313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cell|Martiny et al., 2006 - Microarray - MIT9313*|PMM707|absent"/>
          <p:cNvSpPr/>
          <p:nvPr/>
        </p:nvSpPr>
        <p:spPr>
          <a:xfrm>
            <a:off x="12105763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12105763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12105763" y="608076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12291989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cell|Martiny et al., 2006 - Microarray - MIT9313*|PMM719|absent"/>
          <p:cNvSpPr/>
          <p:nvPr/>
        </p:nvSpPr>
        <p:spPr>
          <a:xfrm>
            <a:off x="12478214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8" name="Connector 627"/>
          <p:cNvCxnSpPr/>
          <p:nvPr/>
        </p:nvCxnSpPr>
        <p:spPr>
          <a:xfrm flipV="1">
            <a:off x="12478214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12478214" y="608076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12664440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1" name="cell|Martiny et al., 2006 - Microarray - MIT9313*|PMM721|absent"/>
          <p:cNvSpPr/>
          <p:nvPr/>
        </p:nvSpPr>
        <p:spPr>
          <a:xfrm>
            <a:off x="12850665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2" name="Connector 631"/>
          <p:cNvCxnSpPr/>
          <p:nvPr/>
        </p:nvCxnSpPr>
        <p:spPr>
          <a:xfrm flipV="1">
            <a:off x="12850665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12850665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13036890" y="629107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cell|Martiny et al., 2006 - Microarray - MIT9313*|PsiP1|absent"/>
          <p:cNvSpPr/>
          <p:nvPr/>
        </p:nvSpPr>
        <p:spPr>
          <a:xfrm>
            <a:off x="13223116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6" name="Connector 635"/>
          <p:cNvCxnSpPr/>
          <p:nvPr/>
        </p:nvCxnSpPr>
        <p:spPr>
          <a:xfrm flipV="1">
            <a:off x="13223116" y="608076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13223116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13409341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cell|Martiny et al., 2006 - Microarray - MIT9313*|arsR|ns"/>
          <p:cNvSpPr/>
          <p:nvPr/>
        </p:nvSpPr>
        <p:spPr>
          <a:xfrm>
            <a:off x="13595566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cell|Martiny et al., 2006 - Microarray - MIT9313*|gap3|up"/>
          <p:cNvSpPr/>
          <p:nvPr/>
        </p:nvSpPr>
        <p:spPr>
          <a:xfrm>
            <a:off x="13968017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cell|Martiny et al., 2006 - Microarray - MIT9313*|mfs|up"/>
          <p:cNvSpPr/>
          <p:nvPr/>
        </p:nvSpPr>
        <p:spPr>
          <a:xfrm>
            <a:off x="14340468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cell|Martiny et al., 2006 - Microarray - MIT9313*|phnD|ns"/>
          <p:cNvSpPr/>
          <p:nvPr/>
        </p:nvSpPr>
        <p:spPr>
          <a:xfrm>
            <a:off x="14712919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cell|Martiny et al., 2006 - Microarray - MIT9313*|phoA|absent"/>
          <p:cNvSpPr/>
          <p:nvPr/>
        </p:nvSpPr>
        <p:spPr>
          <a:xfrm>
            <a:off x="15085369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5085369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15085369" y="6080760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15271595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cell|Martiny et al., 2006 - Microarray - MIT9313*|phoB|up"/>
          <p:cNvSpPr/>
          <p:nvPr/>
        </p:nvSpPr>
        <p:spPr>
          <a:xfrm>
            <a:off x="15457820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cell|Martiny et al., 2006 - Microarray - MIT9313*|phoE|up"/>
          <p:cNvSpPr/>
          <p:nvPr/>
        </p:nvSpPr>
        <p:spPr>
          <a:xfrm>
            <a:off x="15830271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cell|Martiny et al., 2006 - Microarray - MIT9313*|phoR|ns"/>
          <p:cNvSpPr/>
          <p:nvPr/>
        </p:nvSpPr>
        <p:spPr>
          <a:xfrm>
            <a:off x="16202721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cell|Martiny et al., 2006 - Microarray - MIT9313*|ppA|ns"/>
          <p:cNvSpPr/>
          <p:nvPr/>
        </p:nvSpPr>
        <p:spPr>
          <a:xfrm>
            <a:off x="16575172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cell|Martiny et al., 2006 - Microarray - MIT9313*|ppX|ns"/>
          <p:cNvSpPr/>
          <p:nvPr/>
        </p:nvSpPr>
        <p:spPr>
          <a:xfrm>
            <a:off x="16947623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cell|Martiny et al., 2006 - Microarray - MIT9313*|pstA|up"/>
          <p:cNvSpPr/>
          <p:nvPr/>
        </p:nvSpPr>
        <p:spPr>
          <a:xfrm>
            <a:off x="17320074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cell|Martiny et al., 2006 - Microarray - MIT9313*|pstB|up"/>
          <p:cNvSpPr/>
          <p:nvPr/>
        </p:nvSpPr>
        <p:spPr>
          <a:xfrm>
            <a:off x="17692524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cell|Martiny et al., 2006 - Microarray - MIT9313*|pstC|up"/>
          <p:cNvSpPr/>
          <p:nvPr/>
        </p:nvSpPr>
        <p:spPr>
          <a:xfrm>
            <a:off x="18064975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cell|Martiny et al., 2006 - Microarray - MIT9313*|pstS|up"/>
          <p:cNvSpPr/>
          <p:nvPr/>
        </p:nvSpPr>
        <p:spPr>
          <a:xfrm>
            <a:off x="18437426" y="6080760"/>
            <a:ext cx="372450" cy="420624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cell|Martiny et al., 2006 - Microarray - MIT9313*|ptrA|absent"/>
          <p:cNvSpPr/>
          <p:nvPr/>
        </p:nvSpPr>
        <p:spPr>
          <a:xfrm>
            <a:off x="18809877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18809877" y="6080760"/>
            <a:ext cx="372450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18809877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18996102" y="6291072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cell|Martiny et al., 2006 - Microarray - MIT9313*|sqdB|ns"/>
          <p:cNvSpPr/>
          <p:nvPr/>
        </p:nvSpPr>
        <p:spPr>
          <a:xfrm>
            <a:off x="19182327" y="6080760"/>
            <a:ext cx="372450" cy="420624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cell|Martiny et al., 2006 - Microarray - MIT9313*|unkP2|absent"/>
          <p:cNvSpPr/>
          <p:nvPr/>
        </p:nvSpPr>
        <p:spPr>
          <a:xfrm>
            <a:off x="19554778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19554778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19554778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19741003" y="629107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cell|Martiny et al., 2006 - Microarray - MIT9313*|unkP5|absent"/>
          <p:cNvSpPr/>
          <p:nvPr/>
        </p:nvSpPr>
        <p:spPr>
          <a:xfrm>
            <a:off x="19927229" y="6080760"/>
            <a:ext cx="372450" cy="420624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19927229" y="6080760"/>
            <a:ext cx="372451" cy="42062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19927229" y="6080760"/>
            <a:ext cx="186225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113454" y="6291072"/>
            <a:ext cx="186226" cy="210312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594360" y="2322576"/>
            <a:ext cx="0" cy="2048256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594360" y="2322576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594360" y="4370832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 rot="16200000">
            <a:off x="-365760" y="3209544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Nitrogen starvation</a:t>
            </a:r>
          </a:p>
        </p:txBody>
      </p:sp>
      <p:cxnSp>
        <p:nvCxnSpPr>
          <p:cNvPr id="673" name="Connector 672"/>
          <p:cNvCxnSpPr/>
          <p:nvPr/>
        </p:nvCxnSpPr>
        <p:spPr>
          <a:xfrm>
            <a:off x="594360" y="4425696"/>
            <a:ext cx="0" cy="2048256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94360" y="4425696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94360" y="6473952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TextBox 675"/>
          <p:cNvSpPr txBox="1"/>
          <p:nvPr/>
        </p:nvSpPr>
        <p:spPr>
          <a:xfrm rot="16200000">
            <a:off x="-365760" y="5312664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Phosphorus starvation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5029200" y="4389120"/>
            <a:ext cx="15270480" cy="228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12096619" y="2295144"/>
            <a:ext cx="22860" cy="42062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legend|up"/>
          <p:cNvSpPr/>
          <p:nvPr/>
        </p:nvSpPr>
        <p:spPr>
          <a:xfrm>
            <a:off x="5029200" y="6775704"/>
            <a:ext cx="292608" cy="29260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5431536" y="6757416"/>
            <a:ext cx="3657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Upregulated</a:t>
            </a:r>
          </a:p>
        </p:txBody>
      </p:sp>
      <p:sp>
        <p:nvSpPr>
          <p:cNvPr id="681" name="legend|down"/>
          <p:cNvSpPr/>
          <p:nvPr/>
        </p:nvSpPr>
        <p:spPr>
          <a:xfrm>
            <a:off x="6835140" y="6775704"/>
            <a:ext cx="292608" cy="29260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7237476" y="6757416"/>
            <a:ext cx="3657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Downregulated</a:t>
            </a:r>
          </a:p>
        </p:txBody>
      </p:sp>
      <p:sp>
        <p:nvSpPr>
          <p:cNvPr id="683" name="legend|ns"/>
          <p:cNvSpPr/>
          <p:nvPr/>
        </p:nvSpPr>
        <p:spPr>
          <a:xfrm>
            <a:off x="8778240" y="6775704"/>
            <a:ext cx="292608" cy="29260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9180576" y="6757416"/>
            <a:ext cx="3657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Tested, not significant</a:t>
            </a:r>
          </a:p>
        </p:txBody>
      </p:sp>
      <p:sp>
        <p:nvSpPr>
          <p:cNvPr id="685" name="legend|nodata"/>
          <p:cNvSpPr/>
          <p:nvPr/>
        </p:nvSpPr>
        <p:spPr>
          <a:xfrm>
            <a:off x="11407140" y="6775704"/>
            <a:ext cx="292608" cy="29260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11809476" y="6757416"/>
            <a:ext cx="3657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No data (gene present, not in table)</a:t>
            </a:r>
          </a:p>
        </p:txBody>
      </p:sp>
      <p:sp>
        <p:nvSpPr>
          <p:cNvPr id="687" name="legend|absent"/>
          <p:cNvSpPr/>
          <p:nvPr/>
        </p:nvSpPr>
        <p:spPr>
          <a:xfrm>
            <a:off x="14927580" y="6775704"/>
            <a:ext cx="292608" cy="29260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14927580" y="6775704"/>
            <a:ext cx="292608" cy="29260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14927580" y="6775704"/>
            <a:ext cx="146304" cy="14630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15073884" y="6922008"/>
            <a:ext cx="146304" cy="14630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1" name="TextBox 690"/>
          <p:cNvSpPr txBox="1"/>
          <p:nvPr/>
        </p:nvSpPr>
        <p:spPr>
          <a:xfrm>
            <a:off x="15329916" y="6757416"/>
            <a:ext cx="3657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Gene absent from strain genome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5029200" y="7324344"/>
            <a:ext cx="1527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98781"/>
                </a:solidFill>
                <a:latin typeface="Arial"/>
              </a:rPr>
              <a:t>* Martiny MIT9313: significance-criterion / timepoint mismatch (24h used, not 48h) - see 5_analyze/notebook.md. Martiny 'tested, not significant' cells include genes absent from that publication's filtered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